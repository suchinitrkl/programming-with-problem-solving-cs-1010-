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19" r:id="rId3"/>
    <p:sldId id="310" r:id="rId4"/>
    <p:sldId id="311" r:id="rId5"/>
    <p:sldId id="312" r:id="rId6"/>
    <p:sldId id="313" r:id="rId7"/>
    <p:sldId id="315" r:id="rId8"/>
    <p:sldId id="316" r:id="rId9"/>
    <p:sldId id="317" r:id="rId10"/>
    <p:sldId id="314" r:id="rId11"/>
    <p:sldId id="318" r:id="rId12"/>
    <p:sldId id="30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9299"/>
    <a:srgbClr val="DC8A78"/>
    <a:srgbClr val="0563C1"/>
    <a:srgbClr val="B9B9B9"/>
    <a:srgbClr val="77AADD"/>
    <a:srgbClr val="5193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14" autoAdjust="0"/>
    <p:restoredTop sz="96370" autoAdjust="0"/>
  </p:normalViewPr>
  <p:slideViewPr>
    <p:cSldViewPr snapToGrid="0">
      <p:cViewPr varScale="1">
        <p:scale>
          <a:sx n="71" d="100"/>
          <a:sy n="71" d="100"/>
        </p:scale>
        <p:origin x="78" y="936"/>
      </p:cViewPr>
      <p:guideLst/>
    </p:cSldViewPr>
  </p:slideViewPr>
  <p:outlineViewPr>
    <p:cViewPr>
      <p:scale>
        <a:sx n="33" d="100"/>
        <a:sy n="33" d="100"/>
      </p:scale>
      <p:origin x="0" y="-47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E341B-69E5-4275-BF7F-935EE8FE4E74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0B32A-D7F6-490A-BA95-A24E7D1F9D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876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50B32A-D7F6-490A-BA95-A24E7D1F9D3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311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652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404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070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580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009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423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24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57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545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984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415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84FE0-E346-4B26-9FFC-65AFEC4663CF}" type="datetimeFigureOut">
              <a:rPr lang="en-IN" smtClean="0"/>
              <a:t>24-03-2025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31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canf-and-fscanf-in-c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fread-function-in-c/" TargetMode="External"/><Relationship Id="rId5" Type="http://schemas.openxmlformats.org/officeDocument/2006/relationships/hyperlink" Target="https://www.geeksforgeeks.org/fgetc-fputc-c/" TargetMode="External"/><Relationship Id="rId4" Type="http://schemas.openxmlformats.org/officeDocument/2006/relationships/hyperlink" Target="https://www.geeksforgeeks.org/fgets-gets-c-language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922933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Programming for Problem Solving</a:t>
            </a:r>
            <a:br>
              <a:rPr lang="en-US" dirty="0"/>
            </a:br>
            <a:r>
              <a:rPr lang="en-US" dirty="0" err="1"/>
              <a:t>Lect</a:t>
            </a:r>
            <a:r>
              <a:rPr lang="en-US" dirty="0"/>
              <a:t> </a:t>
            </a:r>
            <a:r>
              <a:rPr lang="en-US" dirty="0" smtClean="0"/>
              <a:t>#7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err="1"/>
              <a:t>Suchismita</a:t>
            </a:r>
            <a:r>
              <a:rPr lang="en-US" dirty="0"/>
              <a:t> </a:t>
            </a:r>
            <a:r>
              <a:rPr lang="en-US" dirty="0" err="1"/>
              <a:t>Chinara</a:t>
            </a:r>
            <a:endParaRPr lang="en-US" dirty="0"/>
          </a:p>
          <a:p>
            <a:r>
              <a:rPr lang="en-US" dirty="0"/>
              <a:t>Department of Computer Science &amp; Engineering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13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Question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9279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#</a:t>
            </a:r>
            <a:r>
              <a:rPr lang="en-US" dirty="0">
                <a:solidFill>
                  <a:srgbClr val="569CD6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include</a:t>
            </a:r>
            <a:r>
              <a:rPr lang="en-US" dirty="0">
                <a:solidFill>
                  <a:srgbClr val="9CDCFE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&lt;</a:t>
            </a:r>
            <a:r>
              <a:rPr lang="en-US" dirty="0" err="1">
                <a:solidFill>
                  <a:srgbClr val="CE9178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stdio.h</a:t>
            </a:r>
            <a:r>
              <a:rPr lang="en-US" dirty="0">
                <a:solidFill>
                  <a:srgbClr val="CE9178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&gt;</a:t>
            </a:r>
            <a:r>
              <a:rPr lang="en-US" dirty="0">
                <a:solidFill>
                  <a:srgbClr val="D7D7D7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</a:t>
            </a:r>
            <a:endParaRPr lang="en-US" dirty="0" smtClean="0">
              <a:solidFill>
                <a:srgbClr val="D7D7D7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pPr marL="0" indent="0">
              <a:buNone/>
            </a:pPr>
            <a:r>
              <a:rPr lang="en-US" dirty="0" err="1" smtClean="0">
                <a:solidFill>
                  <a:srgbClr val="569CD6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int</a:t>
            </a:r>
            <a:r>
              <a:rPr lang="en-US" dirty="0" smtClean="0">
                <a:solidFill>
                  <a:srgbClr val="D7D7D7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</a:t>
            </a:r>
            <a:r>
              <a:rPr lang="en-US" dirty="0">
                <a:solidFill>
                  <a:srgbClr val="DCDCA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main</a:t>
            </a:r>
            <a:r>
              <a:rPr lang="en-US" dirty="0">
                <a:solidFill>
                  <a:srgbClr val="D4D4D4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()</a:t>
            </a:r>
            <a:r>
              <a:rPr lang="en-US" dirty="0">
                <a:solidFill>
                  <a:srgbClr val="D7D7D7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</a:t>
            </a:r>
            <a:endParaRPr lang="en-US" dirty="0" smtClean="0">
              <a:solidFill>
                <a:srgbClr val="D7D7D7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D4D4D4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{</a:t>
            </a:r>
            <a:r>
              <a:rPr lang="en-US" dirty="0" smtClean="0">
                <a:solidFill>
                  <a:srgbClr val="D7D7D7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 err="1" smtClean="0">
                <a:solidFill>
                  <a:srgbClr val="DCDCA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printf</a:t>
            </a:r>
            <a:r>
              <a:rPr lang="en-US" dirty="0">
                <a:solidFill>
                  <a:srgbClr val="D4D4D4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"Prints %s and %s"</a:t>
            </a:r>
            <a:r>
              <a:rPr lang="en-US" dirty="0">
                <a:solidFill>
                  <a:srgbClr val="D4D4D4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,</a:t>
            </a:r>
            <a:r>
              <a:rPr lang="en-US" dirty="0">
                <a:solidFill>
                  <a:srgbClr val="D7D7D7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"on"</a:t>
            </a:r>
            <a:r>
              <a:rPr lang="en-US" dirty="0">
                <a:solidFill>
                  <a:srgbClr val="D4D4D4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,</a:t>
            </a:r>
            <a:r>
              <a:rPr lang="en-US" dirty="0">
                <a:solidFill>
                  <a:srgbClr val="D7D7D7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"multiple lines"</a:t>
            </a:r>
            <a:r>
              <a:rPr lang="en-US" dirty="0">
                <a:solidFill>
                  <a:srgbClr val="D4D4D4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);</a:t>
            </a:r>
            <a:r>
              <a:rPr lang="en-US" dirty="0">
                <a:solidFill>
                  <a:srgbClr val="D7D7D7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</a:t>
            </a:r>
            <a:endParaRPr lang="en-US" dirty="0" smtClean="0">
              <a:solidFill>
                <a:srgbClr val="D7D7D7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569CD6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return</a:t>
            </a:r>
            <a:r>
              <a:rPr lang="en-US" dirty="0" smtClean="0">
                <a:solidFill>
                  <a:srgbClr val="D7D7D7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</a:t>
            </a:r>
            <a:r>
              <a:rPr lang="en-US" dirty="0">
                <a:solidFill>
                  <a:srgbClr val="B5CEA8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0</a:t>
            </a:r>
            <a:r>
              <a:rPr lang="en-US" dirty="0">
                <a:solidFill>
                  <a:srgbClr val="D4D4D4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;</a:t>
            </a:r>
            <a:r>
              <a:rPr lang="en-US" dirty="0">
                <a:solidFill>
                  <a:srgbClr val="D7D7D7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 </a:t>
            </a:r>
            <a:endParaRPr lang="en-US" dirty="0" smtClean="0">
              <a:solidFill>
                <a:srgbClr val="D7D7D7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D4D4D4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}</a:t>
            </a:r>
          </a:p>
          <a:p>
            <a:pPr marL="0" indent="0">
              <a:buNone/>
            </a:pPr>
            <a:endParaRPr lang="en-US" dirty="0" smtClean="0">
              <a:solidFill>
                <a:srgbClr val="D4D4D4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What is the Output of this program?</a:t>
            </a:r>
            <a:endParaRPr lang="en-IN" dirty="0">
              <a:solidFill>
                <a:srgbClr val="FF0000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376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C Files (File Handling)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In C, you can create, open, read, and write to files by declaring a pointer of type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FILE</a:t>
            </a:r>
            <a:r>
              <a:rPr lang="en-US" dirty="0">
                <a:latin typeface="Consolas" panose="020B0609020204030204" pitchFamily="49" charset="0"/>
              </a:rPr>
              <a:t>, and use the 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fopen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smtClean="0">
                <a:latin typeface="Consolas" panose="020B0609020204030204" pitchFamily="49" charset="0"/>
              </a:rPr>
              <a:t>function.</a:t>
            </a:r>
          </a:p>
          <a:p>
            <a:endParaRPr 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FILE *fptr</a:t>
            </a:r>
            <a:r>
              <a:rPr lang="nn-NO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// Creating a file pointer</a:t>
            </a:r>
          </a:p>
          <a:p>
            <a:pPr marL="0" indent="0">
              <a:buNone/>
            </a:pPr>
            <a:r>
              <a:rPr lang="nn-NO" dirty="0"/>
              <a:t/>
            </a:r>
            <a:br>
              <a:rPr lang="nn-NO" dirty="0"/>
            </a:b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fptr = fopen(</a:t>
            </a:r>
            <a:r>
              <a:rPr lang="nn-NO" i="1" dirty="0">
                <a:solidFill>
                  <a:srgbClr val="000000"/>
                </a:solidFill>
                <a:latin typeface="Consolas" panose="020B0609020204030204" pitchFamily="49" charset="0"/>
              </a:rPr>
              <a:t>filename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nn-NO" i="1" dirty="0">
                <a:solidFill>
                  <a:srgbClr val="000000"/>
                </a:solidFill>
                <a:latin typeface="Consolas" panose="020B0609020204030204" pitchFamily="49" charset="0"/>
              </a:rPr>
              <a:t>mode</a:t>
            </a:r>
            <a:r>
              <a:rPr lang="nn-NO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 // Opening a file </a:t>
            </a:r>
            <a:endParaRPr lang="en-IN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81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nsolas" panose="020B0609020204030204" pitchFamily="49" charset="0"/>
              </a:rPr>
              <a:t>Fopen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/>
              <a:t>f</a:t>
            </a:r>
            <a:r>
              <a:rPr lang="en-US" i="1" dirty="0" smtClean="0"/>
              <a:t>ilename </a:t>
            </a:r>
          </a:p>
          <a:p>
            <a:endParaRPr lang="en-US" i="1" dirty="0"/>
          </a:p>
          <a:p>
            <a:pPr marL="0" indent="0">
              <a:buNone/>
            </a:pPr>
            <a:r>
              <a:rPr lang="en-US" i="1" dirty="0"/>
              <a:t>The name of the actual file you want to open (or create), like </a:t>
            </a:r>
            <a:r>
              <a:rPr lang="en-US" b="1" i="1" dirty="0" smtClean="0"/>
              <a:t>filename.txt </a:t>
            </a:r>
            <a:r>
              <a:rPr lang="en-US" i="1" dirty="0" smtClean="0"/>
              <a:t>with file extension.</a:t>
            </a:r>
            <a:endParaRPr lang="en-IN" b="1" i="1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i="1" dirty="0" smtClean="0"/>
              <a:t>Mode</a:t>
            </a:r>
          </a:p>
          <a:p>
            <a:endParaRPr lang="en-US" i="1" dirty="0"/>
          </a:p>
          <a:p>
            <a:pPr marL="0" indent="0">
              <a:buNone/>
            </a:pPr>
            <a:r>
              <a:rPr lang="en-US" i="1" dirty="0"/>
              <a:t>A single character, which represents what you want to do with the file (read, write or append):</a:t>
            </a:r>
          </a:p>
          <a:p>
            <a:r>
              <a:rPr lang="en-US" b="1" i="1" dirty="0"/>
              <a:t>w</a:t>
            </a:r>
            <a:r>
              <a:rPr lang="en-US" i="1" dirty="0"/>
              <a:t> - Writes to a file</a:t>
            </a:r>
          </a:p>
          <a:p>
            <a:r>
              <a:rPr lang="en-US" b="1" i="1" dirty="0"/>
              <a:t>a </a:t>
            </a:r>
            <a:r>
              <a:rPr lang="en-US" i="1" dirty="0"/>
              <a:t>- Appends new data to a file</a:t>
            </a:r>
          </a:p>
          <a:p>
            <a:r>
              <a:rPr lang="en-US" b="1" i="1" dirty="0"/>
              <a:t>r</a:t>
            </a:r>
            <a:r>
              <a:rPr lang="en-US" i="1" dirty="0"/>
              <a:t> - Reads from a file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2170508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onsolas" panose="020B0609020204030204" pitchFamily="49" charset="0"/>
              </a:rPr>
              <a:t>Create a File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FILE *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Create a file</a:t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fopen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"filename.txt"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"w"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Close the </a:t>
            </a:r>
            <a:r>
              <a:rPr lang="en-US" dirty="0" smtClean="0">
                <a:solidFill>
                  <a:srgbClr val="708090"/>
                </a:solidFill>
                <a:latin typeface="Consolas" panose="020B0609020204030204" pitchFamily="49" charset="0"/>
              </a:rPr>
              <a:t>file (always close file)</a:t>
            </a: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fclose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fptr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nsolas" panose="020B0609020204030204" pitchFamily="49" charset="0"/>
              </a:rPr>
              <a:t>To open a specific file use 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fopen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"C:\\directoryname\\filename.txt"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"w"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200" y="6550223"/>
            <a:ext cx="40668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 err="1" smtClean="0"/>
              <a:t>Fopen</a:t>
            </a:r>
            <a:r>
              <a:rPr lang="en-IN" sz="1400" dirty="0" smtClean="0"/>
              <a:t> documentation: https</a:t>
            </a:r>
            <a:r>
              <a:rPr lang="en-IN" sz="1400" dirty="0"/>
              <a:t>://devdocs.io/c/io/fopen</a:t>
            </a:r>
          </a:p>
        </p:txBody>
      </p:sp>
    </p:spTree>
    <p:extLst>
      <p:ext uri="{BB962C8B-B14F-4D97-AF65-F5344CB8AC3E}">
        <p14:creationId xmlns:p14="http://schemas.microsoft.com/office/powerpoint/2010/main" val="639266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796254"/>
              </p:ext>
            </p:extLst>
          </p:nvPr>
        </p:nvGraphicFramePr>
        <p:xfrm>
          <a:off x="0" y="47867"/>
          <a:ext cx="12192000" cy="6810133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  <a:tableStyleId>{2D5ABB26-0587-4C30-8999-92F81FD0307C}</a:tableStyleId>
              </a:tblPr>
              <a:tblGrid>
                <a:gridCol w="1502931">
                  <a:extLst>
                    <a:ext uri="{9D8B030D-6E8A-4147-A177-3AD203B41FA5}">
                      <a16:colId xmlns:a16="http://schemas.microsoft.com/office/drawing/2014/main" val="267125699"/>
                    </a:ext>
                  </a:extLst>
                </a:gridCol>
                <a:gridCol w="10689069">
                  <a:extLst>
                    <a:ext uri="{9D8B030D-6E8A-4147-A177-3AD203B41FA5}">
                      <a16:colId xmlns:a16="http://schemas.microsoft.com/office/drawing/2014/main" val="274317928"/>
                    </a:ext>
                  </a:extLst>
                </a:gridCol>
              </a:tblGrid>
              <a:tr h="231131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Opening Modes</a:t>
                      </a:r>
                      <a:endParaRPr lang="en-IN" sz="1400" b="1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7433" marR="17433" marT="43583" marB="43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Description</a:t>
                      </a:r>
                      <a:endParaRPr lang="en-IN" sz="1400" b="1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43583" marB="43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22281"/>
                  </a:ext>
                </a:extLst>
              </a:tr>
              <a:tr h="49574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endParaRPr lang="en-IN" sz="14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Searches file. If the file is opened successfully fopen( ) loads it into memory and sets up a pointer that points to the first character in it. If the file cannot be opened fopen( ) returns NULL.</a:t>
                      </a:r>
                      <a:endParaRPr lang="en-US" sz="1400" b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271104"/>
                  </a:ext>
                </a:extLst>
              </a:tr>
              <a:tr h="38137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dirty="0" err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rb</a:t>
                      </a:r>
                      <a:endParaRPr lang="en-IN" sz="14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 Open for reading in binary mode. If the file does not exist, fopen( ) returns NULL.</a:t>
                      </a:r>
                      <a:endParaRPr lang="en-US" sz="1400" b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151425"/>
                  </a:ext>
                </a:extLst>
              </a:tr>
              <a:tr h="49574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w</a:t>
                      </a:r>
                      <a:endParaRPr lang="en-IN" sz="14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Open for writing in text mode. If the file exists, its contents are overwritten. If the file doesn’t exist, a new file is created. Returns NULL, if unable to open the file.</a:t>
                      </a:r>
                      <a:endParaRPr lang="en-US" sz="14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551510"/>
                  </a:ext>
                </a:extLst>
              </a:tr>
              <a:tr h="38137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wb</a:t>
                      </a:r>
                      <a:endParaRPr lang="en-IN" sz="1400" b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Open for writing in binary mode. If the file exists, its contents are overwritten. If the file does not exist, it will be created.</a:t>
                      </a:r>
                      <a:endParaRPr lang="en-US" sz="14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593442"/>
                  </a:ext>
                </a:extLst>
              </a:tr>
              <a:tr h="61011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endParaRPr lang="en-IN" sz="14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Searches file. If the file is opened successfully </a:t>
                      </a:r>
                      <a:r>
                        <a:rPr lang="en-US" sz="1400" dirty="0" err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fopen</a:t>
                      </a:r>
                      <a:r>
                        <a:rPr lang="en-US" sz="14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( ) loads it into memory and sets up a pointer that points to the last character in it. It opens only in the append mode. If the file doesn’t exist, a new file is created. Returns NULL, if unable to open the file.</a:t>
                      </a:r>
                      <a:endParaRPr lang="en-US" sz="14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547700"/>
                  </a:ext>
                </a:extLst>
              </a:tr>
              <a:tr h="38137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ab</a:t>
                      </a:r>
                      <a:endParaRPr lang="en-IN" sz="1400" b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 Open for append in binary mode. Data is added to the end of the file. If the file does not exist, it will be created.</a:t>
                      </a:r>
                      <a:endParaRPr lang="en-US" sz="14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346948"/>
                  </a:ext>
                </a:extLst>
              </a:tr>
              <a:tr h="49574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r+</a:t>
                      </a:r>
                      <a:endParaRPr lang="en-IN" sz="14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Searches file. It is opened successfully </a:t>
                      </a:r>
                      <a:r>
                        <a:rPr lang="en-US" sz="1400" dirty="0" err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fopen</a:t>
                      </a:r>
                      <a:r>
                        <a:rPr lang="en-US" sz="14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( ) loads it into memory and sets up a pointer that points to the first character in it. Returns NULL, if unable to open the file.</a:t>
                      </a:r>
                      <a:endParaRPr lang="en-US" sz="14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334032"/>
                  </a:ext>
                </a:extLst>
              </a:tr>
              <a:tr h="38137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rb+</a:t>
                      </a:r>
                      <a:endParaRPr lang="en-IN" sz="1400" b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 Open for both reading and writing in binary mode. If the file does not exist, </a:t>
                      </a:r>
                      <a:r>
                        <a:rPr lang="en-US" sz="1400" dirty="0" err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fopen</a:t>
                      </a:r>
                      <a:r>
                        <a:rPr lang="en-US" sz="14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( ) returns NULL.</a:t>
                      </a:r>
                      <a:endParaRPr lang="en-US" sz="14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392520"/>
                  </a:ext>
                </a:extLst>
              </a:tr>
              <a:tr h="38137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w+</a:t>
                      </a:r>
                      <a:endParaRPr lang="en-IN" sz="1400" b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Searches file. If the file exists, its contents are overwritten. If the file doesn’t exist a new file is created. Returns NULL, if unable to open the file.</a:t>
                      </a:r>
                      <a:endParaRPr lang="en-US" sz="14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903213"/>
                  </a:ext>
                </a:extLst>
              </a:tr>
              <a:tr h="38137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wb+</a:t>
                      </a:r>
                      <a:endParaRPr lang="en-IN" sz="1400" b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Open for both reading and writing in binary mode. If the file exists, its contents are overwritten. If the file does not exist, it will be created.</a:t>
                      </a:r>
                      <a:endParaRPr lang="en-US" sz="1400" b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765220"/>
                  </a:ext>
                </a:extLst>
              </a:tr>
              <a:tr h="61011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a+</a:t>
                      </a:r>
                      <a:endParaRPr lang="en-IN" sz="1400" b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Searches file. If the file is opened successfully </a:t>
                      </a:r>
                      <a:r>
                        <a:rPr lang="en-US" sz="1400" dirty="0" err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fopen</a:t>
                      </a:r>
                      <a:r>
                        <a:rPr lang="en-US" sz="14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( ) loads it into memory and sets up a pointer that points to the last character in it. It opens the file in both reading and append mode. If the file doesn’t exist, a new file is created. Returns NULL, if unable to open the file.</a:t>
                      </a:r>
                      <a:endParaRPr lang="en-US" sz="14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318072"/>
                  </a:ext>
                </a:extLst>
              </a:tr>
              <a:tr h="38137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ab+</a:t>
                      </a:r>
                      <a:endParaRPr lang="en-IN" sz="1400" b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179299"/>
                          </a:solidFill>
                          <a:effectLst/>
                          <a:latin typeface="Consolas" panose="020B0609020204030204" pitchFamily="49" charset="0"/>
                        </a:rPr>
                        <a:t>Open for both reading and appending in binary mode. If the file does not exist, it will be created.</a:t>
                      </a:r>
                      <a:endParaRPr lang="en-US" sz="14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179299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43583" marR="43583" marT="61016" marB="610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09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170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Write to a File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FILE *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Open a file in writing mode</a:t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fopen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"filename.txt"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"w"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Write some text to the file</a:t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 smtClean="0">
                <a:solidFill>
                  <a:srgbClr val="008000"/>
                </a:solidFill>
                <a:latin typeface="Consolas" panose="020B0609020204030204" pitchFamily="49" charset="0"/>
              </a:rPr>
              <a:t>“This </a:t>
            </a:r>
            <a:r>
              <a:rPr lang="en-US" dirty="0" smtClean="0">
                <a:solidFill>
                  <a:srgbClr val="008000"/>
                </a:solidFill>
                <a:latin typeface="Consolas" panose="020B0609020204030204" pitchFamily="49" charset="0"/>
              </a:rPr>
              <a:t>is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a Cat</a:t>
            </a:r>
            <a:r>
              <a:rPr lang="en-US" dirty="0" smtClean="0">
                <a:solidFill>
                  <a:srgbClr val="008000"/>
                </a:solidFill>
                <a:latin typeface="Font Awesome 6 Free Solid" panose="02000903000000000000" pitchFamily="50" charset="0"/>
              </a:rPr>
              <a:t></a:t>
            </a:r>
            <a:r>
              <a:rPr lang="en-US" dirty="0" smtClean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dirty="0" smtClean="0">
                <a:solidFill>
                  <a:srgbClr val="008000"/>
                </a:solidFill>
                <a:latin typeface="Consolas" panose="020B0609020204030204" pitchFamily="49" charset="0"/>
              </a:rPr>
              <a:t>Meow</a:t>
            </a:r>
            <a:r>
              <a:rPr lang="en-US" dirty="0">
                <a:solidFill>
                  <a:srgbClr val="008000"/>
                </a:solidFill>
                <a:latin typeface="Font Awesome 6 Free Solid" panose="02000903000000000000" pitchFamily="50" charset="0"/>
              </a:rPr>
              <a:t> </a:t>
            </a:r>
            <a:r>
              <a:rPr lang="en-US" dirty="0" smtClean="0">
                <a:solidFill>
                  <a:srgbClr val="008000"/>
                </a:solidFill>
                <a:latin typeface="Consolas" panose="020B0609020204030204" pitchFamily="49" charset="0"/>
              </a:rPr>
              <a:t>!!!"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Close the file</a:t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fclose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552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 Content To a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FILE *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fptr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  <a:t>// Open a file in append mode</a:t>
            </a:r>
            <a:b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fptr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fopen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008000"/>
                </a:solidFill>
                <a:latin typeface="Consolas" panose="020B0609020204030204" pitchFamily="49" charset="0"/>
              </a:rPr>
              <a:t>"filename.txt"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008000"/>
                </a:solidFill>
                <a:latin typeface="Consolas" panose="020B0609020204030204" pitchFamily="49" charset="0"/>
              </a:rPr>
              <a:t>"a"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  <a:t>// Append some text to the file</a:t>
            </a:r>
            <a:b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fprintf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fptr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008000"/>
                </a:solidFill>
                <a:latin typeface="Consolas" panose="020B0609020204030204" pitchFamily="49" charset="0"/>
              </a:rPr>
              <a:t>"\</a:t>
            </a:r>
            <a:r>
              <a:rPr lang="en-IN" dirty="0" err="1" smtClean="0">
                <a:solidFill>
                  <a:srgbClr val="008000"/>
                </a:solidFill>
                <a:latin typeface="Consolas" panose="020B0609020204030204" pitchFamily="49" charset="0"/>
              </a:rPr>
              <a:t>nThis</a:t>
            </a:r>
            <a:r>
              <a:rPr lang="en-IN" dirty="0" smtClean="0">
                <a:solidFill>
                  <a:srgbClr val="008000"/>
                </a:solidFill>
                <a:latin typeface="Consolas" panose="020B0609020204030204" pitchFamily="49" charset="0"/>
              </a:rPr>
              <a:t> is a Dog</a:t>
            </a:r>
            <a:r>
              <a:rPr lang="en-IN" dirty="0" smtClean="0">
                <a:solidFill>
                  <a:srgbClr val="008000"/>
                </a:solidFill>
                <a:latin typeface="Font Awesome 6 Free Solid" panose="02000903000000000000" pitchFamily="50" charset="0"/>
              </a:rPr>
              <a:t> .</a:t>
            </a:r>
            <a:r>
              <a:rPr lang="en-IN" dirty="0" smtClean="0">
                <a:solidFill>
                  <a:srgbClr val="008000"/>
                </a:solidFill>
                <a:latin typeface="Consolas" panose="020B0609020204030204" pitchFamily="49" charset="0"/>
              </a:rPr>
              <a:t> Woof </a:t>
            </a:r>
            <a:r>
              <a:rPr lang="en-IN" dirty="0">
                <a:solidFill>
                  <a:srgbClr val="008000"/>
                </a:solidFill>
                <a:latin typeface="Font Awesome 6 Free Solid" panose="02000903000000000000" pitchFamily="50" charset="0"/>
              </a:rPr>
              <a:t></a:t>
            </a:r>
            <a:r>
              <a:rPr lang="en-IN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IN" dirty="0" smtClean="0">
                <a:solidFill>
                  <a:srgbClr val="008000"/>
                </a:solidFill>
                <a:latin typeface="Consolas" panose="020B0609020204030204" pitchFamily="49" charset="0"/>
              </a:rPr>
              <a:t>!!"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  <a:t>// Close the file</a:t>
            </a:r>
            <a:b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fclose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fptr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2640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To Read File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FILE *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fptr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  <a:t>// Open a file in read mode</a:t>
            </a:r>
            <a:b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fptr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fopen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008000"/>
                </a:solidFill>
                <a:latin typeface="Consolas" panose="020B0609020204030204" pitchFamily="49" charset="0"/>
              </a:rPr>
              <a:t>"filename.txt"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008000"/>
                </a:solidFill>
                <a:latin typeface="Consolas" panose="020B0609020204030204" pitchFamily="49" charset="0"/>
              </a:rPr>
              <a:t>"r"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  <a:t>// Store the content of the file</a:t>
            </a:r>
            <a:b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005CC5"/>
                </a:solidFill>
                <a:latin typeface="Consolas" panose="020B0609020204030204" pitchFamily="49" charset="0"/>
              </a:rPr>
              <a:t>char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myString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IN" dirty="0">
                <a:solidFill>
                  <a:srgbClr val="990055"/>
                </a:solidFill>
                <a:latin typeface="Consolas" panose="020B0609020204030204" pitchFamily="49" charset="0"/>
              </a:rPr>
              <a:t>100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  <a:t>// Read the content and store it inside </a:t>
            </a:r>
            <a:r>
              <a:rPr lang="en-IN" dirty="0" err="1">
                <a:solidFill>
                  <a:srgbClr val="708090"/>
                </a:solidFill>
                <a:latin typeface="Consolas" panose="020B0609020204030204" pitchFamily="49" charset="0"/>
              </a:rPr>
              <a:t>myString</a:t>
            </a:r>
            <a: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  <a:t/>
            </a:r>
            <a:b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fgets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myString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990055"/>
                </a:solidFill>
                <a:latin typeface="Consolas" panose="020B0609020204030204" pitchFamily="49" charset="0"/>
              </a:rPr>
              <a:t>100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fptr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  <a:t>// Print the file content</a:t>
            </a:r>
            <a:b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008000"/>
                </a:solidFill>
                <a:latin typeface="Consolas" panose="020B0609020204030204" pitchFamily="49" charset="0"/>
              </a:rPr>
              <a:t>"%s"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myString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  <a:t>// Close the file</a:t>
            </a:r>
            <a:br>
              <a:rPr lang="en-IN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fclose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fptr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6184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Reading from a File</a:t>
            </a:r>
            <a:endParaRPr lang="en-IN" dirty="0">
              <a:latin typeface="Consolas" panose="020B0609020204030204" pitchFamily="49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7430093"/>
              </p:ext>
            </p:extLst>
          </p:nvPr>
        </p:nvGraphicFramePr>
        <p:xfrm>
          <a:off x="838200" y="1690688"/>
          <a:ext cx="10515600" cy="44500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688260096"/>
                    </a:ext>
                  </a:extLst>
                </a:gridCol>
                <a:gridCol w="7696200">
                  <a:extLst>
                    <a:ext uri="{9D8B030D-6E8A-4147-A177-3AD203B41FA5}">
                      <a16:colId xmlns:a16="http://schemas.microsoft.com/office/drawing/2014/main" val="1224455488"/>
                    </a:ext>
                  </a:extLst>
                </a:gridCol>
              </a:tblGrid>
              <a:tr h="53925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>
                          <a:effectLst/>
                          <a:latin typeface="Consolas" panose="020B0609020204030204" pitchFamily="49" charset="0"/>
                        </a:rPr>
                        <a:t>Function</a:t>
                      </a:r>
                      <a:endParaRPr lang="en-IN" sz="2400" b="1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38100" marR="381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>
                          <a:effectLst/>
                          <a:latin typeface="Consolas" panose="020B0609020204030204" pitchFamily="49" charset="0"/>
                        </a:rPr>
                        <a:t>Description</a:t>
                      </a:r>
                      <a:endParaRPr lang="en-IN" sz="2400" b="1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6242265"/>
                  </a:ext>
                </a:extLst>
              </a:tr>
              <a:tr h="86484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dirty="0" err="1" smtClean="0">
                          <a:latin typeface="Consolas" panose="020B0609020204030204" pitchFamily="49" charset="0"/>
                          <a:hlinkClick r:id="rId3"/>
                        </a:rPr>
                        <a:t>fscanf</a:t>
                      </a:r>
                      <a:r>
                        <a:rPr lang="en-IN" sz="2400" b="1" dirty="0">
                          <a:latin typeface="Consolas" panose="020B0609020204030204" pitchFamily="49" charset="0"/>
                          <a:hlinkClick r:id="rId3"/>
                        </a:rPr>
                        <a:t>()</a:t>
                      </a:r>
                      <a:endParaRPr lang="en-IN" sz="2400" b="1" dirty="0">
                        <a:latin typeface="Consolas" panose="020B0609020204030204" pitchFamily="49" charset="0"/>
                      </a:endParaRPr>
                    </a:p>
                  </a:txBody>
                  <a:tcPr marL="95250" marR="95250" marT="133350" marB="13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>
                          <a:effectLst/>
                          <a:latin typeface="Consolas" panose="020B0609020204030204" pitchFamily="49" charset="0"/>
                        </a:rPr>
                        <a:t>Use formatted string and variable arguments list to take input from a file. </a:t>
                      </a:r>
                      <a:endParaRPr lang="en-US" sz="2400" b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0" marR="95250" marT="133350" marB="13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645896"/>
                  </a:ext>
                </a:extLst>
              </a:tr>
              <a:tr h="61048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dirty="0" err="1">
                          <a:latin typeface="Consolas" panose="020B0609020204030204" pitchFamily="49" charset="0"/>
                          <a:hlinkClick r:id="rId4"/>
                        </a:rPr>
                        <a:t>fgets</a:t>
                      </a:r>
                      <a:r>
                        <a:rPr lang="en-IN" sz="2400" b="1" dirty="0">
                          <a:latin typeface="Consolas" panose="020B0609020204030204" pitchFamily="49" charset="0"/>
                          <a:hlinkClick r:id="rId4"/>
                        </a:rPr>
                        <a:t>()</a:t>
                      </a:r>
                      <a:endParaRPr lang="en-IN" sz="2400" b="1" dirty="0">
                        <a:latin typeface="Consolas" panose="020B0609020204030204" pitchFamily="49" charset="0"/>
                      </a:endParaRPr>
                    </a:p>
                  </a:txBody>
                  <a:tcPr marL="95250" marR="95250" marT="133350" marB="13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>
                          <a:effectLst/>
                          <a:latin typeface="Consolas" panose="020B0609020204030204" pitchFamily="49" charset="0"/>
                        </a:rPr>
                        <a:t>Input the whole line from the file.</a:t>
                      </a:r>
                      <a:endParaRPr lang="en-US" sz="2400" b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0" marR="95250" marT="133350" marB="13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653663"/>
                  </a:ext>
                </a:extLst>
              </a:tr>
              <a:tr h="61048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dirty="0" err="1">
                          <a:latin typeface="Consolas" panose="020B0609020204030204" pitchFamily="49" charset="0"/>
                          <a:hlinkClick r:id="rId5"/>
                        </a:rPr>
                        <a:t>fgetc</a:t>
                      </a:r>
                      <a:r>
                        <a:rPr lang="en-IN" sz="2400" b="1" dirty="0">
                          <a:latin typeface="Consolas" panose="020B0609020204030204" pitchFamily="49" charset="0"/>
                          <a:hlinkClick r:id="rId5"/>
                        </a:rPr>
                        <a:t>()</a:t>
                      </a:r>
                      <a:endParaRPr lang="en-IN" sz="2400" b="1" dirty="0">
                        <a:latin typeface="Consolas" panose="020B0609020204030204" pitchFamily="49" charset="0"/>
                      </a:endParaRPr>
                    </a:p>
                  </a:txBody>
                  <a:tcPr marL="95250" marR="95250" marT="133350" marB="13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dirty="0">
                          <a:effectLst/>
                          <a:latin typeface="Consolas" panose="020B0609020204030204" pitchFamily="49" charset="0"/>
                        </a:rPr>
                        <a:t>Reads a single character from the file.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0" marR="95250" marT="133350" marB="13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4333488"/>
                  </a:ext>
                </a:extLst>
              </a:tr>
              <a:tr h="61048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2400" b="1" dirty="0" err="1">
                          <a:solidFill>
                            <a:srgbClr val="0563C1"/>
                          </a:solidFill>
                          <a:latin typeface="Consolas" panose="020B0609020204030204" pitchFamily="49" charset="0"/>
                        </a:rPr>
                        <a:t>fgetw</a:t>
                      </a:r>
                      <a:r>
                        <a:rPr lang="en-IN" sz="2400" b="1" dirty="0">
                          <a:solidFill>
                            <a:srgbClr val="0563C1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marL="95250" marR="95250" marT="133350" marB="13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>
                          <a:effectLst/>
                          <a:latin typeface="Consolas" panose="020B0609020204030204" pitchFamily="49" charset="0"/>
                        </a:rPr>
                        <a:t>Reads a number from a file.</a:t>
                      </a:r>
                      <a:endParaRPr lang="en-US" sz="2400" b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0" marR="95250" marT="133350" marB="13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3900284"/>
                  </a:ext>
                </a:extLst>
              </a:tr>
              <a:tr h="61048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1" dirty="0" err="1">
                          <a:latin typeface="Consolas" panose="020B0609020204030204" pitchFamily="49" charset="0"/>
                          <a:hlinkClick r:id="rId6"/>
                        </a:rPr>
                        <a:t>fread</a:t>
                      </a:r>
                      <a:r>
                        <a:rPr lang="en-IN" sz="2400" b="1" dirty="0">
                          <a:latin typeface="Consolas" panose="020B0609020204030204" pitchFamily="49" charset="0"/>
                          <a:hlinkClick r:id="rId6"/>
                        </a:rPr>
                        <a:t>()</a:t>
                      </a:r>
                      <a:endParaRPr lang="en-IN" sz="2400" b="1" dirty="0">
                        <a:latin typeface="Consolas" panose="020B0609020204030204" pitchFamily="49" charset="0"/>
                      </a:endParaRPr>
                    </a:p>
                  </a:txBody>
                  <a:tcPr marL="95250" marR="95250" marT="133350" marB="13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dirty="0">
                          <a:effectLst/>
                          <a:latin typeface="Consolas" panose="020B0609020204030204" pitchFamily="49" charset="0"/>
                        </a:rPr>
                        <a:t>Reads the specified bytes of data from a binary file.</a:t>
                      </a:r>
                      <a:endParaRPr lang="en-US" sz="2400" b="0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0" marR="95250" marT="133350" marB="133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3785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9835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onsolas" panose="020B0609020204030204" pitchFamily="49" charset="0"/>
              </a:rPr>
              <a:t>Better way to read file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FILE *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Open a file in read mode</a:t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fopen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"filename.txt"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"r"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Store the content of the file</a:t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990055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Read the content and print it</a:t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5CC5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fgets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990055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 {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"%s"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myString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  <a:t>// Close the file</a:t>
            </a:r>
            <a:br>
              <a:rPr lang="en-US" dirty="0">
                <a:solidFill>
                  <a:srgbClr val="70809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fclose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fptr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2278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Assignments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  <a:ea typeface="Times New Roman" panose="02020603050405020304" pitchFamily="18" charset="0"/>
              </a:rPr>
              <a:t>WAP to make a music playlist with at least 10 songs entered by the user.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  <a:ea typeface="Times New Roman" panose="02020603050405020304" pitchFamily="18" charset="0"/>
              </a:rPr>
              <a:t>WAP to create a To-Do list with activities and time for the activity.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  <a:ea typeface="Times New Roman" panose="02020603050405020304" pitchFamily="18" charset="0"/>
              </a:rPr>
              <a:t>WAP to reverse a number. Ex: 1234 will be 4321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  <a:ea typeface="Times New Roman" panose="02020603050405020304" pitchFamily="18" charset="0"/>
              </a:rPr>
              <a:t>WAP to search eleme</a:t>
            </a:r>
            <a:r>
              <a:rPr lang="en-US" dirty="0" smtClean="0">
                <a:latin typeface="Consolas" panose="020B0609020204030204" pitchFamily="49" charset="0"/>
                <a:ea typeface="Times New Roman" panose="02020603050405020304" pitchFamily="18" charset="0"/>
              </a:rPr>
              <a:t>nts in an array. Ex: araay1={3,23,21,53,2,41} find if it contains </a:t>
            </a:r>
            <a:r>
              <a:rPr lang="en-US" smtClean="0">
                <a:latin typeface="Consolas" panose="020B0609020204030204" pitchFamily="49" charset="0"/>
                <a:ea typeface="Times New Roman" panose="02020603050405020304" pitchFamily="18" charset="0"/>
              </a:rPr>
              <a:t>53.</a:t>
            </a:r>
            <a:endParaRPr lang="en-US" dirty="0" smtClean="0">
              <a:latin typeface="Consolas" panose="020B0609020204030204" pitchFamily="49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102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A13EE458DC6A41AB6CEB83F6613953" ma:contentTypeVersion="4" ma:contentTypeDescription="Create a new document." ma:contentTypeScope="" ma:versionID="f6ea594442bf66514565299edc124d63">
  <xsd:schema xmlns:xsd="http://www.w3.org/2001/XMLSchema" xmlns:xs="http://www.w3.org/2001/XMLSchema" xmlns:p="http://schemas.microsoft.com/office/2006/metadata/properties" xmlns:ns2="bce89c58-99c7-4a39-8e1b-d4ac22269018" targetNamespace="http://schemas.microsoft.com/office/2006/metadata/properties" ma:root="true" ma:fieldsID="5f451318a34ea5e7c2651fbdd532fdd2" ns2:_="">
    <xsd:import namespace="bce89c58-99c7-4a39-8e1b-d4ac222690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e89c58-99c7-4a39-8e1b-d4ac222690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FFB59FD-3125-45E1-8B81-1AA24B8FABD0}"/>
</file>

<file path=customXml/itemProps2.xml><?xml version="1.0" encoding="utf-8"?>
<ds:datastoreItem xmlns:ds="http://schemas.openxmlformats.org/officeDocument/2006/customXml" ds:itemID="{DC227BC5-82AA-4102-9709-71BEC73F375E}"/>
</file>

<file path=customXml/itemProps3.xml><?xml version="1.0" encoding="utf-8"?>
<ds:datastoreItem xmlns:ds="http://schemas.openxmlformats.org/officeDocument/2006/customXml" ds:itemID="{C281A480-7906-4A47-B68C-58446590B8EC}"/>
</file>

<file path=docProps/app.xml><?xml version="1.0" encoding="utf-8"?>
<Properties xmlns="http://schemas.openxmlformats.org/officeDocument/2006/extended-properties" xmlns:vt="http://schemas.openxmlformats.org/officeDocument/2006/docPropsVTypes">
  <TotalTime>2011</TotalTime>
  <Words>715</Words>
  <Application>Microsoft Office PowerPoint</Application>
  <PresentationFormat>Widescreen</PresentationFormat>
  <Paragraphs>86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Cascadia Mono SemiBold</vt:lpstr>
      <vt:lpstr>Consolas</vt:lpstr>
      <vt:lpstr>Font Awesome 6 Free Solid</vt:lpstr>
      <vt:lpstr>Times New Roman</vt:lpstr>
      <vt:lpstr>Office Theme</vt:lpstr>
      <vt:lpstr>Programming for Problem Solving Lect #7</vt:lpstr>
      <vt:lpstr>Question</vt:lpstr>
      <vt:lpstr>C Files (File Handling)</vt:lpstr>
      <vt:lpstr>Fopen</vt:lpstr>
      <vt:lpstr>Create a File</vt:lpstr>
      <vt:lpstr>PowerPoint Presentation</vt:lpstr>
      <vt:lpstr>Write to a File</vt:lpstr>
      <vt:lpstr>Append Content To a File</vt:lpstr>
      <vt:lpstr>To Read File</vt:lpstr>
      <vt:lpstr>Reading from a File</vt:lpstr>
      <vt:lpstr>Better way to read file</vt:lpstr>
      <vt:lpstr>Assignments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 #2</dc:title>
  <dc:creator>admin</dc:creator>
  <cp:lastModifiedBy>Admin</cp:lastModifiedBy>
  <cp:revision>134</cp:revision>
  <dcterms:created xsi:type="dcterms:W3CDTF">2025-01-16T06:48:48Z</dcterms:created>
  <dcterms:modified xsi:type="dcterms:W3CDTF">2025-03-24T09:30:45Z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0x010100ABA13EE458DC6A41AB6CEB83F6613953</vt:lpwstr>
  </property>
</Properties>
</file>