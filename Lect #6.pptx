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7" r:id="rId6"/>
    <p:sldId id="308" r:id="rId7"/>
    <p:sldId id="309" r:id="rId8"/>
    <p:sldId id="310" r:id="rId9"/>
    <p:sldId id="311" r:id="rId10"/>
    <p:sldId id="314" r:id="rId11"/>
    <p:sldId id="312" r:id="rId12"/>
    <p:sldId id="313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6370" autoAdjust="0"/>
  </p:normalViewPr>
  <p:slideViewPr>
    <p:cSldViewPr snapToGrid="0">
      <p:cViewPr varScale="1">
        <p:scale>
          <a:sx n="68" d="100"/>
          <a:sy n="68" d="100"/>
        </p:scale>
        <p:origin x="618" y="72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5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0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7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8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2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4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7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54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8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1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84FE0-E346-4B26-9FFC-65AFEC4663C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31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92293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 for Problem Solving</a:t>
            </a:r>
            <a:br>
              <a:rPr lang="en-US" dirty="0"/>
            </a:br>
            <a:r>
              <a:rPr lang="en-US" dirty="0" err="1"/>
              <a:t>Lect</a:t>
            </a:r>
            <a:r>
              <a:rPr lang="en-US" dirty="0"/>
              <a:t> </a:t>
            </a:r>
            <a:r>
              <a:rPr lang="en-US" dirty="0" smtClean="0"/>
              <a:t>#6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Suchismita</a:t>
            </a:r>
            <a:r>
              <a:rPr lang="en-US" dirty="0"/>
              <a:t> </a:t>
            </a:r>
            <a:r>
              <a:rPr lang="en-US" dirty="0" err="1"/>
              <a:t>Chinara</a:t>
            </a:r>
            <a:endParaRPr lang="en-US" dirty="0"/>
          </a:p>
          <a:p>
            <a:r>
              <a:rPr lang="en-US" dirty="0"/>
              <a:t>Department of Computer Science &amp; Engineering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1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2400" dirty="0" smtClean="0">
                <a:solidFill>
                  <a:srgbClr val="990055"/>
                </a:solidFill>
                <a:latin typeface="Consolas" panose="020B0609020204030204" pitchFamily="49" charset="0"/>
              </a:rPr>
              <a:t>39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708090"/>
                </a:solidFill>
                <a:latin typeface="Consolas" panose="020B0609020204030204" pitchFamily="49" charset="0"/>
              </a:rPr>
              <a:t>// an </a:t>
            </a:r>
            <a:r>
              <a:rPr lang="en-US" sz="2400" dirty="0" err="1">
                <a:solidFill>
                  <a:srgbClr val="70809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708090"/>
                </a:solidFill>
                <a:latin typeface="Consolas" panose="020B0609020204030204" pitchFamily="49" charset="0"/>
              </a:rPr>
              <a:t> variable</a:t>
            </a:r>
            <a:br>
              <a:rPr lang="en-US" sz="24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endParaRPr lang="en-US" sz="2400" dirty="0" smtClean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//1 Statement one</a:t>
            </a:r>
            <a:endParaRPr lang="en-US" sz="2400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"%d"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myAge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//2 Statement two</a:t>
            </a:r>
            <a:r>
              <a:rPr lang="en-US" sz="2400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"%p"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What is the difference between Statement one and two?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5168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pointer</a:t>
            </a:r>
            <a:r>
              <a:rPr lang="en-US" dirty="0">
                <a:latin typeface="Consolas" panose="020B0609020204030204" pitchFamily="49" charset="0"/>
              </a:rPr>
              <a:t> is a variable that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stores</a:t>
            </a:r>
            <a:r>
              <a:rPr lang="en-US" dirty="0">
                <a:latin typeface="Consolas" panose="020B0609020204030204" pitchFamily="49" charset="0"/>
              </a:rPr>
              <a:t> the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memory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address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of another variable as its value.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A pointer variable points to a data type (like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) of the same </a:t>
            </a:r>
            <a:r>
              <a:rPr lang="en-US" dirty="0" smtClean="0">
                <a:latin typeface="Consolas" panose="020B0609020204030204" pitchFamily="49" charset="0"/>
              </a:rPr>
              <a:t>type, </a:t>
            </a:r>
            <a:r>
              <a:rPr lang="en-US" dirty="0">
                <a:latin typeface="Consolas" panose="020B0609020204030204" pitchFamily="49" charset="0"/>
              </a:rPr>
              <a:t>and is created with the * operator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myNum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myNum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87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09303"/>
            <a:ext cx="10515600" cy="5767660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43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    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An </a:t>
            </a:r>
            <a:r>
              <a:rPr lang="en-US" dirty="0" err="1">
                <a:solidFill>
                  <a:srgbClr val="70809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708090"/>
                </a:solidFill>
                <a:latin typeface="Consolas" panose="020B0609020204030204" pitchFamily="49" charset="0"/>
              </a:rPr>
              <a:t>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 smtClean="0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 &amp;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myAge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A pointer variable, with the name </a:t>
            </a:r>
            <a:r>
              <a:rPr lang="en-US" dirty="0" err="1">
                <a:solidFill>
                  <a:srgbClr val="70809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, that stores the address of </a:t>
            </a:r>
            <a:r>
              <a:rPr lang="en-US" dirty="0" err="1">
                <a:solidFill>
                  <a:srgbClr val="708090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Output the value of </a:t>
            </a:r>
            <a:r>
              <a:rPr lang="en-US" dirty="0" err="1">
                <a:solidFill>
                  <a:srgbClr val="708090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 (</a:t>
            </a:r>
            <a:r>
              <a:rPr lang="en-US" dirty="0" smtClean="0">
                <a:solidFill>
                  <a:srgbClr val="708090"/>
                </a:solidFill>
                <a:latin typeface="Consolas" panose="020B0609020204030204" pitchFamily="49" charset="0"/>
              </a:rPr>
              <a:t>43)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"%d\n"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Output the memory address of </a:t>
            </a:r>
            <a:r>
              <a:rPr lang="en-US" dirty="0" err="1">
                <a:solidFill>
                  <a:srgbClr val="708090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 (</a:t>
            </a:r>
            <a:r>
              <a:rPr lang="en-US" dirty="0" smtClean="0">
                <a:solidFill>
                  <a:srgbClr val="708090"/>
                </a:solidFill>
                <a:latin typeface="Consolas" panose="020B0609020204030204" pitchFamily="49" charset="0"/>
              </a:rPr>
              <a:t>0x7ffe5367e044)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"%p\n"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Output the memory address of </a:t>
            </a:r>
            <a:r>
              <a:rPr lang="en-US" dirty="0" err="1">
                <a:solidFill>
                  <a:srgbClr val="708090"/>
                </a:solidFill>
                <a:latin typeface="Consolas" panose="020B0609020204030204" pitchFamily="49" charset="0"/>
              </a:rPr>
              <a:t>myAge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 with the pointer (</a:t>
            </a:r>
            <a:r>
              <a:rPr lang="en-US" dirty="0" smtClean="0">
                <a:solidFill>
                  <a:srgbClr val="708090"/>
                </a:solidFill>
                <a:latin typeface="Consolas" panose="020B0609020204030204" pitchFamily="49" charset="0"/>
              </a:rPr>
              <a:t>0x7ffe5367e044)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"%p\n"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rintf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"%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//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Derefence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300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A function is a block of code </a:t>
            </a:r>
            <a:r>
              <a:rPr lang="en-US" dirty="0" smtClean="0">
                <a:latin typeface="Consolas" panose="020B0609020204030204" pitchFamily="49" charset="0"/>
              </a:rPr>
              <a:t>that only runs when called.</a:t>
            </a:r>
          </a:p>
          <a:p>
            <a:r>
              <a:rPr lang="en-US" dirty="0" smtClean="0">
                <a:latin typeface="Consolas" panose="020B0609020204030204" pitchFamily="49" charset="0"/>
              </a:rPr>
              <a:t>You </a:t>
            </a:r>
            <a:r>
              <a:rPr lang="en-US" dirty="0">
                <a:latin typeface="Consolas" panose="020B0609020204030204" pitchFamily="49" charset="0"/>
              </a:rPr>
              <a:t>can pass data, known as parameters, into a function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Functions are used to perform certain actions, and they are important for reusing code</a:t>
            </a:r>
            <a:r>
              <a:rPr lang="en-US" dirty="0" smtClean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“Define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the code once, and use it many times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.”</a:t>
            </a:r>
            <a:endParaRPr lang="en-IN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8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Predefined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main() </a:t>
            </a:r>
            <a:r>
              <a:rPr lang="en-US" dirty="0">
                <a:latin typeface="Consolas" panose="020B0609020204030204" pitchFamily="49" charset="0"/>
              </a:rPr>
              <a:t>is a function, which is used to execute code, and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latin typeface="Consolas" panose="020B0609020204030204" pitchFamily="49" charset="0"/>
              </a:rPr>
              <a:t>is a function; used to output/print text to the </a:t>
            </a:r>
            <a:r>
              <a:rPr lang="en-US" dirty="0" smtClean="0">
                <a:latin typeface="Consolas" panose="020B0609020204030204" pitchFamily="49" charset="0"/>
              </a:rPr>
              <a:t>screen</a:t>
            </a:r>
          </a:p>
          <a:p>
            <a:pPr marL="0" indent="0" algn="just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"Hello World!"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60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586809"/>
            <a:ext cx="4003766" cy="271191"/>
          </a:xfrm>
        </p:spPr>
        <p:txBody>
          <a:bodyPr>
            <a:norm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Functions in C. https://unstop.com/blog/function-in-c</a:t>
            </a:r>
            <a:endParaRPr lang="en-IN" sz="1000" dirty="0">
              <a:latin typeface="Consolas" panose="020B0609020204030204" pitchFamily="49" charset="0"/>
            </a:endParaRPr>
          </a:p>
        </p:txBody>
      </p:sp>
      <p:pic>
        <p:nvPicPr>
          <p:cNvPr id="2050" name="Picture 2" descr="https://d8it4huxumps7.cloudfront.net/uploads/images/65c9c8274cc25_artboard_4.jpg?d=2000x20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963" y="173537"/>
            <a:ext cx="9191581" cy="6167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25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Creation of a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To create (often referred to as declare) your own function, specify the name of the function, followed by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parentheses () </a:t>
            </a:r>
            <a:r>
              <a:rPr lang="en-US" dirty="0">
                <a:latin typeface="Consolas" panose="020B0609020204030204" pitchFamily="49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curly brackets 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{}.</a:t>
            </a:r>
          </a:p>
          <a:p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code to be executed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latin typeface="Consolas" panose="020B0609020204030204" pitchFamily="49" charset="0"/>
              </a:rPr>
              <a:t>is the name of the function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means that the function does not have a return value.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53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Workings of a Function</a:t>
            </a:r>
            <a:endParaRPr lang="en-IN" dirty="0"/>
          </a:p>
        </p:txBody>
      </p:sp>
      <p:pic>
        <p:nvPicPr>
          <p:cNvPr id="3074" name="Picture 2" descr="Passing arguments to a function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8725"/>
            <a:ext cx="5181600" cy="418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turn statement of a function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832994"/>
            <a:ext cx="5181600" cy="433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99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Create a function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708090"/>
                </a:solidFill>
                <a:latin typeface="Consolas" panose="020B0609020204030204" pitchFamily="49" charset="0"/>
              </a:rPr>
              <a:t>1.</a:t>
            </a:r>
            <a:r>
              <a:rPr lang="en-US" dirty="0" smtClean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2.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"I just got executed!"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3.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4. </a:t>
            </a:r>
            <a:r>
              <a:rPr lang="en-US" dirty="0" err="1" smtClean="0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 {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5.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call the function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708090"/>
                </a:solidFill>
                <a:latin typeface="Consolas" panose="020B0609020204030204" pitchFamily="49" charset="0"/>
              </a:rPr>
              <a:t>6.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7.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Outputs "I just got executed!"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73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Parameters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char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name[])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“The cat says 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%s\n"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name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err="1" smtClean="0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main()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“Meow"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“Hiss"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“Purr"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005CC5"/>
                </a:solidFill>
                <a:latin typeface="Consolas" panose="020B0609020204030204" pitchFamily="49" charset="0"/>
              </a:rPr>
              <a:t> 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48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Parameters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char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name[], </a:t>
            </a:r>
            <a:r>
              <a:rPr lang="en-IN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age) 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“My cat is called 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%s. 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She is 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%d years old.\n"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name, age);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main() 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“Snuggles"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“Perry"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smtClean="0">
                <a:solidFill>
                  <a:srgbClr val="990055"/>
                </a:solidFill>
                <a:latin typeface="Consolas" panose="020B0609020204030204" pitchFamily="49" charset="0"/>
              </a:rPr>
              <a:t>4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“</a:t>
            </a:r>
            <a:r>
              <a:rPr lang="en-IN" dirty="0" err="1" smtClean="0">
                <a:solidFill>
                  <a:srgbClr val="008000"/>
                </a:solidFill>
                <a:latin typeface="Consolas" panose="020B0609020204030204" pitchFamily="49" charset="0"/>
              </a:rPr>
              <a:t>Mili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smtClean="0">
                <a:solidFill>
                  <a:srgbClr val="990055"/>
                </a:solidFill>
                <a:latin typeface="Consolas" panose="020B0609020204030204" pitchFamily="49" charset="0"/>
              </a:rPr>
              <a:t>5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78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Local			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Local variable that belongs to </a:t>
            </a:r>
            <a:r>
              <a:rPr lang="en-US" dirty="0" err="1">
                <a:solidFill>
                  <a:srgbClr val="70809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 =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 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Print the variable x in the main function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x);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Global</a:t>
            </a:r>
            <a:endParaRPr lang="en-IN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Global variable x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 =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We can use x here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x);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We can also use x here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x);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692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Declaration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287383" y="1825625"/>
            <a:ext cx="5732417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x, 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y)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 + y;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 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result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"Result is = 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result);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27914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8090"/>
                </a:solidFill>
                <a:latin typeface="Consolas" panose="020B0609020204030204" pitchFamily="49" charset="0"/>
              </a:rPr>
              <a:t>// Function declaration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x, 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y);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The main method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result =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708090"/>
                </a:solidFill>
                <a:latin typeface="Consolas" panose="020B0609020204030204" pitchFamily="49" charset="0"/>
              </a:rPr>
              <a:t>// </a:t>
            </a:r>
            <a:r>
              <a:rPr lang="en-US" b="1" dirty="0">
                <a:solidFill>
                  <a:srgbClr val="708090"/>
                </a:solidFill>
                <a:latin typeface="Consolas" panose="020B0609020204030204" pitchFamily="49" charset="0"/>
              </a:rPr>
              <a:t>call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the function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"Result is = 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result);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rgbClr val="708090"/>
                </a:solidFill>
                <a:latin typeface="Consolas" panose="020B0609020204030204" pitchFamily="49" charset="0"/>
              </a:rPr>
              <a:t>// Function definition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x, 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y)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 + y;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360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Calling Functions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Declare two functions, </a:t>
            </a: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 and </a:t>
            </a: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myOtherFunction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myOtherFunction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main() 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(); 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call </a:t>
            </a: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 (from main)</a:t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Define </a:t>
            </a: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"Some text in </a:t>
            </a:r>
            <a:r>
              <a:rPr lang="en-IN" dirty="0" err="1">
                <a:solidFill>
                  <a:srgbClr val="00800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myOtherFunction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(); 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call </a:t>
            </a: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myOtherFunction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 (from </a:t>
            </a: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myFunction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)</a:t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Define </a:t>
            </a: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myOtherFunction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myOtherFunction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"Hey! Some text in </a:t>
            </a:r>
            <a:r>
              <a:rPr lang="en-IN" dirty="0" err="1">
                <a:solidFill>
                  <a:srgbClr val="008000"/>
                </a:solidFill>
                <a:latin typeface="Consolas" panose="020B0609020204030204" pitchFamily="49" charset="0"/>
              </a:rPr>
              <a:t>myOtherFunction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3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Recursion is the technique of making a function call itself. This technique provides a way to break complicated problems down into simple problems which are easier to solve.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733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A Simple Introduction to Recur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79" y="365125"/>
            <a:ext cx="11181641" cy="628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103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629693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sum(</a:t>
            </a:r>
            <a:r>
              <a:rPr lang="en-IN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k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err="1" smtClean="0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main()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result = sum(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10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"%d"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result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err="1" smtClean="0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sum(</a:t>
            </a:r>
            <a:r>
              <a:rPr lang="en-IN" dirty="0" err="1">
                <a:solidFill>
                  <a:srgbClr val="005CC5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k)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(k &gt; 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k + sum(k - 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1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} </a:t>
            </a: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else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655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Assignments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 smtClean="0">
                <a:latin typeface="Consolas" panose="020B0609020204030204" pitchFamily="49" charset="0"/>
              </a:rPr>
              <a:t>numbers[] </a:t>
            </a:r>
            <a:r>
              <a:rPr lang="en-IN" dirty="0">
                <a:latin typeface="Consolas" panose="020B0609020204030204" pitchFamily="49" charset="0"/>
              </a:rPr>
              <a:t>= {20, 22, 18, 35, 48, 26, 87, 70</a:t>
            </a:r>
            <a:r>
              <a:rPr lang="en-IN" dirty="0" smtClean="0">
                <a:latin typeface="Consolas" panose="020B0609020204030204" pitchFamily="49" charset="0"/>
              </a:rPr>
              <a:t>};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is an array WAP to change the value of the second and third element to 21 and 22 instead of 22 and 18.</a:t>
            </a:r>
            <a:endParaRPr lang="en-US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WAP uses functions to create a calculator with options for Addition, Subtraction, Multiplication, and Division. </a:t>
            </a:r>
            <a:endParaRPr lang="en-US" dirty="0" smtClean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WAP 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to find the factorial for a number.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WAP to check if a given number is Armstrong and Perfect Number.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WAP to find the LCM of two values</a:t>
            </a:r>
            <a:r>
              <a:rPr lang="en-US" dirty="0" smtClean="0"/>
              <a:t>.</a:t>
            </a:r>
            <a:endParaRPr lang="en-IN" dirty="0"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10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A13EE458DC6A41AB6CEB83F6613953" ma:contentTypeVersion="4" ma:contentTypeDescription="Create a new document." ma:contentTypeScope="" ma:versionID="f6ea594442bf66514565299edc124d63">
  <xsd:schema xmlns:xsd="http://www.w3.org/2001/XMLSchema" xmlns:xs="http://www.w3.org/2001/XMLSchema" xmlns:p="http://schemas.microsoft.com/office/2006/metadata/properties" xmlns:ns2="bce89c58-99c7-4a39-8e1b-d4ac22269018" targetNamespace="http://schemas.microsoft.com/office/2006/metadata/properties" ma:root="true" ma:fieldsID="5f451318a34ea5e7c2651fbdd532fdd2" ns2:_="">
    <xsd:import namespace="bce89c58-99c7-4a39-8e1b-d4ac222690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89c58-99c7-4a39-8e1b-d4ac22269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31BBCE-DD66-4860-BC30-144FC8D31FE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0EE2090-C3D3-419D-A275-55D3E0E297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AD22AC-5EA6-46E3-826C-9D163E76A0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e89c58-99c7-4a39-8e1b-d4ac222690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1773</TotalTime>
  <Words>270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Times New Roman</vt:lpstr>
      <vt:lpstr>Office Theme</vt:lpstr>
      <vt:lpstr>Programming for Problem Solving Lect #6</vt:lpstr>
      <vt:lpstr>Question</vt:lpstr>
      <vt:lpstr>Pointers</vt:lpstr>
      <vt:lpstr>PowerPoint Presentation</vt:lpstr>
      <vt:lpstr>C Functions</vt:lpstr>
      <vt:lpstr>Predefined Functions</vt:lpstr>
      <vt:lpstr>Functions in C. https://unstop.com/blog/function-in-c</vt:lpstr>
      <vt:lpstr>Creation of a function</vt:lpstr>
      <vt:lpstr>Workings of a Function</vt:lpstr>
      <vt:lpstr>Example</vt:lpstr>
      <vt:lpstr>Function Parameters</vt:lpstr>
      <vt:lpstr>Multiple Parameters</vt:lpstr>
      <vt:lpstr>Scope</vt:lpstr>
      <vt:lpstr>Function Declaration</vt:lpstr>
      <vt:lpstr>Function Calling Functions</vt:lpstr>
      <vt:lpstr>Recursion</vt:lpstr>
      <vt:lpstr>PowerPoint Presentation</vt:lpstr>
      <vt:lpstr>PowerPoint Presentation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 #2</dc:title>
  <dc:creator>admin</dc:creator>
  <cp:lastModifiedBy>Admin</cp:lastModifiedBy>
  <cp:revision>121</cp:revision>
  <dcterms:created xsi:type="dcterms:W3CDTF">2025-01-16T06:48:48Z</dcterms:created>
  <dcterms:modified xsi:type="dcterms:W3CDTF">2026-03-05T05:11:22Z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0x010100ABA13EE458DC6A41AB6CEB83F6613953</vt:lpwstr>
  </property>
</Properties>
</file>