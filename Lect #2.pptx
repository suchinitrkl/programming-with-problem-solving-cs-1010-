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303" r:id="rId30"/>
    <p:sldId id="283" r:id="rId31"/>
    <p:sldId id="304" r:id="rId32"/>
    <p:sldId id="305" r:id="rId33"/>
    <p:sldId id="284" r:id="rId34"/>
    <p:sldId id="285" r:id="rId35"/>
    <p:sldId id="306" r:id="rId36"/>
    <p:sldId id="286" r:id="rId37"/>
    <p:sldId id="297" r:id="rId38"/>
    <p:sldId id="298" r:id="rId39"/>
    <p:sldId id="299" r:id="rId40"/>
    <p:sldId id="300" r:id="rId41"/>
    <p:sldId id="301" r:id="rId42"/>
    <p:sldId id="302" r:id="rId43"/>
    <p:sldId id="287"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55" autoAdjust="0"/>
    <p:restoredTop sz="94660"/>
  </p:normalViewPr>
  <p:slideViewPr>
    <p:cSldViewPr snapToGrid="0">
      <p:cViewPr varScale="1">
        <p:scale>
          <a:sx n="111" d="100"/>
          <a:sy n="111" d="100"/>
        </p:scale>
        <p:origin x="30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DC84FE0-E346-4B26-9FFC-65AFEC4663CF}" type="datetimeFigureOut">
              <a:rPr lang="en-IN" smtClean="0"/>
              <a:t>11-09-2026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7DB88B-E345-4F9D-8AD3-AAF620E955AC}" type="slidenum">
              <a:rPr lang="en-IN" smtClean="0"/>
              <a:t>‹#›</a:t>
            </a:fld>
            <a:endParaRPr lang="en-IN"/>
          </a:p>
        </p:txBody>
      </p:sp>
    </p:spTree>
    <p:extLst>
      <p:ext uri="{BB962C8B-B14F-4D97-AF65-F5344CB8AC3E}">
        <p14:creationId xmlns:p14="http://schemas.microsoft.com/office/powerpoint/2010/main" val="2362652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DC84FE0-E346-4B26-9FFC-65AFEC4663CF}" type="datetimeFigureOut">
              <a:rPr lang="en-IN" smtClean="0"/>
              <a:t>11-09-2026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7DB88B-E345-4F9D-8AD3-AAF620E955AC}" type="slidenum">
              <a:rPr lang="en-IN" smtClean="0"/>
              <a:t>‹#›</a:t>
            </a:fld>
            <a:endParaRPr lang="en-IN"/>
          </a:p>
        </p:txBody>
      </p:sp>
    </p:spTree>
    <p:extLst>
      <p:ext uri="{BB962C8B-B14F-4D97-AF65-F5344CB8AC3E}">
        <p14:creationId xmlns:p14="http://schemas.microsoft.com/office/powerpoint/2010/main" val="2860404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C84FE0-E346-4B26-9FFC-65AFEC4663CF}" type="datetimeFigureOut">
              <a:rPr lang="en-IN" smtClean="0"/>
              <a:t>11-09-2026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7DB88B-E345-4F9D-8AD3-AAF620E955AC}" type="slidenum">
              <a:rPr lang="en-IN" smtClean="0"/>
              <a:t>‹#›</a:t>
            </a:fld>
            <a:endParaRPr lang="en-IN"/>
          </a:p>
        </p:txBody>
      </p:sp>
    </p:spTree>
    <p:extLst>
      <p:ext uri="{BB962C8B-B14F-4D97-AF65-F5344CB8AC3E}">
        <p14:creationId xmlns:p14="http://schemas.microsoft.com/office/powerpoint/2010/main" val="2328070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DC84FE0-E346-4B26-9FFC-65AFEC4663CF}" type="datetimeFigureOut">
              <a:rPr lang="en-IN" smtClean="0"/>
              <a:t>11-09-2026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7DB88B-E345-4F9D-8AD3-AAF620E955AC}" type="slidenum">
              <a:rPr lang="en-IN" smtClean="0"/>
              <a:t>‹#›</a:t>
            </a:fld>
            <a:endParaRPr lang="en-IN"/>
          </a:p>
        </p:txBody>
      </p:sp>
    </p:spTree>
    <p:extLst>
      <p:ext uri="{BB962C8B-B14F-4D97-AF65-F5344CB8AC3E}">
        <p14:creationId xmlns:p14="http://schemas.microsoft.com/office/powerpoint/2010/main" val="51058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DC84FE0-E346-4B26-9FFC-65AFEC4663CF}" type="datetimeFigureOut">
              <a:rPr lang="en-IN" smtClean="0"/>
              <a:t>11-09-2026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B7DB88B-E345-4F9D-8AD3-AAF620E955AC}" type="slidenum">
              <a:rPr lang="en-IN" smtClean="0"/>
              <a:t>‹#›</a:t>
            </a:fld>
            <a:endParaRPr lang="en-IN"/>
          </a:p>
        </p:txBody>
      </p:sp>
    </p:spTree>
    <p:extLst>
      <p:ext uri="{BB962C8B-B14F-4D97-AF65-F5344CB8AC3E}">
        <p14:creationId xmlns:p14="http://schemas.microsoft.com/office/powerpoint/2010/main" val="2553009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DC84FE0-E346-4B26-9FFC-65AFEC4663CF}" type="datetimeFigureOut">
              <a:rPr lang="en-IN" smtClean="0"/>
              <a:t>11-09-2026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B7DB88B-E345-4F9D-8AD3-AAF620E955AC}" type="slidenum">
              <a:rPr lang="en-IN" smtClean="0"/>
              <a:t>‹#›</a:t>
            </a:fld>
            <a:endParaRPr lang="en-IN"/>
          </a:p>
        </p:txBody>
      </p:sp>
    </p:spTree>
    <p:extLst>
      <p:ext uri="{BB962C8B-B14F-4D97-AF65-F5344CB8AC3E}">
        <p14:creationId xmlns:p14="http://schemas.microsoft.com/office/powerpoint/2010/main" val="2471423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C84FE0-E346-4B26-9FFC-65AFEC4663CF}" type="datetimeFigureOut">
              <a:rPr lang="en-IN" smtClean="0"/>
              <a:t>11-09-2026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B7DB88B-E345-4F9D-8AD3-AAF620E955AC}" type="slidenum">
              <a:rPr lang="en-IN" smtClean="0"/>
              <a:t>‹#›</a:t>
            </a:fld>
            <a:endParaRPr lang="en-IN"/>
          </a:p>
        </p:txBody>
      </p:sp>
    </p:spTree>
    <p:extLst>
      <p:ext uri="{BB962C8B-B14F-4D97-AF65-F5344CB8AC3E}">
        <p14:creationId xmlns:p14="http://schemas.microsoft.com/office/powerpoint/2010/main" val="4062246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DC84FE0-E346-4B26-9FFC-65AFEC4663CF}" type="datetimeFigureOut">
              <a:rPr lang="en-IN" smtClean="0"/>
              <a:t>11-09-2026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7DB88B-E345-4F9D-8AD3-AAF620E955AC}" type="slidenum">
              <a:rPr lang="en-IN" smtClean="0"/>
              <a:t>‹#›</a:t>
            </a:fld>
            <a:endParaRPr lang="en-IN"/>
          </a:p>
        </p:txBody>
      </p:sp>
    </p:spTree>
    <p:extLst>
      <p:ext uri="{BB962C8B-B14F-4D97-AF65-F5344CB8AC3E}">
        <p14:creationId xmlns:p14="http://schemas.microsoft.com/office/powerpoint/2010/main" val="1365579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DC84FE0-E346-4B26-9FFC-65AFEC4663CF}" type="datetimeFigureOut">
              <a:rPr lang="en-IN" smtClean="0"/>
              <a:t>11-09-2026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7DB88B-E345-4F9D-8AD3-AAF620E955AC}" type="slidenum">
              <a:rPr lang="en-IN" smtClean="0"/>
              <a:t>‹#›</a:t>
            </a:fld>
            <a:endParaRPr lang="en-IN"/>
          </a:p>
        </p:txBody>
      </p:sp>
    </p:spTree>
    <p:extLst>
      <p:ext uri="{BB962C8B-B14F-4D97-AF65-F5344CB8AC3E}">
        <p14:creationId xmlns:p14="http://schemas.microsoft.com/office/powerpoint/2010/main" val="1744545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DC84FE0-E346-4B26-9FFC-65AFEC4663CF}" type="datetimeFigureOut">
              <a:rPr lang="en-IN" smtClean="0"/>
              <a:t>11-09-2026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7DB88B-E345-4F9D-8AD3-AAF620E955AC}" type="slidenum">
              <a:rPr lang="en-IN" smtClean="0"/>
              <a:t>‹#›</a:t>
            </a:fld>
            <a:endParaRPr lang="en-IN"/>
          </a:p>
        </p:txBody>
      </p:sp>
    </p:spTree>
    <p:extLst>
      <p:ext uri="{BB962C8B-B14F-4D97-AF65-F5344CB8AC3E}">
        <p14:creationId xmlns:p14="http://schemas.microsoft.com/office/powerpoint/2010/main" val="4067984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DC84FE0-E346-4B26-9FFC-65AFEC4663CF}" type="datetimeFigureOut">
              <a:rPr lang="en-IN" smtClean="0"/>
              <a:t>11-09-2026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7DB88B-E345-4F9D-8AD3-AAF620E955AC}" type="slidenum">
              <a:rPr lang="en-IN" smtClean="0"/>
              <a:t>‹#›</a:t>
            </a:fld>
            <a:endParaRPr lang="en-IN"/>
          </a:p>
        </p:txBody>
      </p:sp>
    </p:spTree>
    <p:extLst>
      <p:ext uri="{BB962C8B-B14F-4D97-AF65-F5344CB8AC3E}">
        <p14:creationId xmlns:p14="http://schemas.microsoft.com/office/powerpoint/2010/main" val="2967415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C84FE0-E346-4B26-9FFC-65AFEC4663CF}" type="datetimeFigureOut">
              <a:rPr lang="en-IN" smtClean="0"/>
              <a:t>11-09-2026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7DB88B-E345-4F9D-8AD3-AAF620E955AC}" type="slidenum">
              <a:rPr lang="en-IN" smtClean="0"/>
              <a:t>‹#›</a:t>
            </a:fld>
            <a:endParaRPr lang="en-IN"/>
          </a:p>
        </p:txBody>
      </p:sp>
    </p:spTree>
    <p:extLst>
      <p:ext uri="{BB962C8B-B14F-4D97-AF65-F5344CB8AC3E}">
        <p14:creationId xmlns:p14="http://schemas.microsoft.com/office/powerpoint/2010/main" val="39773194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9" y="1122363"/>
            <a:ext cx="9922933" cy="2387600"/>
          </a:xfrm>
        </p:spPr>
        <p:txBody>
          <a:bodyPr>
            <a:normAutofit fontScale="90000"/>
          </a:bodyPr>
          <a:lstStyle/>
          <a:p>
            <a:r>
              <a:rPr lang="en-US" dirty="0"/>
              <a:t>Programming for Problem Solving</a:t>
            </a:r>
            <a:br>
              <a:rPr lang="en-US" dirty="0"/>
            </a:br>
            <a:r>
              <a:rPr lang="en-US" dirty="0"/>
              <a:t>Lecture #2</a:t>
            </a:r>
            <a:endParaRPr lang="en-IN" dirty="0"/>
          </a:p>
        </p:txBody>
      </p:sp>
      <p:sp>
        <p:nvSpPr>
          <p:cNvPr id="3" name="Subtitle 2"/>
          <p:cNvSpPr>
            <a:spLocks noGrp="1"/>
          </p:cNvSpPr>
          <p:nvPr>
            <p:ph type="subTitle" idx="1"/>
          </p:nvPr>
        </p:nvSpPr>
        <p:spPr/>
        <p:txBody>
          <a:bodyPr/>
          <a:lstStyle/>
          <a:p>
            <a:r>
              <a:rPr lang="en-US" b="1" dirty="0"/>
              <a:t>Prof. Suchismita Chinara</a:t>
            </a:r>
          </a:p>
          <a:p>
            <a:r>
              <a:rPr lang="en-US" b="1" dirty="0"/>
              <a:t>Department of Computer Science &amp; Engineering</a:t>
            </a:r>
          </a:p>
        </p:txBody>
      </p:sp>
    </p:spTree>
    <p:extLst>
      <p:ext uri="{BB962C8B-B14F-4D97-AF65-F5344CB8AC3E}">
        <p14:creationId xmlns:p14="http://schemas.microsoft.com/office/powerpoint/2010/main" val="251413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lstStyle/>
          <a:p>
            <a:pPr algn="ctr"/>
            <a:r>
              <a:rPr lang="en-US" b="1" dirty="0"/>
              <a:t>Introduction to Algorithms (</a:t>
            </a:r>
            <a:r>
              <a:rPr lang="en-IN" b="1" dirty="0"/>
              <a:t>Al-Khwarizmi</a:t>
            </a:r>
            <a:r>
              <a:rPr lang="en-US" b="1" dirty="0"/>
              <a:t>) </a:t>
            </a:r>
            <a:endParaRPr lang="en-IN" b="1" dirty="0"/>
          </a:p>
        </p:txBody>
      </p:sp>
      <p:sp>
        <p:nvSpPr>
          <p:cNvPr id="3" name="Content Placeholder 2"/>
          <p:cNvSpPr>
            <a:spLocks noGrp="1"/>
          </p:cNvSpPr>
          <p:nvPr>
            <p:ph idx="1"/>
          </p:nvPr>
        </p:nvSpPr>
        <p:spPr>
          <a:xfrm>
            <a:off x="838200" y="1097280"/>
            <a:ext cx="10515600" cy="5079683"/>
          </a:xfrm>
        </p:spPr>
        <p:txBody>
          <a:bodyPr/>
          <a:lstStyle/>
          <a:p>
            <a:r>
              <a:rPr lang="en-US" dirty="0"/>
              <a:t>Algorithm is an effective procedure for solving a problem in a finite number of steps</a:t>
            </a:r>
            <a:endParaRPr lang="en-IN" dirty="0"/>
          </a:p>
          <a:p>
            <a:r>
              <a:rPr lang="en-IN" dirty="0"/>
              <a:t>Program = Algorithms + Data</a:t>
            </a:r>
          </a:p>
          <a:p>
            <a:r>
              <a:rPr lang="en-US" dirty="0"/>
              <a:t>A well-designed algorithm will always provide an answer; it may not be the desired answer but there will be an answer.</a:t>
            </a:r>
          </a:p>
          <a:p>
            <a:r>
              <a:rPr lang="en-US" dirty="0"/>
              <a:t>There are different ways of stating algorithms.</a:t>
            </a:r>
          </a:p>
          <a:p>
            <a:pPr lvl="1"/>
            <a:r>
              <a:rPr lang="en-IN" b="1" dirty="0"/>
              <a:t>Step-form </a:t>
            </a:r>
          </a:p>
          <a:p>
            <a:pPr lvl="1"/>
            <a:r>
              <a:rPr lang="en-IN" b="1" dirty="0"/>
              <a:t>Pseudo-code</a:t>
            </a:r>
          </a:p>
          <a:p>
            <a:pPr lvl="1"/>
            <a:r>
              <a:rPr lang="en-IN" b="1" dirty="0"/>
              <a:t>Flowchart</a:t>
            </a:r>
          </a:p>
        </p:txBody>
      </p:sp>
      <p:pic>
        <p:nvPicPr>
          <p:cNvPr id="5" name="Picture 4" descr="Chest-length metal statue of bearded man in robes and turban holding a book and a cubic model.">
            <a:extLst>
              <a:ext uri="{FF2B5EF4-FFF2-40B4-BE49-F238E27FC236}">
                <a16:creationId xmlns:a16="http://schemas.microsoft.com/office/drawing/2014/main" id="{F6058E7B-699F-E3CE-EDB2-8CA533DA3617}"/>
              </a:ext>
            </a:extLst>
          </p:cNvPr>
          <p:cNvPicPr>
            <a:picLocks noChangeAspect="1"/>
          </p:cNvPicPr>
          <p:nvPr/>
        </p:nvPicPr>
        <p:blipFill>
          <a:blip r:embed="rId2"/>
          <a:stretch>
            <a:fillRect/>
          </a:stretch>
        </p:blipFill>
        <p:spPr>
          <a:xfrm>
            <a:off x="8880715" y="3005138"/>
            <a:ext cx="2381250" cy="3171825"/>
          </a:xfrm>
          <a:prstGeom prst="rect">
            <a:avLst/>
          </a:prstGeom>
        </p:spPr>
      </p:pic>
    </p:spTree>
    <p:extLst>
      <p:ext uri="{BB962C8B-B14F-4D97-AF65-F5344CB8AC3E}">
        <p14:creationId xmlns:p14="http://schemas.microsoft.com/office/powerpoint/2010/main" val="2195056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0" y="500592"/>
            <a:ext cx="10320867" cy="735542"/>
          </a:xfrm>
        </p:spPr>
        <p:txBody>
          <a:bodyPr/>
          <a:lstStyle/>
          <a:p>
            <a:pPr lvl="1" algn="ctr" rtl="0">
              <a:lnSpc>
                <a:spcPct val="90000"/>
              </a:lnSpc>
              <a:spcBef>
                <a:spcPct val="0"/>
              </a:spcBef>
            </a:pPr>
            <a:r>
              <a:rPr lang="en-IN" sz="2800" b="1" dirty="0">
                <a:latin typeface="Arial" panose="020B0604020202020204" pitchFamily="34" charset="0"/>
                <a:cs typeface="Arial" panose="020B0604020202020204" pitchFamily="34" charset="0"/>
              </a:rPr>
              <a:t>Step-form </a:t>
            </a:r>
            <a:br>
              <a:rPr lang="en-IN" dirty="0"/>
            </a:br>
            <a:endParaRPr lang="en-IN" dirty="0"/>
          </a:p>
        </p:txBody>
      </p:sp>
      <p:sp>
        <p:nvSpPr>
          <p:cNvPr id="3" name="Content Placeholder 2"/>
          <p:cNvSpPr>
            <a:spLocks noGrp="1"/>
          </p:cNvSpPr>
          <p:nvPr>
            <p:ph idx="1"/>
          </p:nvPr>
        </p:nvSpPr>
        <p:spPr>
          <a:xfrm>
            <a:off x="838200" y="1236134"/>
            <a:ext cx="10515600" cy="4940829"/>
          </a:xfrm>
        </p:spPr>
        <p:txBody>
          <a:bodyPr/>
          <a:lstStyle/>
          <a:p>
            <a:r>
              <a:rPr lang="en-US" dirty="0"/>
              <a:t>In the step-form representation, the procedure of solving a problem is stated with written statements. </a:t>
            </a:r>
          </a:p>
          <a:p>
            <a:r>
              <a:rPr lang="en-US" dirty="0"/>
              <a:t>Each statement solves a part of the problem, and these together complete the solution. </a:t>
            </a:r>
          </a:p>
          <a:p>
            <a:r>
              <a:rPr lang="en-US" dirty="0"/>
              <a:t>The step-form uses just normal language to define each procedure.</a:t>
            </a:r>
          </a:p>
          <a:p>
            <a:r>
              <a:rPr lang="en-US" dirty="0"/>
              <a:t> Every statement, that defines an action, is logically related to the preceding statement. </a:t>
            </a:r>
          </a:p>
        </p:txBody>
      </p:sp>
    </p:spTree>
    <p:extLst>
      <p:ext uri="{BB962C8B-B14F-4D97-AF65-F5344CB8AC3E}">
        <p14:creationId xmlns:p14="http://schemas.microsoft.com/office/powerpoint/2010/main" val="1673769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6475"/>
          </a:xfrm>
        </p:spPr>
        <p:txBody>
          <a:bodyPr/>
          <a:lstStyle/>
          <a:p>
            <a:pPr lvl="1" algn="ctr" rtl="0">
              <a:lnSpc>
                <a:spcPct val="90000"/>
              </a:lnSpc>
              <a:spcBef>
                <a:spcPct val="0"/>
              </a:spcBef>
            </a:pPr>
            <a:r>
              <a:rPr lang="en-IN" sz="2800" b="1" dirty="0">
                <a:latin typeface="Arial" panose="020B0604020202020204" pitchFamily="34" charset="0"/>
                <a:cs typeface="Arial" panose="020B0604020202020204" pitchFamily="34" charset="0"/>
              </a:rPr>
              <a:t>Pseudo-code</a:t>
            </a:r>
            <a:br>
              <a:rPr lang="en-IN" dirty="0"/>
            </a:br>
            <a:endParaRPr lang="en-IN" dirty="0"/>
          </a:p>
        </p:txBody>
      </p:sp>
      <p:sp>
        <p:nvSpPr>
          <p:cNvPr id="3" name="Content Placeholder 2"/>
          <p:cNvSpPr>
            <a:spLocks noGrp="1"/>
          </p:cNvSpPr>
          <p:nvPr>
            <p:ph idx="1"/>
          </p:nvPr>
        </p:nvSpPr>
        <p:spPr>
          <a:xfrm>
            <a:off x="838200" y="1238596"/>
            <a:ext cx="10515600" cy="4938367"/>
          </a:xfrm>
        </p:spPr>
        <p:txBody>
          <a:bodyPr/>
          <a:lstStyle/>
          <a:p>
            <a:pPr algn="just"/>
            <a:r>
              <a:rPr lang="en-US" dirty="0"/>
              <a:t>The pseudo-code is a written form representation of the algorithm. </a:t>
            </a:r>
          </a:p>
          <a:p>
            <a:pPr algn="just"/>
            <a:r>
              <a:rPr lang="en-US" dirty="0"/>
              <a:t>However, it differs from the step form as it uses a restricted vocabulary to define its action of solving the problem.</a:t>
            </a:r>
          </a:p>
          <a:p>
            <a:pPr algn="just"/>
            <a:r>
              <a:rPr lang="en-US" dirty="0"/>
              <a:t>One problem with human language is that it can seem to be imprecise. </a:t>
            </a:r>
          </a:p>
          <a:p>
            <a:pPr algn="just"/>
            <a:r>
              <a:rPr lang="en-US" dirty="0"/>
              <a:t>But the pseudo-code, which is in human language, tends toward more precision by using a limited vocabulary.</a:t>
            </a:r>
            <a:endParaRPr lang="en-IN" dirty="0"/>
          </a:p>
        </p:txBody>
      </p:sp>
    </p:spTree>
    <p:extLst>
      <p:ext uri="{BB962C8B-B14F-4D97-AF65-F5344CB8AC3E}">
        <p14:creationId xmlns:p14="http://schemas.microsoft.com/office/powerpoint/2010/main" val="791165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Flow Chart</a:t>
            </a:r>
            <a:endParaRPr lang="en-IN"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dirty="0"/>
              <a:t>Flowchart is graphically oriented representation forms. </a:t>
            </a:r>
          </a:p>
          <a:p>
            <a:r>
              <a:rPr lang="en-US" dirty="0"/>
              <a:t>They use symbols and language to represent sequence, decision, and repetition actions. </a:t>
            </a:r>
          </a:p>
          <a:p>
            <a:r>
              <a:rPr lang="en-US" dirty="0"/>
              <a:t>Only the flowchart method of representing the problem solution has been explained with several examples.</a:t>
            </a:r>
            <a:endParaRPr lang="en-IN" dirty="0"/>
          </a:p>
        </p:txBody>
      </p:sp>
    </p:spTree>
    <p:extLst>
      <p:ext uri="{BB962C8B-B14F-4D97-AF65-F5344CB8AC3E}">
        <p14:creationId xmlns:p14="http://schemas.microsoft.com/office/powerpoint/2010/main" val="4232166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126"/>
            <a:ext cx="11330246" cy="898410"/>
          </a:xfrm>
        </p:spPr>
        <p:txBody>
          <a:bodyPr>
            <a:normAutofit/>
          </a:bodyPr>
          <a:lstStyle/>
          <a:p>
            <a:r>
              <a:rPr lang="en-US" sz="4000" b="1" dirty="0"/>
              <a:t>Key Features of an Algorithm - Step form</a:t>
            </a:r>
            <a:endParaRPr lang="en-IN" sz="4000" b="1" dirty="0"/>
          </a:p>
        </p:txBody>
      </p:sp>
      <p:sp>
        <p:nvSpPr>
          <p:cNvPr id="3" name="Content Placeholder 2"/>
          <p:cNvSpPr>
            <a:spLocks noGrp="1"/>
          </p:cNvSpPr>
          <p:nvPr>
            <p:ph idx="1"/>
          </p:nvPr>
        </p:nvSpPr>
        <p:spPr>
          <a:xfrm>
            <a:off x="838200" y="1404851"/>
            <a:ext cx="10515600" cy="4772112"/>
          </a:xfrm>
        </p:spPr>
        <p:txBody>
          <a:bodyPr/>
          <a:lstStyle/>
          <a:p>
            <a:pPr marL="0" indent="0">
              <a:buNone/>
            </a:pPr>
            <a:r>
              <a:rPr lang="en-US" dirty="0"/>
              <a:t>Here is an example of an algorithm, for making a pot of tea. </a:t>
            </a:r>
          </a:p>
          <a:p>
            <a:pPr marL="0" indent="0">
              <a:buNone/>
            </a:pPr>
            <a:r>
              <a:rPr lang="en-US" dirty="0"/>
              <a:t>1. If the kettle does not contain water, then fill the kettle. </a:t>
            </a:r>
          </a:p>
          <a:p>
            <a:pPr marL="0" indent="0">
              <a:buNone/>
            </a:pPr>
            <a:r>
              <a:rPr lang="en-US" dirty="0"/>
              <a:t>2. Plug the kettle into the power point and switch it on. </a:t>
            </a:r>
          </a:p>
          <a:p>
            <a:pPr marL="0" indent="0">
              <a:buNone/>
            </a:pPr>
            <a:r>
              <a:rPr lang="en-US" dirty="0"/>
              <a:t>3. If the teapot is not empty, then empty the teapot. </a:t>
            </a:r>
          </a:p>
          <a:p>
            <a:pPr marL="0" indent="0">
              <a:buNone/>
            </a:pPr>
            <a:r>
              <a:rPr lang="en-US" dirty="0"/>
              <a:t>4. Place tea leaves in the teapot. </a:t>
            </a:r>
          </a:p>
          <a:p>
            <a:pPr marL="0" indent="0">
              <a:buNone/>
            </a:pPr>
            <a:r>
              <a:rPr lang="en-US" dirty="0"/>
              <a:t>5. If the water in the kettle is not boiling, then go to step 5. </a:t>
            </a:r>
          </a:p>
          <a:p>
            <a:pPr marL="0" indent="0">
              <a:buNone/>
            </a:pPr>
            <a:r>
              <a:rPr lang="en-US" dirty="0"/>
              <a:t>6. Switch off the kettle. </a:t>
            </a:r>
          </a:p>
          <a:p>
            <a:pPr marL="0" indent="0">
              <a:buNone/>
            </a:pPr>
            <a:r>
              <a:rPr lang="en-US" dirty="0"/>
              <a:t>7. Pour water from the kettle into the teapot.</a:t>
            </a:r>
            <a:endParaRPr lang="en-IN" dirty="0"/>
          </a:p>
        </p:txBody>
      </p:sp>
    </p:spTree>
    <p:extLst>
      <p:ext uri="{BB962C8B-B14F-4D97-AF65-F5344CB8AC3E}">
        <p14:creationId xmlns:p14="http://schemas.microsoft.com/office/powerpoint/2010/main" val="3594137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87942"/>
          </a:xfrm>
        </p:spPr>
        <p:txBody>
          <a:bodyPr/>
          <a:lstStyle/>
          <a:p>
            <a:pPr algn="ctr"/>
            <a:r>
              <a:rPr lang="en-US" b="1" dirty="0"/>
              <a:t>Step form</a:t>
            </a:r>
            <a:endParaRPr lang="en-IN" b="1" dirty="0"/>
          </a:p>
        </p:txBody>
      </p:sp>
      <p:sp>
        <p:nvSpPr>
          <p:cNvPr id="3" name="Content Placeholder 2"/>
          <p:cNvSpPr>
            <a:spLocks noGrp="1"/>
          </p:cNvSpPr>
          <p:nvPr>
            <p:ph idx="1"/>
          </p:nvPr>
        </p:nvSpPr>
        <p:spPr/>
        <p:txBody>
          <a:bodyPr/>
          <a:lstStyle/>
          <a:p>
            <a:r>
              <a:rPr lang="en-US" dirty="0"/>
              <a:t>It can be seen that the algorithm has a number of steps and that some steps (steps 1, 3, and 5) involve decision-making and one step (step 5 in this case) involves repetition, in this case the process of waiting for the kettle to boil.</a:t>
            </a:r>
          </a:p>
          <a:p>
            <a:r>
              <a:rPr lang="en-US" dirty="0"/>
              <a:t>From this example, it is evident that algorithms show these three features: 	</a:t>
            </a:r>
          </a:p>
          <a:p>
            <a:pPr lvl="1"/>
            <a:r>
              <a:rPr lang="en-US" b="1" dirty="0"/>
              <a:t>Sequence (also known as process)</a:t>
            </a:r>
          </a:p>
          <a:p>
            <a:pPr lvl="1"/>
            <a:r>
              <a:rPr lang="en-US" b="1" dirty="0"/>
              <a:t>Decision (also known as selection)</a:t>
            </a:r>
          </a:p>
          <a:p>
            <a:pPr lvl="1"/>
            <a:r>
              <a:rPr lang="en-US" b="1" dirty="0"/>
              <a:t>Repetition (also known as iteration or looping)</a:t>
            </a:r>
            <a:endParaRPr lang="en-IN" b="1" dirty="0"/>
          </a:p>
        </p:txBody>
      </p:sp>
    </p:spTree>
    <p:extLst>
      <p:ext uri="{BB962C8B-B14F-4D97-AF65-F5344CB8AC3E}">
        <p14:creationId xmlns:p14="http://schemas.microsoft.com/office/powerpoint/2010/main" val="696569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64911"/>
          </a:xfrm>
        </p:spPr>
        <p:txBody>
          <a:bodyPr/>
          <a:lstStyle/>
          <a:p>
            <a:pPr algn="ctr"/>
            <a:r>
              <a:rPr lang="en-US" b="1" dirty="0"/>
              <a:t>Sequence</a:t>
            </a:r>
            <a:endParaRPr lang="en-IN" b="1" dirty="0"/>
          </a:p>
        </p:txBody>
      </p:sp>
      <p:sp>
        <p:nvSpPr>
          <p:cNvPr id="3" name="Content Placeholder 2"/>
          <p:cNvSpPr>
            <a:spLocks noGrp="1"/>
          </p:cNvSpPr>
          <p:nvPr>
            <p:ph idx="1"/>
          </p:nvPr>
        </p:nvSpPr>
        <p:spPr>
          <a:xfrm>
            <a:off x="838200" y="1330036"/>
            <a:ext cx="10515600" cy="4846927"/>
          </a:xfrm>
        </p:spPr>
        <p:txBody>
          <a:bodyPr/>
          <a:lstStyle/>
          <a:p>
            <a:r>
              <a:rPr lang="en-US" dirty="0"/>
              <a:t>Sequence means that each step or process in the algorithm is executed in the specified order. </a:t>
            </a:r>
          </a:p>
          <a:p>
            <a:r>
              <a:rPr lang="en-US" dirty="0"/>
              <a:t>In the above example, each process must be in the proper place otherwise the algorithm will fail.</a:t>
            </a:r>
          </a:p>
          <a:p>
            <a:r>
              <a:rPr lang="en-US" dirty="0"/>
              <a:t>Ex: The decision constructs—if ... then, if ... then ... else...</a:t>
            </a:r>
          </a:p>
          <a:p>
            <a:r>
              <a:rPr lang="en-US" dirty="0"/>
              <a:t>In algorithms the outcome of a decision is either true or false; there is no state in between. Ex:</a:t>
            </a:r>
          </a:p>
          <a:p>
            <a:pPr marL="0" indent="0">
              <a:buNone/>
            </a:pPr>
            <a:r>
              <a:rPr lang="en-US" b="1" i="1" dirty="0"/>
              <a:t>                     if today is Friday then collect pay </a:t>
            </a:r>
            <a:r>
              <a:rPr lang="en-US" sz="2400" dirty="0"/>
              <a:t>(is a decision in the format </a:t>
            </a:r>
          </a:p>
          <a:p>
            <a:pPr marL="0" indent="0">
              <a:buNone/>
            </a:pPr>
            <a:r>
              <a:rPr lang="en-US" sz="2400" dirty="0"/>
              <a:t> 							</a:t>
            </a:r>
            <a:r>
              <a:rPr lang="en-IN" sz="2400" b="1" i="1" dirty="0"/>
              <a:t>if proposition then process</a:t>
            </a:r>
            <a:r>
              <a:rPr lang="en-US" sz="2400" dirty="0"/>
              <a:t>)</a:t>
            </a:r>
            <a:endParaRPr lang="en-IN" dirty="0"/>
          </a:p>
        </p:txBody>
      </p:sp>
    </p:spTree>
    <p:extLst>
      <p:ext uri="{BB962C8B-B14F-4D97-AF65-F5344CB8AC3E}">
        <p14:creationId xmlns:p14="http://schemas.microsoft.com/office/powerpoint/2010/main" val="579153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2475"/>
          </a:xfrm>
        </p:spPr>
        <p:txBody>
          <a:bodyPr/>
          <a:lstStyle/>
          <a:p>
            <a:pPr algn="ctr"/>
            <a:r>
              <a:rPr lang="en-US" b="1" dirty="0"/>
              <a:t>Decision</a:t>
            </a:r>
            <a:endParaRPr lang="en-IN" b="1" dirty="0"/>
          </a:p>
        </p:txBody>
      </p:sp>
      <p:sp>
        <p:nvSpPr>
          <p:cNvPr id="3" name="Content Placeholder 2"/>
          <p:cNvSpPr>
            <a:spLocks noGrp="1"/>
          </p:cNvSpPr>
          <p:nvPr>
            <p:ph idx="1"/>
          </p:nvPr>
        </p:nvSpPr>
        <p:spPr/>
        <p:txBody>
          <a:bodyPr>
            <a:normAutofit/>
          </a:bodyPr>
          <a:lstStyle/>
          <a:p>
            <a:r>
              <a:rPr lang="en-US" dirty="0"/>
              <a:t>The decision can also be stated as: </a:t>
            </a:r>
          </a:p>
          <a:p>
            <a:pPr lvl="1"/>
            <a:r>
              <a:rPr lang="en-US" b="1" dirty="0"/>
              <a:t>if proposition </a:t>
            </a:r>
          </a:p>
          <a:p>
            <a:pPr marL="457200" lvl="1" indent="0">
              <a:buNone/>
            </a:pPr>
            <a:r>
              <a:rPr lang="en-US" b="1" dirty="0"/>
              <a:t>          then process1 </a:t>
            </a:r>
          </a:p>
          <a:p>
            <a:pPr marL="457200" lvl="1" indent="0">
              <a:buNone/>
            </a:pPr>
            <a:r>
              <a:rPr lang="en-US" b="1" dirty="0"/>
              <a:t>    else process2 </a:t>
            </a:r>
          </a:p>
          <a:p>
            <a:pPr marL="457200" lvl="1" indent="0">
              <a:buNone/>
            </a:pPr>
            <a:endParaRPr lang="en-US" dirty="0"/>
          </a:p>
          <a:p>
            <a:pPr lvl="1"/>
            <a:r>
              <a:rPr lang="en-US" dirty="0"/>
              <a:t>This means that if the proposition is true then execute process1, else, or otherwise, execute process2. </a:t>
            </a:r>
          </a:p>
        </p:txBody>
      </p:sp>
    </p:spTree>
    <p:extLst>
      <p:ext uri="{BB962C8B-B14F-4D97-AF65-F5344CB8AC3E}">
        <p14:creationId xmlns:p14="http://schemas.microsoft.com/office/powerpoint/2010/main" val="2156077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867" y="0"/>
            <a:ext cx="11650133" cy="948267"/>
          </a:xfrm>
        </p:spPr>
        <p:txBody>
          <a:bodyPr>
            <a:normAutofit/>
          </a:bodyPr>
          <a:lstStyle/>
          <a:p>
            <a:r>
              <a:rPr lang="en-US" dirty="0"/>
              <a:t>The repetition constructs— repeat and while</a:t>
            </a:r>
            <a:endParaRPr lang="en-IN" dirty="0"/>
          </a:p>
        </p:txBody>
      </p:sp>
      <p:sp>
        <p:nvSpPr>
          <p:cNvPr id="3" name="Content Placeholder 2"/>
          <p:cNvSpPr>
            <a:spLocks noGrp="1"/>
          </p:cNvSpPr>
          <p:nvPr>
            <p:ph idx="1"/>
          </p:nvPr>
        </p:nvSpPr>
        <p:spPr>
          <a:xfrm>
            <a:off x="287866" y="812800"/>
            <a:ext cx="11650133" cy="5364163"/>
          </a:xfrm>
        </p:spPr>
        <p:txBody>
          <a:bodyPr>
            <a:normAutofit lnSpcReduction="10000"/>
          </a:bodyPr>
          <a:lstStyle/>
          <a:p>
            <a:r>
              <a:rPr lang="en-US" dirty="0"/>
              <a:t>Repetition can be implemented using constructs like the </a:t>
            </a:r>
          </a:p>
          <a:p>
            <a:pPr lvl="1"/>
            <a:r>
              <a:rPr lang="en-US" dirty="0"/>
              <a:t>repeat loop, </a:t>
            </a:r>
          </a:p>
          <a:p>
            <a:pPr lvl="1"/>
            <a:r>
              <a:rPr lang="en-US" dirty="0"/>
              <a:t>while loop, and </a:t>
            </a:r>
          </a:p>
          <a:p>
            <a:pPr lvl="1"/>
            <a:r>
              <a:rPr lang="en-US" dirty="0"/>
              <a:t>if.. then .. </a:t>
            </a:r>
            <a:r>
              <a:rPr lang="en-US" dirty="0" err="1"/>
              <a:t>goto</a:t>
            </a:r>
            <a:r>
              <a:rPr lang="en-US" dirty="0"/>
              <a:t> .. loop. </a:t>
            </a:r>
          </a:p>
          <a:p>
            <a:r>
              <a:rPr lang="en-US" dirty="0"/>
              <a:t>The Repeat loop is used to iterate or repeat a process or sequence of processes until some condition becomes true. </a:t>
            </a:r>
          </a:p>
          <a:p>
            <a:r>
              <a:rPr lang="en-US" dirty="0"/>
              <a:t>It has the general form: </a:t>
            </a:r>
            <a:r>
              <a:rPr lang="en-US" b="1" dirty="0"/>
              <a:t>Repeat</a:t>
            </a:r>
          </a:p>
          <a:p>
            <a:pPr marL="0" indent="0">
              <a:buNone/>
            </a:pPr>
            <a:r>
              <a:rPr lang="en-US" b="1" dirty="0"/>
              <a:t>				 Process1 </a:t>
            </a:r>
          </a:p>
          <a:p>
            <a:pPr marL="0" indent="0">
              <a:buNone/>
            </a:pPr>
            <a:r>
              <a:rPr lang="en-US" b="1" dirty="0"/>
              <a:t>				 ……….. </a:t>
            </a:r>
          </a:p>
          <a:p>
            <a:pPr marL="0" indent="0">
              <a:buNone/>
            </a:pPr>
            <a:r>
              <a:rPr lang="en-US" b="1" dirty="0"/>
              <a:t>				Process N </a:t>
            </a:r>
          </a:p>
          <a:p>
            <a:pPr marL="0" indent="0">
              <a:buNone/>
            </a:pPr>
            <a:r>
              <a:rPr lang="en-US" b="1" dirty="0"/>
              <a:t>				Until proposition</a:t>
            </a:r>
          </a:p>
          <a:p>
            <a:r>
              <a:rPr lang="en-US" b="1" dirty="0"/>
              <a:t> Ex:  Repeat Fill water in kettle Until kettle is full </a:t>
            </a:r>
          </a:p>
        </p:txBody>
      </p:sp>
    </p:spTree>
    <p:extLst>
      <p:ext uri="{BB962C8B-B14F-4D97-AF65-F5344CB8AC3E}">
        <p14:creationId xmlns:p14="http://schemas.microsoft.com/office/powerpoint/2010/main" val="8555275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049868"/>
          </a:xfrm>
        </p:spPr>
        <p:txBody>
          <a:bodyPr>
            <a:normAutofit/>
          </a:bodyPr>
          <a:lstStyle/>
          <a:p>
            <a:pPr algn="ctr"/>
            <a:r>
              <a:rPr lang="en-US" b="1" dirty="0"/>
              <a:t>repeat and while</a:t>
            </a:r>
            <a:endParaRPr lang="en-IN" b="1" dirty="0"/>
          </a:p>
        </p:txBody>
      </p:sp>
      <p:sp>
        <p:nvSpPr>
          <p:cNvPr id="3" name="Content Placeholder 2"/>
          <p:cNvSpPr>
            <a:spLocks noGrp="1"/>
          </p:cNvSpPr>
          <p:nvPr>
            <p:ph idx="1"/>
          </p:nvPr>
        </p:nvSpPr>
        <p:spPr>
          <a:xfrm>
            <a:off x="838200" y="1049868"/>
            <a:ext cx="10515600" cy="5127095"/>
          </a:xfrm>
        </p:spPr>
        <p:txBody>
          <a:bodyPr/>
          <a:lstStyle/>
          <a:p>
            <a:r>
              <a:rPr lang="en-US" dirty="0"/>
              <a:t>What would happen if in the above example the kettle is already full?</a:t>
            </a:r>
          </a:p>
          <a:p>
            <a:r>
              <a:rPr lang="en-US" dirty="0"/>
              <a:t>If the kettle is already full at the start of the Repeat loop, then filling more water will lead to an overflow. </a:t>
            </a:r>
          </a:p>
          <a:p>
            <a:r>
              <a:rPr lang="en-US" dirty="0"/>
              <a:t>This is a drawback of the Repeat construct.</a:t>
            </a:r>
          </a:p>
          <a:p>
            <a:r>
              <a:rPr lang="en-US" dirty="0"/>
              <a:t> In such a case the while loop is more appropriate. The above example with the while loop is shown as follows: </a:t>
            </a:r>
          </a:p>
          <a:p>
            <a:pPr marL="0" indent="0">
              <a:buNone/>
            </a:pPr>
            <a:r>
              <a:rPr lang="en-US" dirty="0"/>
              <a:t>  </a:t>
            </a:r>
            <a:r>
              <a:rPr lang="en-US" b="1" dirty="0"/>
              <a:t>while </a:t>
            </a:r>
          </a:p>
          <a:p>
            <a:pPr marL="0" indent="0">
              <a:buNone/>
            </a:pPr>
            <a:r>
              <a:rPr lang="en-US" b="1" dirty="0"/>
              <a:t>  kettle is not full </a:t>
            </a:r>
          </a:p>
          <a:p>
            <a:pPr marL="0" indent="0">
              <a:buNone/>
            </a:pPr>
            <a:r>
              <a:rPr lang="en-US" b="1" dirty="0"/>
              <a:t>  fill water in kettle</a:t>
            </a:r>
          </a:p>
          <a:p>
            <a:endParaRPr lang="en-US" dirty="0"/>
          </a:p>
          <a:p>
            <a:endParaRPr lang="en-IN" dirty="0"/>
          </a:p>
        </p:txBody>
      </p:sp>
    </p:spTree>
    <p:extLst>
      <p:ext uri="{BB962C8B-B14F-4D97-AF65-F5344CB8AC3E}">
        <p14:creationId xmlns:p14="http://schemas.microsoft.com/office/powerpoint/2010/main" val="977176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35542"/>
          </a:xfrm>
        </p:spPr>
        <p:txBody>
          <a:bodyPr/>
          <a:lstStyle/>
          <a:p>
            <a:pPr algn="ctr"/>
            <a:r>
              <a:rPr lang="en-US" b="1" dirty="0"/>
              <a:t>While Loop</a:t>
            </a:r>
            <a:endParaRPr lang="en-IN" b="1" dirty="0"/>
          </a:p>
        </p:txBody>
      </p:sp>
      <p:sp>
        <p:nvSpPr>
          <p:cNvPr id="3" name="Content Placeholder 2"/>
          <p:cNvSpPr>
            <a:spLocks noGrp="1"/>
          </p:cNvSpPr>
          <p:nvPr>
            <p:ph idx="1"/>
          </p:nvPr>
        </p:nvSpPr>
        <p:spPr>
          <a:xfrm>
            <a:off x="838200" y="1100668"/>
            <a:ext cx="10515600" cy="5076295"/>
          </a:xfrm>
        </p:spPr>
        <p:txBody>
          <a:bodyPr/>
          <a:lstStyle/>
          <a:p>
            <a:r>
              <a:rPr lang="en-US" dirty="0"/>
              <a:t>The general form of while loop is:</a:t>
            </a:r>
          </a:p>
          <a:p>
            <a:pPr marL="0" indent="0">
              <a:buNone/>
            </a:pPr>
            <a:r>
              <a:rPr lang="en-US" dirty="0"/>
              <a:t>  </a:t>
            </a:r>
            <a:r>
              <a:rPr lang="en-US" b="1" dirty="0"/>
              <a:t>while proposition </a:t>
            </a:r>
          </a:p>
          <a:p>
            <a:pPr marL="0" indent="0">
              <a:buNone/>
            </a:pPr>
            <a:r>
              <a:rPr lang="en-US" b="1" dirty="0"/>
              <a:t>begin </a:t>
            </a:r>
          </a:p>
          <a:p>
            <a:pPr marL="0" indent="0">
              <a:buNone/>
            </a:pPr>
            <a:r>
              <a:rPr lang="en-US" b="1" dirty="0"/>
              <a:t>Process 1 </a:t>
            </a:r>
          </a:p>
          <a:p>
            <a:pPr marL="0" indent="0">
              <a:buNone/>
            </a:pPr>
            <a:r>
              <a:rPr lang="en-US" b="1" dirty="0"/>
              <a:t>Process 2 </a:t>
            </a:r>
          </a:p>
          <a:p>
            <a:pPr marL="0" indent="0">
              <a:buNone/>
            </a:pPr>
            <a:r>
              <a:rPr lang="en-US" b="1" dirty="0"/>
              <a:t>……….. ………...</a:t>
            </a:r>
          </a:p>
          <a:p>
            <a:pPr marL="0" indent="0">
              <a:buNone/>
            </a:pPr>
            <a:r>
              <a:rPr lang="en-US" b="1" dirty="0"/>
              <a:t> Process N </a:t>
            </a:r>
          </a:p>
          <a:p>
            <a:pPr marL="0" indent="0">
              <a:buNone/>
            </a:pPr>
            <a:r>
              <a:rPr lang="en-US" b="1" dirty="0"/>
              <a:t>end</a:t>
            </a:r>
          </a:p>
          <a:p>
            <a:endParaRPr lang="en-IN" dirty="0"/>
          </a:p>
        </p:txBody>
      </p:sp>
    </p:spTree>
    <p:extLst>
      <p:ext uri="{BB962C8B-B14F-4D97-AF65-F5344CB8AC3E}">
        <p14:creationId xmlns:p14="http://schemas.microsoft.com/office/powerpoint/2010/main" val="174549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7093"/>
          </a:xfrm>
        </p:spPr>
        <p:txBody>
          <a:bodyPr/>
          <a:lstStyle/>
          <a:p>
            <a:pPr algn="ctr"/>
            <a:r>
              <a:rPr lang="en-US" b="1" dirty="0"/>
              <a:t>Variables</a:t>
            </a:r>
            <a:endParaRPr lang="en-IN" b="1" dirty="0"/>
          </a:p>
        </p:txBody>
      </p:sp>
      <p:sp>
        <p:nvSpPr>
          <p:cNvPr id="3" name="Content Placeholder 2"/>
          <p:cNvSpPr>
            <a:spLocks noGrp="1"/>
          </p:cNvSpPr>
          <p:nvPr>
            <p:ph idx="1"/>
          </p:nvPr>
        </p:nvSpPr>
        <p:spPr>
          <a:xfrm>
            <a:off x="838200" y="1122218"/>
            <a:ext cx="10515600" cy="5054745"/>
          </a:xfrm>
        </p:spPr>
        <p:txBody>
          <a:bodyPr>
            <a:normAutofit/>
          </a:bodyPr>
          <a:lstStyle/>
          <a:p>
            <a:r>
              <a:rPr lang="en-US" dirty="0"/>
              <a:t>The algorithm contains data and usually the data is ‘contained’ in what is called a variable. </a:t>
            </a:r>
          </a:p>
          <a:p>
            <a:r>
              <a:rPr lang="en-US" dirty="0"/>
              <a:t>The variable is a container for a value that may vary during the execution of the program.</a:t>
            </a:r>
          </a:p>
          <a:p>
            <a:r>
              <a:rPr lang="en-US" dirty="0"/>
              <a:t>Ex: </a:t>
            </a:r>
            <a:r>
              <a:rPr lang="en-IN" dirty="0" err="1"/>
              <a:t>Water_Level</a:t>
            </a:r>
            <a:r>
              <a:rPr lang="en-IN" dirty="0"/>
              <a:t> </a:t>
            </a:r>
          </a:p>
          <a:p>
            <a:pPr lvl="1"/>
            <a:r>
              <a:rPr lang="en-IN" dirty="0" err="1"/>
              <a:t>Water_Temperature</a:t>
            </a:r>
            <a:r>
              <a:rPr lang="en-IN" dirty="0"/>
              <a:t> etc.</a:t>
            </a:r>
          </a:p>
          <a:p>
            <a:r>
              <a:rPr lang="en-US" dirty="0"/>
              <a:t>Example of using variable: </a:t>
            </a:r>
          </a:p>
          <a:p>
            <a:r>
              <a:rPr lang="en-US" dirty="0"/>
              <a:t>if </a:t>
            </a:r>
            <a:r>
              <a:rPr lang="en-US" dirty="0" err="1"/>
              <a:t>Water_Level</a:t>
            </a:r>
            <a:r>
              <a:rPr lang="en-US" dirty="0"/>
              <a:t> is 0 then fill the kettle </a:t>
            </a:r>
            <a:r>
              <a:rPr lang="en-US" b="1" dirty="0"/>
              <a:t>or</a:t>
            </a:r>
          </a:p>
          <a:p>
            <a:r>
              <a:rPr lang="en-US" dirty="0"/>
              <a:t>if </a:t>
            </a:r>
            <a:r>
              <a:rPr lang="en-US" dirty="0" err="1"/>
              <a:t>Water_Level</a:t>
            </a:r>
            <a:r>
              <a:rPr lang="en-US" dirty="0"/>
              <a:t> = 0 then fill the kettle</a:t>
            </a:r>
            <a:endParaRPr lang="en-IN" dirty="0"/>
          </a:p>
        </p:txBody>
      </p:sp>
    </p:spTree>
    <p:extLst>
      <p:ext uri="{BB962C8B-B14F-4D97-AF65-F5344CB8AC3E}">
        <p14:creationId xmlns:p14="http://schemas.microsoft.com/office/powerpoint/2010/main" val="3294065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Variables and data types</a:t>
            </a:r>
          </a:p>
        </p:txBody>
      </p:sp>
      <p:sp>
        <p:nvSpPr>
          <p:cNvPr id="3" name="Content Placeholder 2"/>
          <p:cNvSpPr>
            <a:spLocks noGrp="1"/>
          </p:cNvSpPr>
          <p:nvPr>
            <p:ph idx="1"/>
          </p:nvPr>
        </p:nvSpPr>
        <p:spPr/>
        <p:txBody>
          <a:bodyPr/>
          <a:lstStyle/>
          <a:p>
            <a:r>
              <a:rPr lang="en-US" dirty="0"/>
              <a:t>numeric data, e.g., 12, 11.45, 901, etc. </a:t>
            </a:r>
          </a:p>
          <a:p>
            <a:r>
              <a:rPr lang="en-US" dirty="0"/>
              <a:t>alphabetic or character data such as ‘A’, ‘Z’, or ‘This is alphabetic’</a:t>
            </a:r>
          </a:p>
          <a:p>
            <a:r>
              <a:rPr lang="en-US" dirty="0"/>
              <a:t>logical data, that is, propositions with true/false values</a:t>
            </a:r>
            <a:endParaRPr lang="en-IN" dirty="0"/>
          </a:p>
        </p:txBody>
      </p:sp>
    </p:spTree>
    <p:extLst>
      <p:ext uri="{BB962C8B-B14F-4D97-AF65-F5344CB8AC3E}">
        <p14:creationId xmlns:p14="http://schemas.microsoft.com/office/powerpoint/2010/main" val="1699146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6870"/>
          </a:xfrm>
        </p:spPr>
        <p:txBody>
          <a:bodyPr/>
          <a:lstStyle/>
          <a:p>
            <a:pPr algn="ctr"/>
            <a:r>
              <a:rPr lang="en-IN" b="1" dirty="0"/>
              <a:t>Naming of variables</a:t>
            </a:r>
          </a:p>
        </p:txBody>
      </p:sp>
      <p:sp>
        <p:nvSpPr>
          <p:cNvPr id="3" name="Content Placeholder 2"/>
          <p:cNvSpPr>
            <a:spLocks noGrp="1"/>
          </p:cNvSpPr>
          <p:nvPr>
            <p:ph idx="1"/>
          </p:nvPr>
        </p:nvSpPr>
        <p:spPr/>
        <p:txBody>
          <a:bodyPr/>
          <a:lstStyle/>
          <a:p>
            <a:r>
              <a:rPr lang="en-US" dirty="0"/>
              <a:t>One should always try to choose meaningful names for variables in algorithms to improve the readability of the algorithm or program.</a:t>
            </a:r>
            <a:endParaRPr lang="en-IN" dirty="0"/>
          </a:p>
          <a:p>
            <a:r>
              <a:rPr lang="en-US" dirty="0"/>
              <a:t>Algorithm using variable names example:</a:t>
            </a:r>
          </a:p>
          <a:p>
            <a:endParaRPr lang="en-IN" dirty="0"/>
          </a:p>
        </p:txBody>
      </p:sp>
      <p:pic>
        <p:nvPicPr>
          <p:cNvPr id="4" name="Picture 3"/>
          <p:cNvPicPr>
            <a:picLocks noChangeAspect="1"/>
          </p:cNvPicPr>
          <p:nvPr/>
        </p:nvPicPr>
        <p:blipFill>
          <a:blip r:embed="rId2"/>
          <a:stretch>
            <a:fillRect/>
          </a:stretch>
        </p:blipFill>
        <p:spPr>
          <a:xfrm>
            <a:off x="2384922" y="3589310"/>
            <a:ext cx="7422156" cy="2048933"/>
          </a:xfrm>
          <a:prstGeom prst="rect">
            <a:avLst/>
          </a:prstGeom>
        </p:spPr>
      </p:pic>
    </p:spTree>
    <p:extLst>
      <p:ext uri="{BB962C8B-B14F-4D97-AF65-F5344CB8AC3E}">
        <p14:creationId xmlns:p14="http://schemas.microsoft.com/office/powerpoint/2010/main" val="38771751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65406"/>
          </a:xfrm>
        </p:spPr>
        <p:txBody>
          <a:bodyPr>
            <a:normAutofit/>
          </a:bodyPr>
          <a:lstStyle/>
          <a:p>
            <a:pPr algn="ctr"/>
            <a:r>
              <a:rPr lang="en-US" sz="4000" b="1" dirty="0"/>
              <a:t>Examples on developing algorithms using step-form</a:t>
            </a:r>
            <a:endParaRPr lang="en-IN" sz="4000" b="1" dirty="0"/>
          </a:p>
        </p:txBody>
      </p:sp>
      <p:sp>
        <p:nvSpPr>
          <p:cNvPr id="3" name="Content Placeholder 2"/>
          <p:cNvSpPr>
            <a:spLocks noGrp="1"/>
          </p:cNvSpPr>
          <p:nvPr>
            <p:ph idx="1"/>
          </p:nvPr>
        </p:nvSpPr>
        <p:spPr/>
        <p:txBody>
          <a:bodyPr/>
          <a:lstStyle/>
          <a:p>
            <a:r>
              <a:rPr lang="en-US" dirty="0"/>
              <a:t>For illustrating the step-form the following conventions are assumed:</a:t>
            </a:r>
          </a:p>
          <a:p>
            <a:pPr lvl="1" algn="just"/>
            <a:r>
              <a:rPr lang="en-US" dirty="0"/>
              <a:t>Each algorithm will be logically enclosed by two statements START and STOP</a:t>
            </a:r>
          </a:p>
          <a:p>
            <a:pPr lvl="1" algn="just"/>
            <a:r>
              <a:rPr lang="en-US" dirty="0"/>
              <a:t>To accept data from user, the INPUT or READ statements are to be used.</a:t>
            </a:r>
          </a:p>
          <a:p>
            <a:pPr lvl="1" algn="just"/>
            <a:r>
              <a:rPr lang="en-US" dirty="0"/>
              <a:t>To display any user message or the content in a variable, PRINT statement will be used. Note that the message will be enclosed within quotes.</a:t>
            </a:r>
          </a:p>
          <a:p>
            <a:pPr lvl="1" algn="just"/>
            <a:r>
              <a:rPr lang="en-US" dirty="0"/>
              <a:t>There are several steps in an algorithm. Each step results in an action. The steps are to be acted upon sequentially in the order they are arranged or directed.</a:t>
            </a:r>
          </a:p>
          <a:p>
            <a:pPr lvl="1"/>
            <a:endParaRPr lang="en-IN" dirty="0"/>
          </a:p>
        </p:txBody>
      </p:sp>
    </p:spTree>
    <p:extLst>
      <p:ext uri="{BB962C8B-B14F-4D97-AF65-F5344CB8AC3E}">
        <p14:creationId xmlns:p14="http://schemas.microsoft.com/office/powerpoint/2010/main" val="131096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324" y="365125"/>
            <a:ext cx="10946476" cy="590839"/>
          </a:xfrm>
        </p:spPr>
        <p:txBody>
          <a:bodyPr>
            <a:normAutofit/>
          </a:bodyPr>
          <a:lstStyle/>
          <a:p>
            <a:pPr algn="ctr"/>
            <a:r>
              <a:rPr lang="en-US" sz="3200" b="1" dirty="0"/>
              <a:t>The arithmetic operators that will be used in the expressions are</a:t>
            </a:r>
            <a:endParaRPr lang="en-IN" sz="3200" b="1" dirty="0"/>
          </a:p>
        </p:txBody>
      </p:sp>
      <p:sp>
        <p:nvSpPr>
          <p:cNvPr id="3" name="Content Placeholder 2"/>
          <p:cNvSpPr>
            <a:spLocks noGrp="1"/>
          </p:cNvSpPr>
          <p:nvPr>
            <p:ph idx="1"/>
          </p:nvPr>
        </p:nvSpPr>
        <p:spPr>
          <a:xfrm>
            <a:off x="838200" y="955964"/>
            <a:ext cx="10515600" cy="5220999"/>
          </a:xfrm>
        </p:spPr>
        <p:txBody>
          <a:bodyPr>
            <a:normAutofit/>
          </a:bodyPr>
          <a:lstStyle/>
          <a:p>
            <a:r>
              <a:rPr lang="en-US" dirty="0"/>
              <a:t> ‘←’ ….Assignment (the left-hand side of ‘←’ should always be a single variable) , ex: x ← 6 means that a value 6 is assigned to the variable x.</a:t>
            </a:r>
          </a:p>
          <a:p>
            <a:r>
              <a:rPr lang="en-IN" dirty="0"/>
              <a:t>‘+’….. Addition, ex: </a:t>
            </a:r>
            <a:r>
              <a:rPr lang="en-US" dirty="0"/>
              <a:t>z ← x + y means the value contained in variable x and the value </a:t>
            </a:r>
            <a:r>
              <a:rPr lang="en-US" dirty="0" err="1"/>
              <a:t>contained</a:t>
            </a:r>
            <a:r>
              <a:rPr lang="en-US" dirty="0"/>
              <a:t> in variable y is added and the resulting value obtained is assigned to the variable z.</a:t>
            </a:r>
          </a:p>
          <a:p>
            <a:r>
              <a:rPr lang="en-IN" dirty="0"/>
              <a:t>‘–’….. Subtraction, ex: </a:t>
            </a:r>
            <a:r>
              <a:rPr lang="en-US" dirty="0"/>
              <a:t>z ← x – y means the value contained in variable y is subtracted from the value contained in variable x and the resulting value obtained is assigned to the variable z.</a:t>
            </a:r>
          </a:p>
          <a:p>
            <a:r>
              <a:rPr lang="en-IN" dirty="0"/>
              <a:t>‘*’….. Multiplication, similar example</a:t>
            </a:r>
          </a:p>
          <a:p>
            <a:r>
              <a:rPr lang="en-IN" dirty="0"/>
              <a:t>‘/’….. Division, similar example</a:t>
            </a:r>
          </a:p>
        </p:txBody>
      </p:sp>
    </p:spTree>
    <p:extLst>
      <p:ext uri="{BB962C8B-B14F-4D97-AF65-F5344CB8AC3E}">
        <p14:creationId xmlns:p14="http://schemas.microsoft.com/office/powerpoint/2010/main" val="1669746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5468"/>
            <a:ext cx="10515600" cy="662554"/>
          </a:xfrm>
        </p:spPr>
        <p:txBody>
          <a:bodyPr>
            <a:normAutofit/>
          </a:bodyPr>
          <a:lstStyle/>
          <a:p>
            <a:pPr algn="ctr"/>
            <a:r>
              <a:rPr lang="en-US" sz="3600" b="1" dirty="0"/>
              <a:t>The commonly used relational operators in propositions</a:t>
            </a:r>
            <a:endParaRPr lang="en-IN" sz="3600" b="1" dirty="0"/>
          </a:p>
        </p:txBody>
      </p:sp>
      <p:sp>
        <p:nvSpPr>
          <p:cNvPr id="3" name="Content Placeholder 2"/>
          <p:cNvSpPr>
            <a:spLocks noGrp="1"/>
          </p:cNvSpPr>
          <p:nvPr>
            <p:ph idx="1"/>
          </p:nvPr>
        </p:nvSpPr>
        <p:spPr>
          <a:xfrm>
            <a:off x="838200" y="798022"/>
            <a:ext cx="10515600" cy="5378941"/>
          </a:xfrm>
        </p:spPr>
        <p:txBody>
          <a:bodyPr>
            <a:normAutofit/>
          </a:bodyPr>
          <a:lstStyle/>
          <a:p>
            <a:r>
              <a:rPr lang="en-IN" dirty="0"/>
              <a:t>‘&gt;’ ….. Greater than, ex: </a:t>
            </a:r>
            <a:r>
              <a:rPr lang="en-US" dirty="0"/>
              <a:t>x &gt; y means if the value contained in x is larger than that in y then the </a:t>
            </a:r>
            <a:r>
              <a:rPr lang="en-US" dirty="0" err="1"/>
              <a:t>outcome</a:t>
            </a:r>
            <a:r>
              <a:rPr lang="en-US" dirty="0"/>
              <a:t> of the expression is true, which will be taken as 1. Otherwise, if the outcome is false then it would be taken as 0.</a:t>
            </a:r>
          </a:p>
          <a:p>
            <a:r>
              <a:rPr lang="en-US" dirty="0"/>
              <a:t>‘&lt;=’ …..Less than or equal to, ex: x &lt;= y implies that if the value held in x is either less than or equal to the value held in y then the outcome of the expression is true and so it will be taken as 1. But if the outcome of the relational expression is false then it is taken as 0.</a:t>
            </a:r>
          </a:p>
          <a:p>
            <a:r>
              <a:rPr lang="en-US" dirty="0"/>
              <a:t>‘&lt;‘…. Less than</a:t>
            </a:r>
          </a:p>
          <a:p>
            <a:r>
              <a:rPr lang="en-US" dirty="0"/>
              <a:t>‘=‘…. Equality</a:t>
            </a:r>
          </a:p>
          <a:p>
            <a:r>
              <a:rPr lang="en-US" dirty="0"/>
              <a:t>‘&gt;=’ …… Greater than or equal to</a:t>
            </a:r>
          </a:p>
          <a:p>
            <a:r>
              <a:rPr lang="en-IN" dirty="0"/>
              <a:t>‘!=’ …… Non- equality</a:t>
            </a:r>
            <a:endParaRPr lang="en-US" dirty="0"/>
          </a:p>
          <a:p>
            <a:endParaRPr lang="en-US" dirty="0"/>
          </a:p>
          <a:p>
            <a:endParaRPr lang="en-IN" dirty="0"/>
          </a:p>
        </p:txBody>
      </p:sp>
    </p:spTree>
    <p:extLst>
      <p:ext uri="{BB962C8B-B14F-4D97-AF65-F5344CB8AC3E}">
        <p14:creationId xmlns:p14="http://schemas.microsoft.com/office/powerpoint/2010/main" val="296782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5900"/>
          </a:xfrm>
        </p:spPr>
        <p:txBody>
          <a:bodyPr>
            <a:normAutofit fontScale="90000"/>
          </a:bodyPr>
          <a:lstStyle/>
          <a:p>
            <a:pPr algn="ctr"/>
            <a:r>
              <a:rPr lang="en-IN" b="1" dirty="0"/>
              <a:t>Logical operators</a:t>
            </a:r>
          </a:p>
        </p:txBody>
      </p:sp>
      <p:sp>
        <p:nvSpPr>
          <p:cNvPr id="3" name="Content Placeholder 2"/>
          <p:cNvSpPr>
            <a:spLocks noGrp="1"/>
          </p:cNvSpPr>
          <p:nvPr>
            <p:ph idx="1"/>
          </p:nvPr>
        </p:nvSpPr>
        <p:spPr>
          <a:xfrm>
            <a:off x="838200" y="1138844"/>
            <a:ext cx="10515600" cy="5038119"/>
          </a:xfrm>
        </p:spPr>
        <p:txBody>
          <a:bodyPr/>
          <a:lstStyle/>
          <a:p>
            <a:r>
              <a:rPr lang="en-IN" dirty="0"/>
              <a:t>‘AND’…… Conjunction, ex: </a:t>
            </a:r>
            <a:r>
              <a:rPr lang="en-US" dirty="0"/>
              <a:t>The outcome of an expression is true or 1 when both the propositions AND-</a:t>
            </a:r>
            <a:r>
              <a:rPr lang="en-US" dirty="0" err="1"/>
              <a:t>ed</a:t>
            </a:r>
            <a:r>
              <a:rPr lang="en-US" dirty="0"/>
              <a:t> are true otherwise it is false or 0.</a:t>
            </a:r>
          </a:p>
          <a:p>
            <a:r>
              <a:rPr lang="en-IN" dirty="0"/>
              <a:t>‘OR’ …… Disjunction, ex: </a:t>
            </a:r>
            <a:r>
              <a:rPr lang="en-US" dirty="0"/>
              <a:t>The outcome of an expression is true or 1 when </a:t>
            </a:r>
            <a:r>
              <a:rPr lang="en-US" dirty="0" err="1"/>
              <a:t>anyone</a:t>
            </a:r>
            <a:r>
              <a:rPr lang="en-US" dirty="0"/>
              <a:t> of the propositions OR-</a:t>
            </a:r>
            <a:r>
              <a:rPr lang="en-US" dirty="0" err="1"/>
              <a:t>ed</a:t>
            </a:r>
            <a:r>
              <a:rPr lang="en-US" dirty="0"/>
              <a:t> is true otherwise it is false or 0.</a:t>
            </a:r>
          </a:p>
          <a:p>
            <a:r>
              <a:rPr lang="en-IN" dirty="0"/>
              <a:t>‘NOT’ …… Negation, ex: </a:t>
            </a:r>
            <a:r>
              <a:rPr lang="en-US" dirty="0"/>
              <a:t>If outcome of a proposition is ‘true’, it becomes ‘false’ when negated or NOT-ed. </a:t>
            </a:r>
            <a:endParaRPr lang="en-IN" dirty="0"/>
          </a:p>
        </p:txBody>
      </p:sp>
    </p:spTree>
    <p:extLst>
      <p:ext uri="{BB962C8B-B14F-4D97-AF65-F5344CB8AC3E}">
        <p14:creationId xmlns:p14="http://schemas.microsoft.com/office/powerpoint/2010/main" val="8842687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2031"/>
          </a:xfrm>
        </p:spPr>
        <p:txBody>
          <a:bodyPr/>
          <a:lstStyle/>
          <a:p>
            <a:r>
              <a:rPr lang="en-US" dirty="0"/>
              <a:t>Example</a:t>
            </a:r>
            <a:endParaRPr lang="en-IN" dirty="0"/>
          </a:p>
        </p:txBody>
      </p:sp>
      <p:sp>
        <p:nvSpPr>
          <p:cNvPr id="3" name="Content Placeholder 2"/>
          <p:cNvSpPr>
            <a:spLocks noGrp="1"/>
          </p:cNvSpPr>
          <p:nvPr>
            <p:ph idx="1"/>
          </p:nvPr>
        </p:nvSpPr>
        <p:spPr>
          <a:xfrm>
            <a:off x="838200" y="1147156"/>
            <a:ext cx="10515600" cy="5029807"/>
          </a:xfrm>
        </p:spPr>
        <p:txBody>
          <a:bodyPr>
            <a:normAutofit/>
          </a:bodyPr>
          <a:lstStyle/>
          <a:p>
            <a:r>
              <a:rPr lang="en-US" dirty="0"/>
              <a:t>Write the algorithm for finding the sum of any two numbers.</a:t>
            </a:r>
            <a:endParaRPr lang="en-IN" dirty="0"/>
          </a:p>
          <a:p>
            <a:r>
              <a:rPr lang="en-US" dirty="0"/>
              <a:t>Solution </a:t>
            </a:r>
          </a:p>
          <a:p>
            <a:r>
              <a:rPr lang="en-US" dirty="0"/>
              <a:t>Let the two numbers be A and B and let their sum be equal to C. Then, the desired algorithm is given as follows: </a:t>
            </a:r>
          </a:p>
          <a:p>
            <a:pPr marL="514350" indent="-514350">
              <a:buAutoNum type="arabicPeriod"/>
            </a:pPr>
            <a:r>
              <a:rPr lang="en-US" dirty="0"/>
              <a:t>START</a:t>
            </a:r>
          </a:p>
          <a:p>
            <a:pPr marL="514350" indent="-514350">
              <a:buAutoNum type="arabicPeriod"/>
            </a:pPr>
            <a:r>
              <a:rPr lang="en-US" dirty="0"/>
              <a:t>PRINT “ENTER TWO NUMBERS” </a:t>
            </a:r>
          </a:p>
          <a:p>
            <a:pPr marL="514350" indent="-514350">
              <a:buAutoNum type="arabicPeriod"/>
            </a:pPr>
            <a:r>
              <a:rPr lang="en-US" dirty="0"/>
              <a:t>INPUT A, B </a:t>
            </a:r>
          </a:p>
          <a:p>
            <a:pPr marL="514350" indent="-514350">
              <a:buAutoNum type="arabicPeriod"/>
            </a:pPr>
            <a:r>
              <a:rPr lang="en-US" dirty="0"/>
              <a:t>C ¨ A + B Add values assigned to A and B and assign this value to C </a:t>
            </a:r>
          </a:p>
          <a:p>
            <a:pPr marL="514350" indent="-514350">
              <a:buAutoNum type="arabicPeriod"/>
            </a:pPr>
            <a:r>
              <a:rPr lang="en-US" dirty="0"/>
              <a:t>PRINT C </a:t>
            </a:r>
          </a:p>
          <a:p>
            <a:pPr marL="514350" indent="-514350">
              <a:buAutoNum type="arabicPeriod"/>
            </a:pPr>
            <a:r>
              <a:rPr lang="en-US" dirty="0"/>
              <a:t>STOP</a:t>
            </a:r>
            <a:endParaRPr lang="en-IN" dirty="0"/>
          </a:p>
        </p:txBody>
      </p:sp>
    </p:spTree>
    <p:extLst>
      <p:ext uri="{BB962C8B-B14F-4D97-AF65-F5344CB8AC3E}">
        <p14:creationId xmlns:p14="http://schemas.microsoft.com/office/powerpoint/2010/main" val="5744334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 Construct the algorithm for interchanging the numeric values of two variables.</a:t>
            </a:r>
            <a:endParaRPr lang="en-IN" dirty="0"/>
          </a:p>
        </p:txBody>
      </p:sp>
      <p:pic>
        <p:nvPicPr>
          <p:cNvPr id="4" name="Content Placeholder 3"/>
          <p:cNvPicPr>
            <a:picLocks noGrp="1" noChangeAspect="1"/>
          </p:cNvPicPr>
          <p:nvPr>
            <p:ph idx="1"/>
          </p:nvPr>
        </p:nvPicPr>
        <p:blipFill>
          <a:blip r:embed="rId2"/>
          <a:stretch>
            <a:fillRect/>
          </a:stretch>
        </p:blipFill>
        <p:spPr>
          <a:xfrm>
            <a:off x="1100668" y="1733980"/>
            <a:ext cx="9668932" cy="4329489"/>
          </a:xfrm>
          <a:prstGeom prst="rect">
            <a:avLst/>
          </a:prstGeom>
        </p:spPr>
      </p:pic>
    </p:spTree>
    <p:extLst>
      <p:ext uri="{BB962C8B-B14F-4D97-AF65-F5344CB8AC3E}">
        <p14:creationId xmlns:p14="http://schemas.microsoft.com/office/powerpoint/2010/main" val="6672653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fontScale="90000"/>
          </a:bodyPr>
          <a:lstStyle/>
          <a:p>
            <a:pPr algn="ctr"/>
            <a:r>
              <a:rPr lang="en-IN" b="1" dirty="0"/>
              <a:t>Pseudo-code</a:t>
            </a:r>
          </a:p>
        </p:txBody>
      </p:sp>
      <p:sp>
        <p:nvSpPr>
          <p:cNvPr id="3" name="Content Placeholder 2"/>
          <p:cNvSpPr>
            <a:spLocks noGrp="1"/>
          </p:cNvSpPr>
          <p:nvPr>
            <p:ph idx="1"/>
          </p:nvPr>
        </p:nvSpPr>
        <p:spPr>
          <a:xfrm>
            <a:off x="838200" y="980902"/>
            <a:ext cx="10515600" cy="5196061"/>
          </a:xfrm>
        </p:spPr>
        <p:txBody>
          <a:bodyPr/>
          <a:lstStyle/>
          <a:p>
            <a:r>
              <a:rPr lang="en-US" dirty="0"/>
              <a:t>Pseudo-code is a written statement of an algorithm using a restricted and well-defined vocabulary. </a:t>
            </a:r>
          </a:p>
          <a:p>
            <a:r>
              <a:rPr lang="en-US" dirty="0"/>
              <a:t>It is similar to a 3GL, and for many programmers and program designers it is the preferred way to state algorithms and program specifications. Example of a precise statement of a while loop:</a:t>
            </a:r>
          </a:p>
        </p:txBody>
      </p:sp>
      <p:pic>
        <p:nvPicPr>
          <p:cNvPr id="4" name="Picture 3"/>
          <p:cNvPicPr>
            <a:picLocks noChangeAspect="1"/>
          </p:cNvPicPr>
          <p:nvPr/>
        </p:nvPicPr>
        <p:blipFill>
          <a:blip r:embed="rId2"/>
          <a:stretch>
            <a:fillRect/>
          </a:stretch>
        </p:blipFill>
        <p:spPr>
          <a:xfrm>
            <a:off x="1819883" y="3659755"/>
            <a:ext cx="6945017" cy="1967961"/>
          </a:xfrm>
          <a:prstGeom prst="rect">
            <a:avLst/>
          </a:prstGeom>
        </p:spPr>
      </p:pic>
    </p:spTree>
    <p:extLst>
      <p:ext uri="{BB962C8B-B14F-4D97-AF65-F5344CB8AC3E}">
        <p14:creationId xmlns:p14="http://schemas.microsoft.com/office/powerpoint/2010/main" val="6882443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3842"/>
          </a:xfrm>
        </p:spPr>
        <p:txBody>
          <a:bodyPr/>
          <a:lstStyle/>
          <a:p>
            <a:pPr algn="ctr"/>
            <a:r>
              <a:rPr lang="en-US" b="1" dirty="0"/>
              <a:t>Flow chart</a:t>
            </a:r>
            <a:endParaRPr lang="en-IN" b="1" dirty="0"/>
          </a:p>
        </p:txBody>
      </p:sp>
      <p:sp>
        <p:nvSpPr>
          <p:cNvPr id="3" name="Content Placeholder 2"/>
          <p:cNvSpPr>
            <a:spLocks noGrp="1"/>
          </p:cNvSpPr>
          <p:nvPr>
            <p:ph idx="1"/>
          </p:nvPr>
        </p:nvSpPr>
        <p:spPr>
          <a:xfrm>
            <a:off x="838200" y="1197033"/>
            <a:ext cx="10515600" cy="4979930"/>
          </a:xfrm>
        </p:spPr>
        <p:txBody>
          <a:bodyPr/>
          <a:lstStyle/>
          <a:p>
            <a:r>
              <a:rPr lang="en-US" dirty="0"/>
              <a:t>A flowchart depicts appropriate steps to be followed in order to arrive at the solution to a problem. </a:t>
            </a:r>
          </a:p>
          <a:p>
            <a:r>
              <a:rPr lang="en-US" dirty="0"/>
              <a:t>It is a program design tool which is used before writing the actual program.</a:t>
            </a:r>
          </a:p>
          <a:p>
            <a:r>
              <a:rPr lang="en-US" dirty="0"/>
              <a:t>A flowchart comprises a set of standard shaped boxes that are interconnected by flow lines. </a:t>
            </a:r>
          </a:p>
          <a:p>
            <a:r>
              <a:rPr lang="en-US" dirty="0"/>
              <a:t>Flow lines have arrows to indicate the direction of the flow of control between the boxes. </a:t>
            </a:r>
          </a:p>
          <a:p>
            <a:r>
              <a:rPr lang="en-US" dirty="0"/>
              <a:t>The activity to be performed is written within the boxes in English.</a:t>
            </a:r>
            <a:endParaRPr lang="en-IN" dirty="0"/>
          </a:p>
        </p:txBody>
      </p:sp>
    </p:spTree>
    <p:extLst>
      <p:ext uri="{BB962C8B-B14F-4D97-AF65-F5344CB8AC3E}">
        <p14:creationId xmlns:p14="http://schemas.microsoft.com/office/powerpoint/2010/main" val="18087090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400" y="180446"/>
            <a:ext cx="11298767" cy="700087"/>
          </a:xfrm>
        </p:spPr>
        <p:txBody>
          <a:bodyPr>
            <a:normAutofit/>
          </a:bodyPr>
          <a:lstStyle/>
          <a:p>
            <a:pPr algn="ctr"/>
            <a:r>
              <a:rPr lang="en-US" sz="3600" b="1" dirty="0"/>
              <a:t>Guidelines for drawing a flowchart with example</a:t>
            </a:r>
            <a:endParaRPr lang="en-IN" sz="3600" b="1" dirty="0"/>
          </a:p>
        </p:txBody>
      </p:sp>
      <p:pic>
        <p:nvPicPr>
          <p:cNvPr id="4" name="Content Placeholder 3"/>
          <p:cNvPicPr>
            <a:picLocks noGrp="1" noChangeAspect="1"/>
          </p:cNvPicPr>
          <p:nvPr>
            <p:ph sz="half" idx="1"/>
          </p:nvPr>
        </p:nvPicPr>
        <p:blipFill>
          <a:blip r:embed="rId2"/>
          <a:stretch>
            <a:fillRect/>
          </a:stretch>
        </p:blipFill>
        <p:spPr>
          <a:xfrm>
            <a:off x="406400" y="1035052"/>
            <a:ext cx="3691467" cy="5113866"/>
          </a:xfrm>
          <a:prstGeom prst="rect">
            <a:avLst/>
          </a:prstGeom>
        </p:spPr>
      </p:pic>
      <p:pic>
        <p:nvPicPr>
          <p:cNvPr id="6" name="Content Placeholder 5"/>
          <p:cNvPicPr>
            <a:picLocks noGrp="1" noChangeAspect="1"/>
          </p:cNvPicPr>
          <p:nvPr>
            <p:ph sz="half" idx="2"/>
          </p:nvPr>
        </p:nvPicPr>
        <p:blipFill>
          <a:blip r:embed="rId3"/>
          <a:stretch>
            <a:fillRect/>
          </a:stretch>
        </p:blipFill>
        <p:spPr>
          <a:xfrm>
            <a:off x="5532967" y="1116540"/>
            <a:ext cx="1828800" cy="742950"/>
          </a:xfrm>
          <a:prstGeom prst="rect">
            <a:avLst/>
          </a:prstGeom>
        </p:spPr>
      </p:pic>
      <p:pic>
        <p:nvPicPr>
          <p:cNvPr id="7" name="Picture 6"/>
          <p:cNvPicPr>
            <a:picLocks noChangeAspect="1"/>
          </p:cNvPicPr>
          <p:nvPr/>
        </p:nvPicPr>
        <p:blipFill>
          <a:blip r:embed="rId4"/>
          <a:stretch>
            <a:fillRect/>
          </a:stretch>
        </p:blipFill>
        <p:spPr>
          <a:xfrm>
            <a:off x="8010275" y="2010835"/>
            <a:ext cx="2428067" cy="1638452"/>
          </a:xfrm>
          <a:prstGeom prst="rect">
            <a:avLst/>
          </a:prstGeom>
        </p:spPr>
      </p:pic>
      <p:pic>
        <p:nvPicPr>
          <p:cNvPr id="8" name="Picture 7"/>
          <p:cNvPicPr>
            <a:picLocks noChangeAspect="1"/>
          </p:cNvPicPr>
          <p:nvPr/>
        </p:nvPicPr>
        <p:blipFill>
          <a:blip r:embed="rId5"/>
          <a:stretch>
            <a:fillRect/>
          </a:stretch>
        </p:blipFill>
        <p:spPr>
          <a:xfrm>
            <a:off x="4799542" y="4199467"/>
            <a:ext cx="3719916" cy="1752446"/>
          </a:xfrm>
          <a:prstGeom prst="rect">
            <a:avLst/>
          </a:prstGeom>
        </p:spPr>
      </p:pic>
    </p:spTree>
    <p:extLst>
      <p:ext uri="{BB962C8B-B14F-4D97-AF65-F5344CB8AC3E}">
        <p14:creationId xmlns:p14="http://schemas.microsoft.com/office/powerpoint/2010/main" val="5587579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6"/>
            <a:ext cx="10885098" cy="315912"/>
          </a:xfrm>
        </p:spPr>
        <p:txBody>
          <a:bodyPr>
            <a:noAutofit/>
          </a:bodyPr>
          <a:lstStyle/>
          <a:p>
            <a:r>
              <a:rPr lang="en-US" sz="3200" dirty="0"/>
              <a:t>Draw a flowchart to find the sum of the first 50 natural numbers</a:t>
            </a:r>
            <a:endParaRPr lang="en-IN" sz="3200" dirty="0"/>
          </a:p>
        </p:txBody>
      </p:sp>
    </p:spTree>
    <p:extLst>
      <p:ext uri="{BB962C8B-B14F-4D97-AF65-F5344CB8AC3E}">
        <p14:creationId xmlns:p14="http://schemas.microsoft.com/office/powerpoint/2010/main" val="1231442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94EFD-9F50-1E24-0573-558392B9FBE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FD40FD4-CD29-184D-8F40-DD4B9A5139F2}"/>
              </a:ext>
            </a:extLst>
          </p:cNvPr>
          <p:cNvSpPr>
            <a:spLocks noGrp="1"/>
          </p:cNvSpPr>
          <p:nvPr>
            <p:ph type="title"/>
          </p:nvPr>
        </p:nvSpPr>
        <p:spPr>
          <a:xfrm>
            <a:off x="838200" y="365126"/>
            <a:ext cx="10885098" cy="315912"/>
          </a:xfrm>
        </p:spPr>
        <p:txBody>
          <a:bodyPr>
            <a:noAutofit/>
          </a:bodyPr>
          <a:lstStyle/>
          <a:p>
            <a:r>
              <a:rPr lang="en-US" sz="3200" dirty="0"/>
              <a:t>Draw a flowchart to find the sum of the first 50 natural numbers</a:t>
            </a:r>
            <a:endParaRPr lang="en-IN" sz="3200" dirty="0"/>
          </a:p>
        </p:txBody>
      </p:sp>
      <p:pic>
        <p:nvPicPr>
          <p:cNvPr id="7" name="Picture 6">
            <a:extLst>
              <a:ext uri="{FF2B5EF4-FFF2-40B4-BE49-F238E27FC236}">
                <a16:creationId xmlns:a16="http://schemas.microsoft.com/office/drawing/2014/main" id="{856F9164-67E9-8D79-E1B5-EFF74D1D1756}"/>
              </a:ext>
            </a:extLst>
          </p:cNvPr>
          <p:cNvPicPr>
            <a:picLocks noChangeAspect="1"/>
          </p:cNvPicPr>
          <p:nvPr/>
        </p:nvPicPr>
        <p:blipFill>
          <a:blip r:embed="rId2"/>
          <a:stretch>
            <a:fillRect/>
          </a:stretch>
        </p:blipFill>
        <p:spPr>
          <a:xfrm>
            <a:off x="2742880" y="838932"/>
            <a:ext cx="5469467" cy="5880143"/>
          </a:xfrm>
          <a:prstGeom prst="rect">
            <a:avLst/>
          </a:prstGeom>
        </p:spPr>
      </p:pic>
    </p:spTree>
    <p:extLst>
      <p:ext uri="{BB962C8B-B14F-4D97-AF65-F5344CB8AC3E}">
        <p14:creationId xmlns:p14="http://schemas.microsoft.com/office/powerpoint/2010/main" val="4284496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563" y="365126"/>
            <a:ext cx="10974237" cy="363008"/>
          </a:xfrm>
        </p:spPr>
        <p:txBody>
          <a:bodyPr>
            <a:noAutofit/>
          </a:bodyPr>
          <a:lstStyle/>
          <a:p>
            <a:r>
              <a:rPr lang="en-US" sz="3200" dirty="0"/>
              <a:t>Draw a flowchart to find the largest of three numbers A, B, and C</a:t>
            </a:r>
            <a:endParaRPr lang="en-IN" sz="3200" dirty="0"/>
          </a:p>
        </p:txBody>
      </p:sp>
    </p:spTree>
    <p:extLst>
      <p:ext uri="{BB962C8B-B14F-4D97-AF65-F5344CB8AC3E}">
        <p14:creationId xmlns:p14="http://schemas.microsoft.com/office/powerpoint/2010/main" val="899940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E5024-1E96-8801-3F96-7FE8F58F4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5B87A3-419E-FEC3-3C5E-CBD03F84D670}"/>
              </a:ext>
            </a:extLst>
          </p:cNvPr>
          <p:cNvSpPr>
            <a:spLocks noGrp="1"/>
          </p:cNvSpPr>
          <p:nvPr>
            <p:ph type="title"/>
          </p:nvPr>
        </p:nvSpPr>
        <p:spPr>
          <a:xfrm>
            <a:off x="379563" y="365126"/>
            <a:ext cx="10974237" cy="363008"/>
          </a:xfrm>
        </p:spPr>
        <p:txBody>
          <a:bodyPr>
            <a:noAutofit/>
          </a:bodyPr>
          <a:lstStyle/>
          <a:p>
            <a:r>
              <a:rPr lang="en-US" sz="3200" dirty="0"/>
              <a:t>Draw a flowchart to find the largest of three numbers A, B, and C</a:t>
            </a:r>
            <a:endParaRPr lang="en-IN" sz="3200" dirty="0"/>
          </a:p>
        </p:txBody>
      </p:sp>
      <p:pic>
        <p:nvPicPr>
          <p:cNvPr id="4" name="Picture 3">
            <a:extLst>
              <a:ext uri="{FF2B5EF4-FFF2-40B4-BE49-F238E27FC236}">
                <a16:creationId xmlns:a16="http://schemas.microsoft.com/office/drawing/2014/main" id="{5EECFCFC-69FC-79ED-4B53-5E5D97191532}"/>
              </a:ext>
            </a:extLst>
          </p:cNvPr>
          <p:cNvPicPr>
            <a:picLocks noChangeAspect="1"/>
          </p:cNvPicPr>
          <p:nvPr/>
        </p:nvPicPr>
        <p:blipFill>
          <a:blip r:embed="rId2"/>
          <a:stretch>
            <a:fillRect/>
          </a:stretch>
        </p:blipFill>
        <p:spPr>
          <a:xfrm>
            <a:off x="2025884" y="940279"/>
            <a:ext cx="7476348" cy="5747291"/>
          </a:xfrm>
          <a:prstGeom prst="rect">
            <a:avLst/>
          </a:prstGeom>
        </p:spPr>
      </p:pic>
    </p:spTree>
    <p:extLst>
      <p:ext uri="{BB962C8B-B14F-4D97-AF65-F5344CB8AC3E}">
        <p14:creationId xmlns:p14="http://schemas.microsoft.com/office/powerpoint/2010/main" val="40114664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49C92-FA52-D7FA-AE7C-E9D2634D13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F77288-931E-FC28-4D0A-A71F6E4B58C4}"/>
              </a:ext>
            </a:extLst>
          </p:cNvPr>
          <p:cNvSpPr>
            <a:spLocks noGrp="1"/>
          </p:cNvSpPr>
          <p:nvPr>
            <p:ph type="title"/>
          </p:nvPr>
        </p:nvSpPr>
        <p:spPr>
          <a:xfrm>
            <a:off x="467264" y="234430"/>
            <a:ext cx="11290540" cy="2352195"/>
          </a:xfrm>
        </p:spPr>
        <p:txBody>
          <a:bodyPr>
            <a:noAutofit/>
          </a:bodyPr>
          <a:lstStyle/>
          <a:p>
            <a:r>
              <a:rPr lang="en-US" sz="2800" dirty="0"/>
              <a:t>The XYZ Construction Company plans to give a 5% year-end bonus to each of its employees earning Rs 5,000 or more per year, and a fixed bonus of Rs 250 to all other employees. Draw a flowchart and write the step-form algorithm for printing the bonus of any employee.</a:t>
            </a:r>
            <a:br>
              <a:rPr lang="en-US" sz="2800" dirty="0"/>
            </a:br>
            <a:endParaRPr lang="en-IN" sz="2800" dirty="0"/>
          </a:p>
        </p:txBody>
      </p:sp>
    </p:spTree>
    <p:extLst>
      <p:ext uri="{BB962C8B-B14F-4D97-AF65-F5344CB8AC3E}">
        <p14:creationId xmlns:p14="http://schemas.microsoft.com/office/powerpoint/2010/main" val="7786088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264" y="234430"/>
            <a:ext cx="11290540" cy="2352195"/>
          </a:xfrm>
        </p:spPr>
        <p:txBody>
          <a:bodyPr>
            <a:noAutofit/>
          </a:bodyPr>
          <a:lstStyle/>
          <a:p>
            <a:r>
              <a:rPr lang="en-US" sz="2800" dirty="0"/>
              <a:t>The XYZ Construction Company plans to give a 5% year-end bonus to each of its employees earning Rs 5,000 or more per year, and a fixed bonus of Rs 250 to all other employees. Draw a flowchart and write the step-form algorithm for printing the bonus of any employee.</a:t>
            </a:r>
            <a:br>
              <a:rPr lang="en-US" sz="2800" dirty="0"/>
            </a:br>
            <a:endParaRPr lang="en-IN" sz="2800" dirty="0"/>
          </a:p>
        </p:txBody>
      </p:sp>
      <p:pic>
        <p:nvPicPr>
          <p:cNvPr id="4" name="Picture 3"/>
          <p:cNvPicPr>
            <a:picLocks noChangeAspect="1"/>
          </p:cNvPicPr>
          <p:nvPr/>
        </p:nvPicPr>
        <p:blipFill>
          <a:blip r:embed="rId2"/>
          <a:stretch>
            <a:fillRect/>
          </a:stretch>
        </p:blipFill>
        <p:spPr>
          <a:xfrm>
            <a:off x="3669742" y="2053087"/>
            <a:ext cx="4475586" cy="4570483"/>
          </a:xfrm>
          <a:prstGeom prst="rect">
            <a:avLst/>
          </a:prstGeom>
        </p:spPr>
      </p:pic>
    </p:spTree>
    <p:extLst>
      <p:ext uri="{BB962C8B-B14F-4D97-AF65-F5344CB8AC3E}">
        <p14:creationId xmlns:p14="http://schemas.microsoft.com/office/powerpoint/2010/main" val="12778118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1551" y="210229"/>
            <a:ext cx="10515600" cy="737718"/>
          </a:xfrm>
        </p:spPr>
        <p:txBody>
          <a:bodyPr>
            <a:normAutofit fontScale="92500" lnSpcReduction="10000"/>
          </a:bodyPr>
          <a:lstStyle/>
          <a:p>
            <a:pPr marL="0" indent="0">
              <a:buNone/>
            </a:pPr>
            <a:r>
              <a:rPr lang="en-US" dirty="0"/>
              <a:t>Draw a flowchart for printing the sum of even terms contained within the numbers 0 to 20.</a:t>
            </a:r>
          </a:p>
          <a:p>
            <a:endParaRPr lang="en-IN" dirty="0"/>
          </a:p>
        </p:txBody>
      </p:sp>
    </p:spTree>
    <p:extLst>
      <p:ext uri="{BB962C8B-B14F-4D97-AF65-F5344CB8AC3E}">
        <p14:creationId xmlns:p14="http://schemas.microsoft.com/office/powerpoint/2010/main" val="42002643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11FF5-C59C-4B90-0254-B6BE9A5E72B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3D34A3-4167-0F9B-28B3-C41C37DE2846}"/>
              </a:ext>
            </a:extLst>
          </p:cNvPr>
          <p:cNvSpPr>
            <a:spLocks noGrp="1"/>
          </p:cNvSpPr>
          <p:nvPr>
            <p:ph idx="1"/>
          </p:nvPr>
        </p:nvSpPr>
        <p:spPr>
          <a:xfrm>
            <a:off x="691551" y="210229"/>
            <a:ext cx="10515600" cy="737718"/>
          </a:xfrm>
        </p:spPr>
        <p:txBody>
          <a:bodyPr>
            <a:normAutofit fontScale="92500" lnSpcReduction="10000"/>
          </a:bodyPr>
          <a:lstStyle/>
          <a:p>
            <a:pPr marL="0" indent="0">
              <a:buNone/>
            </a:pPr>
            <a:r>
              <a:rPr lang="en-US" dirty="0"/>
              <a:t>Draw a flowchart for printing the sum of even terms contained within the numbers 0 to 20.</a:t>
            </a:r>
          </a:p>
          <a:p>
            <a:endParaRPr lang="en-IN" dirty="0"/>
          </a:p>
        </p:txBody>
      </p:sp>
      <p:pic>
        <p:nvPicPr>
          <p:cNvPr id="4" name="Picture 3">
            <a:extLst>
              <a:ext uri="{FF2B5EF4-FFF2-40B4-BE49-F238E27FC236}">
                <a16:creationId xmlns:a16="http://schemas.microsoft.com/office/drawing/2014/main" id="{470AC414-BD9D-38F5-5810-DC5DC2F334BE}"/>
              </a:ext>
            </a:extLst>
          </p:cNvPr>
          <p:cNvPicPr>
            <a:picLocks noChangeAspect="1"/>
          </p:cNvPicPr>
          <p:nvPr/>
        </p:nvPicPr>
        <p:blipFill>
          <a:blip r:embed="rId2"/>
          <a:stretch>
            <a:fillRect/>
          </a:stretch>
        </p:blipFill>
        <p:spPr>
          <a:xfrm>
            <a:off x="3734641" y="758535"/>
            <a:ext cx="4512212" cy="5949621"/>
          </a:xfrm>
          <a:prstGeom prst="rect">
            <a:avLst/>
          </a:prstGeom>
        </p:spPr>
      </p:pic>
    </p:spTree>
    <p:extLst>
      <p:ext uri="{BB962C8B-B14F-4D97-AF65-F5344CB8AC3E}">
        <p14:creationId xmlns:p14="http://schemas.microsoft.com/office/powerpoint/2010/main" val="20278401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5653"/>
          </a:xfrm>
        </p:spPr>
        <p:txBody>
          <a:bodyPr>
            <a:normAutofit fontScale="90000"/>
          </a:bodyPr>
          <a:lstStyle/>
          <a:p>
            <a:pPr algn="ctr"/>
            <a:r>
              <a:rPr lang="en-IN" b="1" dirty="0"/>
              <a:t>Strategy for Designing Algorithm</a:t>
            </a:r>
          </a:p>
        </p:txBody>
      </p:sp>
      <p:sp>
        <p:nvSpPr>
          <p:cNvPr id="3" name="Content Placeholder 2"/>
          <p:cNvSpPr>
            <a:spLocks noGrp="1"/>
          </p:cNvSpPr>
          <p:nvPr>
            <p:ph idx="1"/>
          </p:nvPr>
        </p:nvSpPr>
        <p:spPr>
          <a:xfrm>
            <a:off x="838200" y="1213658"/>
            <a:ext cx="10515600" cy="4963305"/>
          </a:xfrm>
        </p:spPr>
        <p:txBody>
          <a:bodyPr/>
          <a:lstStyle/>
          <a:p>
            <a:r>
              <a:rPr lang="en-IN" dirty="0"/>
              <a:t>Identify the outputs needed.</a:t>
            </a:r>
          </a:p>
          <a:p>
            <a:r>
              <a:rPr lang="en-US" dirty="0"/>
              <a:t>Identify the input variables available.</a:t>
            </a:r>
          </a:p>
          <a:p>
            <a:r>
              <a:rPr lang="en-US" dirty="0"/>
              <a:t>Identify the major decisions and conditions.</a:t>
            </a:r>
          </a:p>
          <a:p>
            <a:r>
              <a:rPr lang="en-US" dirty="0"/>
              <a:t>Identify the processes required to transform inputs into required outputs.</a:t>
            </a:r>
          </a:p>
          <a:p>
            <a:r>
              <a:rPr lang="en-IN" dirty="0"/>
              <a:t>Identify the environment available.</a:t>
            </a:r>
          </a:p>
        </p:txBody>
      </p:sp>
    </p:spTree>
    <p:extLst>
      <p:ext uri="{BB962C8B-B14F-4D97-AF65-F5344CB8AC3E}">
        <p14:creationId xmlns:p14="http://schemas.microsoft.com/office/powerpoint/2010/main" val="21745313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BA6FD-033E-CC08-53C7-579E0C9ED690}"/>
              </a:ext>
            </a:extLst>
          </p:cNvPr>
          <p:cNvSpPr>
            <a:spLocks noGrp="1"/>
          </p:cNvSpPr>
          <p:nvPr>
            <p:ph type="title"/>
          </p:nvPr>
        </p:nvSpPr>
        <p:spPr/>
        <p:txBody>
          <a:bodyPr/>
          <a:lstStyle/>
          <a:p>
            <a:r>
              <a:rPr lang="en-IN" dirty="0" err="1"/>
              <a:t>scanf</a:t>
            </a:r>
            <a:endParaRPr lang="en-IN" dirty="0"/>
          </a:p>
        </p:txBody>
      </p:sp>
      <p:sp>
        <p:nvSpPr>
          <p:cNvPr id="3" name="Content Placeholder 2">
            <a:extLst>
              <a:ext uri="{FF2B5EF4-FFF2-40B4-BE49-F238E27FC236}">
                <a16:creationId xmlns:a16="http://schemas.microsoft.com/office/drawing/2014/main" id="{73EF7C3C-6810-5B76-E25E-CB7E09773F9C}"/>
              </a:ext>
            </a:extLst>
          </p:cNvPr>
          <p:cNvSpPr>
            <a:spLocks noGrp="1"/>
          </p:cNvSpPr>
          <p:nvPr>
            <p:ph idx="1"/>
          </p:nvPr>
        </p:nvSpPr>
        <p:spPr/>
        <p:txBody>
          <a:bodyPr/>
          <a:lstStyle/>
          <a:p>
            <a:pPr marL="0" indent="0">
              <a:buNone/>
            </a:pPr>
            <a:r>
              <a:rPr lang="en-US" dirty="0"/>
              <a:t>In C programming language, </a:t>
            </a:r>
            <a:r>
              <a:rPr lang="en-US" dirty="0" err="1"/>
              <a:t>scanf</a:t>
            </a:r>
            <a:r>
              <a:rPr lang="en-US" dirty="0"/>
              <a:t> is a function that stands for Scan Formatted String. It is used to read data from stdin (standard input stream i.e. usually keyboard) and then writes the result into the given arguments.</a:t>
            </a:r>
          </a:p>
          <a:p>
            <a:endParaRPr lang="en-US" dirty="0"/>
          </a:p>
          <a:p>
            <a:r>
              <a:rPr lang="en-US" dirty="0"/>
              <a:t>It accepts character, string, and numeric data from the user using standard input.</a:t>
            </a:r>
          </a:p>
          <a:p>
            <a:r>
              <a:rPr lang="en-US" dirty="0" err="1"/>
              <a:t>scanf</a:t>
            </a:r>
            <a:r>
              <a:rPr lang="en-US" dirty="0"/>
              <a:t> also uses format specifiers like </a:t>
            </a:r>
            <a:r>
              <a:rPr lang="en-US" dirty="0" err="1"/>
              <a:t>printf</a:t>
            </a:r>
            <a:r>
              <a:rPr lang="en-US" dirty="0"/>
              <a:t>.</a:t>
            </a:r>
            <a:endParaRPr lang="en-IN" dirty="0"/>
          </a:p>
        </p:txBody>
      </p:sp>
    </p:spTree>
    <p:extLst>
      <p:ext uri="{BB962C8B-B14F-4D97-AF65-F5344CB8AC3E}">
        <p14:creationId xmlns:p14="http://schemas.microsoft.com/office/powerpoint/2010/main" val="9484018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4224E-E552-5CD1-9420-C59317DFA6A5}"/>
              </a:ext>
            </a:extLst>
          </p:cNvPr>
          <p:cNvSpPr>
            <a:spLocks noGrp="1"/>
          </p:cNvSpPr>
          <p:nvPr>
            <p:ph type="title"/>
          </p:nvPr>
        </p:nvSpPr>
        <p:spPr/>
        <p:txBody>
          <a:bodyPr/>
          <a:lstStyle/>
          <a:p>
            <a:r>
              <a:rPr lang="en-IN" dirty="0"/>
              <a:t>Format Specifiers</a:t>
            </a:r>
          </a:p>
        </p:txBody>
      </p:sp>
      <p:sp>
        <p:nvSpPr>
          <p:cNvPr id="3" name="Content Placeholder 2">
            <a:extLst>
              <a:ext uri="{FF2B5EF4-FFF2-40B4-BE49-F238E27FC236}">
                <a16:creationId xmlns:a16="http://schemas.microsoft.com/office/drawing/2014/main" id="{8CB3244D-61B0-BC59-E51B-ECC4D9E40139}"/>
              </a:ext>
            </a:extLst>
          </p:cNvPr>
          <p:cNvSpPr>
            <a:spLocks noGrp="1"/>
          </p:cNvSpPr>
          <p:nvPr>
            <p:ph idx="1"/>
          </p:nvPr>
        </p:nvSpPr>
        <p:spPr/>
        <p:txBody>
          <a:bodyPr>
            <a:normAutofit/>
          </a:bodyPr>
          <a:lstStyle/>
          <a:p>
            <a:r>
              <a:rPr lang="en-US" dirty="0"/>
              <a:t>%d to accept input of integers.</a:t>
            </a:r>
          </a:p>
          <a:p>
            <a:r>
              <a:rPr lang="en-US" dirty="0"/>
              <a:t>%</a:t>
            </a:r>
            <a:r>
              <a:rPr lang="en-US" dirty="0" err="1"/>
              <a:t>ld</a:t>
            </a:r>
            <a:r>
              <a:rPr lang="en-US" dirty="0"/>
              <a:t> to  accept input of long integers</a:t>
            </a:r>
          </a:p>
          <a:p>
            <a:r>
              <a:rPr lang="en-US" dirty="0"/>
              <a:t>%</a:t>
            </a:r>
            <a:r>
              <a:rPr lang="en-US" dirty="0" err="1"/>
              <a:t>lld</a:t>
            </a:r>
            <a:r>
              <a:rPr lang="en-US" dirty="0"/>
              <a:t> to accept input of long </a:t>
            </a:r>
            <a:r>
              <a:rPr lang="en-US" dirty="0" err="1"/>
              <a:t>long</a:t>
            </a:r>
            <a:r>
              <a:rPr lang="en-US" dirty="0"/>
              <a:t> integers</a:t>
            </a:r>
          </a:p>
          <a:p>
            <a:r>
              <a:rPr lang="en-US" dirty="0"/>
              <a:t>%f to accept input of real number.</a:t>
            </a:r>
          </a:p>
          <a:p>
            <a:r>
              <a:rPr lang="en-US" dirty="0"/>
              <a:t>%c to accept input of character types.</a:t>
            </a:r>
          </a:p>
          <a:p>
            <a:r>
              <a:rPr lang="en-US" dirty="0"/>
              <a:t>%s to accept input of a string.</a:t>
            </a:r>
            <a:endParaRPr lang="en-IN" dirty="0"/>
          </a:p>
        </p:txBody>
      </p:sp>
    </p:spTree>
    <p:extLst>
      <p:ext uri="{BB962C8B-B14F-4D97-AF65-F5344CB8AC3E}">
        <p14:creationId xmlns:p14="http://schemas.microsoft.com/office/powerpoint/2010/main" val="7551218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E4999-7F37-E283-EA8A-430956F4B118}"/>
              </a:ext>
            </a:extLst>
          </p:cNvPr>
          <p:cNvSpPr>
            <a:spLocks noGrp="1"/>
          </p:cNvSpPr>
          <p:nvPr>
            <p:ph type="title"/>
          </p:nvPr>
        </p:nvSpPr>
        <p:spPr/>
        <p:txBody>
          <a:bodyPr/>
          <a:lstStyle/>
          <a:p>
            <a:r>
              <a:rPr lang="en-IN" dirty="0"/>
              <a:t>Syntax</a:t>
            </a:r>
          </a:p>
        </p:txBody>
      </p:sp>
      <p:sp>
        <p:nvSpPr>
          <p:cNvPr id="3" name="Content Placeholder 2">
            <a:extLst>
              <a:ext uri="{FF2B5EF4-FFF2-40B4-BE49-F238E27FC236}">
                <a16:creationId xmlns:a16="http://schemas.microsoft.com/office/drawing/2014/main" id="{38A361F4-FD16-B021-15CA-DD398276E019}"/>
              </a:ext>
            </a:extLst>
          </p:cNvPr>
          <p:cNvSpPr>
            <a:spLocks noGrp="1"/>
          </p:cNvSpPr>
          <p:nvPr>
            <p:ph idx="1"/>
          </p:nvPr>
        </p:nvSpPr>
        <p:spPr/>
        <p:txBody>
          <a:bodyPr/>
          <a:lstStyle/>
          <a:p>
            <a:pPr marL="0" indent="0">
              <a:buNone/>
            </a:pPr>
            <a:r>
              <a:rPr lang="en-US" dirty="0">
                <a:solidFill>
                  <a:schemeClr val="accent2"/>
                </a:solidFill>
              </a:rPr>
              <a:t>int</a:t>
            </a:r>
            <a:r>
              <a:rPr lang="en-US" dirty="0"/>
              <a:t> var;</a:t>
            </a:r>
          </a:p>
          <a:p>
            <a:pPr marL="0" indent="0">
              <a:buNone/>
            </a:pPr>
            <a:r>
              <a:rPr lang="en-US" dirty="0" err="1">
                <a:solidFill>
                  <a:schemeClr val="accent2"/>
                </a:solidFill>
              </a:rPr>
              <a:t>scanf</a:t>
            </a:r>
            <a:r>
              <a:rPr lang="en-US" dirty="0"/>
              <a:t>(“%d”, &amp;var);</a:t>
            </a:r>
          </a:p>
          <a:p>
            <a:endParaRPr lang="en-US" dirty="0"/>
          </a:p>
          <a:p>
            <a:endParaRPr lang="en-US" dirty="0"/>
          </a:p>
          <a:p>
            <a:r>
              <a:rPr lang="en-US" dirty="0"/>
              <a:t>The </a:t>
            </a:r>
            <a:r>
              <a:rPr lang="en-US" dirty="0" err="1"/>
              <a:t>scanf</a:t>
            </a:r>
            <a:r>
              <a:rPr lang="en-US" dirty="0"/>
              <a:t> will write the value input by the user into the integer variable var.</a:t>
            </a:r>
            <a:endParaRPr lang="en-IN" dirty="0"/>
          </a:p>
        </p:txBody>
      </p:sp>
    </p:spTree>
    <p:extLst>
      <p:ext uri="{BB962C8B-B14F-4D97-AF65-F5344CB8AC3E}">
        <p14:creationId xmlns:p14="http://schemas.microsoft.com/office/powerpoint/2010/main" val="22363105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3BFA5-2985-4149-8B54-CAB05EDFF3DC}"/>
              </a:ext>
            </a:extLst>
          </p:cNvPr>
          <p:cNvSpPr>
            <a:spLocks noGrp="1"/>
          </p:cNvSpPr>
          <p:nvPr>
            <p:ph type="title"/>
          </p:nvPr>
        </p:nvSpPr>
        <p:spPr/>
        <p:txBody>
          <a:bodyPr/>
          <a:lstStyle/>
          <a:p>
            <a:r>
              <a:rPr lang="en-IN" dirty="0"/>
              <a:t>Why &amp;</a:t>
            </a:r>
          </a:p>
        </p:txBody>
      </p:sp>
      <p:sp>
        <p:nvSpPr>
          <p:cNvPr id="3" name="Content Placeholder 2">
            <a:extLst>
              <a:ext uri="{FF2B5EF4-FFF2-40B4-BE49-F238E27FC236}">
                <a16:creationId xmlns:a16="http://schemas.microsoft.com/office/drawing/2014/main" id="{9048F562-A592-9DF6-60AD-05CA117C580E}"/>
              </a:ext>
            </a:extLst>
          </p:cNvPr>
          <p:cNvSpPr>
            <a:spLocks noGrp="1"/>
          </p:cNvSpPr>
          <p:nvPr>
            <p:ph idx="1"/>
          </p:nvPr>
        </p:nvSpPr>
        <p:spPr/>
        <p:txBody>
          <a:bodyPr/>
          <a:lstStyle/>
          <a:p>
            <a:pPr marL="0" indent="0">
              <a:buNone/>
            </a:pPr>
            <a:r>
              <a:rPr lang="en-US" dirty="0"/>
              <a:t>While scanning the input, </a:t>
            </a:r>
            <a:r>
              <a:rPr lang="en-US" b="1" dirty="0" err="1"/>
              <a:t>scanf</a:t>
            </a:r>
            <a:r>
              <a:rPr lang="en-US" dirty="0"/>
              <a:t> needs to store that input data somewhere. To store this input data, </a:t>
            </a:r>
            <a:r>
              <a:rPr lang="en-US" b="1" dirty="0" err="1"/>
              <a:t>scanf</a:t>
            </a:r>
            <a:r>
              <a:rPr lang="en-US" dirty="0"/>
              <a:t> needs to known the memory location of a variable. And here comes the ampersand to rescue.</a:t>
            </a:r>
          </a:p>
          <a:p>
            <a:endParaRPr lang="en-US" dirty="0"/>
          </a:p>
          <a:p>
            <a:r>
              <a:rPr lang="en-US" dirty="0"/>
              <a:t>&amp; is also called as address of the operator.</a:t>
            </a:r>
          </a:p>
          <a:p>
            <a:r>
              <a:rPr lang="en-US" dirty="0"/>
              <a:t>For example, &amp;var is the address of var.</a:t>
            </a:r>
            <a:endParaRPr lang="en-IN" dirty="0"/>
          </a:p>
        </p:txBody>
      </p:sp>
    </p:spTree>
    <p:extLst>
      <p:ext uri="{BB962C8B-B14F-4D97-AF65-F5344CB8AC3E}">
        <p14:creationId xmlns:p14="http://schemas.microsoft.com/office/powerpoint/2010/main" val="4064001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909E1-AFFD-2613-74DD-892EF982EABF}"/>
              </a:ext>
            </a:extLst>
          </p:cNvPr>
          <p:cNvSpPr>
            <a:spLocks noGrp="1"/>
          </p:cNvSpPr>
          <p:nvPr>
            <p:ph type="title"/>
          </p:nvPr>
        </p:nvSpPr>
        <p:spPr/>
        <p:txBody>
          <a:bodyPr/>
          <a:lstStyle/>
          <a:p>
            <a:r>
              <a:rPr lang="en-IN" dirty="0"/>
              <a:t>WAP to Show the user entered numbers</a:t>
            </a:r>
          </a:p>
        </p:txBody>
      </p:sp>
      <p:sp>
        <p:nvSpPr>
          <p:cNvPr id="3" name="Content Placeholder 2">
            <a:extLst>
              <a:ext uri="{FF2B5EF4-FFF2-40B4-BE49-F238E27FC236}">
                <a16:creationId xmlns:a16="http://schemas.microsoft.com/office/drawing/2014/main" id="{6BE6D3C5-3976-216D-51BD-32A407D5B0CE}"/>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7772471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1B5F6-A0ED-225F-C12E-A75DE8DBBC0C}"/>
              </a:ext>
            </a:extLst>
          </p:cNvPr>
          <p:cNvSpPr>
            <a:spLocks noGrp="1"/>
          </p:cNvSpPr>
          <p:nvPr>
            <p:ph type="title"/>
          </p:nvPr>
        </p:nvSpPr>
        <p:spPr/>
        <p:txBody>
          <a:bodyPr/>
          <a:lstStyle/>
          <a:p>
            <a:r>
              <a:rPr lang="en-IN" dirty="0"/>
              <a:t>Answer</a:t>
            </a:r>
          </a:p>
        </p:txBody>
      </p:sp>
      <p:sp>
        <p:nvSpPr>
          <p:cNvPr id="3" name="Content Placeholder 2">
            <a:extLst>
              <a:ext uri="{FF2B5EF4-FFF2-40B4-BE49-F238E27FC236}">
                <a16:creationId xmlns:a16="http://schemas.microsoft.com/office/drawing/2014/main" id="{59D315D8-20BD-1F97-27E9-A8F93C7B5378}"/>
              </a:ext>
            </a:extLst>
          </p:cNvPr>
          <p:cNvSpPr>
            <a:spLocks noGrp="1"/>
          </p:cNvSpPr>
          <p:nvPr>
            <p:ph idx="1"/>
          </p:nvPr>
        </p:nvSpPr>
        <p:spPr/>
        <p:txBody>
          <a:bodyPr>
            <a:normAutofit fontScale="85000" lnSpcReduction="20000"/>
          </a:bodyPr>
          <a:lstStyle/>
          <a:p>
            <a:pPr marL="514350" indent="-514350">
              <a:buFont typeface="+mj-lt"/>
              <a:buAutoNum type="arabicPeriod"/>
            </a:pPr>
            <a:r>
              <a:rPr lang="en-IN" dirty="0"/>
              <a:t>#include &lt;</a:t>
            </a:r>
            <a:r>
              <a:rPr lang="en-IN" dirty="0" err="1"/>
              <a:t>stdio.h</a:t>
            </a:r>
            <a:r>
              <a:rPr lang="en-IN" dirty="0"/>
              <a:t>&gt;</a:t>
            </a:r>
          </a:p>
          <a:p>
            <a:pPr marL="514350" indent="-514350">
              <a:buFont typeface="+mj-lt"/>
              <a:buAutoNum type="arabicPeriod"/>
            </a:pPr>
            <a:r>
              <a:rPr lang="en-IN" dirty="0"/>
              <a:t>int main() </a:t>
            </a:r>
          </a:p>
          <a:p>
            <a:pPr marL="514350" indent="-514350">
              <a:buFont typeface="+mj-lt"/>
              <a:buAutoNum type="arabicPeriod"/>
            </a:pPr>
            <a:r>
              <a:rPr lang="en-IN" dirty="0"/>
              <a:t>{</a:t>
            </a:r>
          </a:p>
          <a:p>
            <a:pPr marL="514350" indent="-514350">
              <a:buFont typeface="+mj-lt"/>
              <a:buAutoNum type="arabicPeriod"/>
            </a:pPr>
            <a:r>
              <a:rPr lang="en-IN" dirty="0"/>
              <a:t>    int a, b;</a:t>
            </a:r>
          </a:p>
          <a:p>
            <a:pPr marL="514350" indent="-514350">
              <a:buFont typeface="+mj-lt"/>
              <a:buAutoNum type="arabicPeriod"/>
            </a:pPr>
            <a:r>
              <a:rPr lang="en-IN" dirty="0"/>
              <a:t>      </a:t>
            </a:r>
            <a:r>
              <a:rPr lang="en-IN" dirty="0" err="1"/>
              <a:t>printf</a:t>
            </a:r>
            <a:r>
              <a:rPr lang="en-IN" dirty="0"/>
              <a:t>("Enter first number: ");</a:t>
            </a:r>
          </a:p>
          <a:p>
            <a:pPr marL="514350" indent="-514350">
              <a:buFont typeface="+mj-lt"/>
              <a:buAutoNum type="arabicPeriod"/>
            </a:pPr>
            <a:r>
              <a:rPr lang="en-IN" dirty="0"/>
              <a:t>      </a:t>
            </a:r>
            <a:r>
              <a:rPr lang="en-IN" dirty="0" err="1"/>
              <a:t>scanf</a:t>
            </a:r>
            <a:r>
              <a:rPr lang="en-IN" dirty="0"/>
              <a:t>("%d", &amp;a);</a:t>
            </a:r>
          </a:p>
          <a:p>
            <a:pPr marL="514350" indent="-514350">
              <a:buFont typeface="+mj-lt"/>
              <a:buAutoNum type="arabicPeriod"/>
            </a:pPr>
            <a:r>
              <a:rPr lang="en-IN" dirty="0"/>
              <a:t>      </a:t>
            </a:r>
            <a:r>
              <a:rPr lang="en-IN" dirty="0" err="1"/>
              <a:t>printf</a:t>
            </a:r>
            <a:r>
              <a:rPr lang="en-IN" dirty="0"/>
              <a:t>("Enter second number: ");</a:t>
            </a:r>
          </a:p>
          <a:p>
            <a:pPr marL="514350" indent="-514350">
              <a:buFont typeface="+mj-lt"/>
              <a:buAutoNum type="arabicPeriod"/>
            </a:pPr>
            <a:r>
              <a:rPr lang="en-IN" dirty="0"/>
              <a:t>      </a:t>
            </a:r>
            <a:r>
              <a:rPr lang="en-IN" dirty="0" err="1"/>
              <a:t>scanf</a:t>
            </a:r>
            <a:r>
              <a:rPr lang="en-IN" dirty="0"/>
              <a:t>("%d", &amp;b);</a:t>
            </a:r>
          </a:p>
          <a:p>
            <a:pPr marL="514350" indent="-514350">
              <a:buFont typeface="+mj-lt"/>
              <a:buAutoNum type="arabicPeriod"/>
            </a:pPr>
            <a:r>
              <a:rPr lang="en-IN" dirty="0"/>
              <a:t>      </a:t>
            </a:r>
            <a:r>
              <a:rPr lang="en-IN" dirty="0" err="1"/>
              <a:t>printf</a:t>
            </a:r>
            <a:r>
              <a:rPr lang="en-IN" dirty="0"/>
              <a:t>("A : %d \t B : %d" , a , b);</a:t>
            </a:r>
          </a:p>
          <a:p>
            <a:pPr marL="514350" indent="-514350">
              <a:buFont typeface="+mj-lt"/>
              <a:buAutoNum type="arabicPeriod"/>
            </a:pPr>
            <a:r>
              <a:rPr lang="en-IN" dirty="0"/>
              <a:t>    return 0;</a:t>
            </a:r>
          </a:p>
          <a:p>
            <a:pPr marL="514350" indent="-514350">
              <a:buFont typeface="+mj-lt"/>
              <a:buAutoNum type="arabicPeriod"/>
            </a:pPr>
            <a:r>
              <a:rPr lang="en-IN" dirty="0"/>
              <a:t>}</a:t>
            </a:r>
          </a:p>
        </p:txBody>
      </p:sp>
    </p:spTree>
    <p:extLst>
      <p:ext uri="{BB962C8B-B14F-4D97-AF65-F5344CB8AC3E}">
        <p14:creationId xmlns:p14="http://schemas.microsoft.com/office/powerpoint/2010/main" val="25487532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57588"/>
          </a:xfrm>
        </p:spPr>
        <p:txBody>
          <a:bodyPr>
            <a:normAutofit fontScale="90000"/>
          </a:bodyPr>
          <a:lstStyle/>
          <a:p>
            <a:pPr algn="ctr"/>
            <a:r>
              <a:rPr lang="en-US" b="1" dirty="0"/>
              <a:t>Assignments</a:t>
            </a:r>
            <a:endParaRPr lang="en-IN" b="1" dirty="0"/>
          </a:p>
        </p:txBody>
      </p:sp>
      <p:sp>
        <p:nvSpPr>
          <p:cNvPr id="3" name="Content Placeholder 2"/>
          <p:cNvSpPr>
            <a:spLocks noGrp="1"/>
          </p:cNvSpPr>
          <p:nvPr>
            <p:ph idx="1"/>
          </p:nvPr>
        </p:nvSpPr>
        <p:spPr>
          <a:xfrm>
            <a:off x="838200" y="1147156"/>
            <a:ext cx="10764078" cy="5029807"/>
          </a:xfrm>
        </p:spPr>
        <p:txBody>
          <a:bodyPr/>
          <a:lstStyle/>
          <a:p>
            <a:pPr marL="514350" indent="-514350">
              <a:buFont typeface="+mj-lt"/>
              <a:buAutoNum type="arabicPeriod"/>
            </a:pPr>
            <a:r>
              <a:rPr lang="en-US" dirty="0"/>
              <a:t>Write a program for finding the sum of any two numbers.</a:t>
            </a:r>
          </a:p>
          <a:p>
            <a:pPr marL="514350" indent="-514350">
              <a:buFont typeface="+mj-lt"/>
              <a:buAutoNum type="arabicPeriod"/>
            </a:pPr>
            <a:r>
              <a:rPr lang="en-US" dirty="0"/>
              <a:t>Write a program to find the sum of the first 150 natural numbers.</a:t>
            </a:r>
          </a:p>
          <a:p>
            <a:pPr marL="514350" indent="-514350">
              <a:buFont typeface="+mj-lt"/>
              <a:buAutoNum type="arabicPeriod"/>
            </a:pPr>
            <a:r>
              <a:rPr lang="en-US" dirty="0"/>
              <a:t>WAP to find the largest of the three numbers A, B, and C.</a:t>
            </a:r>
          </a:p>
          <a:p>
            <a:pPr marL="514350" indent="-514350">
              <a:buFont typeface="+mj-lt"/>
              <a:buAutoNum type="arabicPeriod"/>
            </a:pPr>
            <a:r>
              <a:rPr lang="en-US" dirty="0"/>
              <a:t>The XYZ Construction Company plans to give a 5% year-end bonus to each of its employees earning Rs 5,000 or more per year, and a fixed bonus of Rs 250 to all other employees. </a:t>
            </a:r>
          </a:p>
          <a:p>
            <a:pPr marL="0" indent="0">
              <a:buNone/>
            </a:pPr>
            <a:r>
              <a:rPr lang="en-US" dirty="0"/>
              <a:t>Draw a flowchart for all the problems and write the step-form algorithm for printing the bonus of any employee.</a:t>
            </a:r>
            <a:endParaRPr lang="en-IN" dirty="0"/>
          </a:p>
        </p:txBody>
      </p:sp>
    </p:spTree>
    <p:extLst>
      <p:ext uri="{BB962C8B-B14F-4D97-AF65-F5344CB8AC3E}">
        <p14:creationId xmlns:p14="http://schemas.microsoft.com/office/powerpoint/2010/main" val="23318213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BA13EE458DC6A41AB6CEB83F6613953" ma:contentTypeVersion="4" ma:contentTypeDescription="Create a new document." ma:contentTypeScope="" ma:versionID="f6ea594442bf66514565299edc124d63">
  <xsd:schema xmlns:xsd="http://www.w3.org/2001/XMLSchema" xmlns:xs="http://www.w3.org/2001/XMLSchema" xmlns:p="http://schemas.microsoft.com/office/2006/metadata/properties" xmlns:ns2="bce89c58-99c7-4a39-8e1b-d4ac22269018" targetNamespace="http://schemas.microsoft.com/office/2006/metadata/properties" ma:root="true" ma:fieldsID="5f451318a34ea5e7c2651fbdd532fdd2" ns2:_="">
    <xsd:import namespace="bce89c58-99c7-4a39-8e1b-d4ac2226901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e89c58-99c7-4a39-8e1b-d4ac222690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4BBC2FF-F841-46CE-B6F8-FF8503E32A75}">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C59FDF7-5205-416F-A827-1020E68D0C1C}">
  <ds:schemaRefs>
    <ds:schemaRef ds:uri="http://schemas.microsoft.com/sharepoint/v3/contenttype/forms"/>
  </ds:schemaRefs>
</ds:datastoreItem>
</file>

<file path=customXml/itemProps3.xml><?xml version="1.0" encoding="utf-8"?>
<ds:datastoreItem xmlns:ds="http://schemas.openxmlformats.org/officeDocument/2006/customXml" ds:itemID="{1DCA4FDB-B467-4D0F-8B16-A1C8F8975A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ce89c58-99c7-4a39-8e1b-d4ac2226901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1390</TotalTime>
  <Words>2290</Words>
  <Application>Microsoft Office PowerPoint</Application>
  <PresentationFormat>Widescreen</PresentationFormat>
  <Paragraphs>198</Paragraphs>
  <Slides>40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Calibri Light</vt:lpstr>
      <vt:lpstr>Office Theme</vt:lpstr>
      <vt:lpstr>Programming for Problem Solving Lecture #2</vt:lpstr>
      <vt:lpstr>Introduction to Algorithms (Al-Khwarizmi) </vt:lpstr>
      <vt:lpstr>Step-form  </vt:lpstr>
      <vt:lpstr>Pseudo-code </vt:lpstr>
      <vt:lpstr>Flow Chart</vt:lpstr>
      <vt:lpstr>Key Features of an Algorithm - Step form</vt:lpstr>
      <vt:lpstr>Step form</vt:lpstr>
      <vt:lpstr>Sequence</vt:lpstr>
      <vt:lpstr>Decision</vt:lpstr>
      <vt:lpstr>The repetition constructs— repeat and while</vt:lpstr>
      <vt:lpstr>repeat and while</vt:lpstr>
      <vt:lpstr>While Loop</vt:lpstr>
      <vt:lpstr>Variables</vt:lpstr>
      <vt:lpstr>Variables and data types</vt:lpstr>
      <vt:lpstr>Naming of variables</vt:lpstr>
      <vt:lpstr>Examples on developing algorithms using step-form</vt:lpstr>
      <vt:lpstr>The arithmetic operators that will be used in the expressions are</vt:lpstr>
      <vt:lpstr>The commonly used relational operators in propositions</vt:lpstr>
      <vt:lpstr>Logical operators</vt:lpstr>
      <vt:lpstr>Example</vt:lpstr>
      <vt:lpstr>Ex: Construct the algorithm for interchanging the numeric values of two variables.</vt:lpstr>
      <vt:lpstr>Pseudo-code</vt:lpstr>
      <vt:lpstr>Flow chart</vt:lpstr>
      <vt:lpstr>Guidelines for drawing a flowchart with example</vt:lpstr>
      <vt:lpstr>Draw a flowchart to find the sum of the first 50 natural numbers</vt:lpstr>
      <vt:lpstr>Draw a flowchart to find the sum of the first 50 natural numbers</vt:lpstr>
      <vt:lpstr>Draw a flowchart to find the largest of three numbers A, B, and C</vt:lpstr>
      <vt:lpstr>Draw a flowchart to find the largest of three numbers A, B, and C</vt:lpstr>
      <vt:lpstr>The XYZ Construction Company plans to give a 5% year-end bonus to each of its employees earning Rs 5,000 or more per year, and a fixed bonus of Rs 250 to all other employees. Draw a flowchart and write the step-form algorithm for printing the bonus of any employee. </vt:lpstr>
      <vt:lpstr>The XYZ Construction Company plans to give a 5% year-end bonus to each of its employees earning Rs 5,000 or more per year, and a fixed bonus of Rs 250 to all other employees. Draw a flowchart and write the step-form algorithm for printing the bonus of any employee. </vt:lpstr>
      <vt:lpstr>PowerPoint Presentation</vt:lpstr>
      <vt:lpstr>PowerPoint Presentation</vt:lpstr>
      <vt:lpstr>Strategy for Designing Algorithm</vt:lpstr>
      <vt:lpstr>scanf</vt:lpstr>
      <vt:lpstr>Format Specifiers</vt:lpstr>
      <vt:lpstr>Syntax</vt:lpstr>
      <vt:lpstr>Why &amp;</vt:lpstr>
      <vt:lpstr>WAP to Show the user entered numbers</vt:lpstr>
      <vt:lpstr>Answer</vt:lpstr>
      <vt:lpstr>Assignments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 #2</dc:title>
  <dc:creator>admin</dc:creator>
  <cp:lastModifiedBy>521CS1007 (VIPULSINGH NEGI)</cp:lastModifiedBy>
  <cp:revision>37</cp:revision>
  <dcterms:created xsi:type="dcterms:W3CDTF">2025-01-16T06:48:48Z</dcterms:created>
  <dcterms:modified xsi:type="dcterms:W3CDTF">2026-09-11T06:43:12Z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0x010100ABA13EE458DC6A41AB6CEB83F6613953</vt:lpwstr>
  </property>
</Properties>
</file>