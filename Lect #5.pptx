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2" r:id="rId6"/>
    <p:sldId id="325" r:id="rId7"/>
    <p:sldId id="307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06" r:id="rId25"/>
    <p:sldId id="32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348" y="108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652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0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07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8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009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2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24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57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545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84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41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C84FE0-E346-4B26-9FFC-65AFEC4663CF}" type="datetimeFigureOut">
              <a:rPr lang="en-IN" smtClean="0"/>
              <a:t>05-02-2026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7DB88B-E345-4F9D-8AD3-AAF620E955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1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922933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Programming for Problem Solving</a:t>
            </a:r>
            <a:br>
              <a:rPr lang="en-US" dirty="0"/>
            </a:br>
            <a:r>
              <a:rPr lang="en-US" dirty="0" err="1"/>
              <a:t>Lect</a:t>
            </a:r>
            <a:r>
              <a:rPr lang="en-US" dirty="0"/>
              <a:t> </a:t>
            </a:r>
            <a:r>
              <a:rPr lang="en-US" dirty="0" smtClean="0"/>
              <a:t>#5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/>
              <a:t>Suchismita</a:t>
            </a:r>
            <a:r>
              <a:rPr lang="en-US" dirty="0"/>
              <a:t> </a:t>
            </a:r>
            <a:r>
              <a:rPr lang="en-US" dirty="0" err="1"/>
              <a:t>Chinara</a:t>
            </a:r>
            <a:endParaRPr lang="en-US" dirty="0"/>
          </a:p>
          <a:p>
            <a:r>
              <a:rPr lang="en-US" dirty="0"/>
              <a:t>Department of Computer Science &amp; Engineering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13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Arrays are used to store multiple values in a single variable, instead of declaring separate variables for each value.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 create an array, define the data type (like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) and specify the name of the array followed by square brackets [].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To insert values to it, use a comma-separated list inside curly braces, and make sure all values are of the same data </a:t>
            </a:r>
            <a:r>
              <a:rPr lang="en-US" dirty="0" smtClean="0">
                <a:latin typeface="Consolas" panose="020B0609020204030204" pitchFamily="49" charset="0"/>
              </a:rPr>
              <a:t>type.</a:t>
            </a:r>
          </a:p>
          <a:p>
            <a:endParaRPr lang="en-US" dirty="0" smtClean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94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ree programmers walk into a bar... : r/ProgrammerHum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276" y="400595"/>
            <a:ext cx="5027747" cy="6300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9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the Elements of an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To access an array element, refer to its index number.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Array indexes start with 0: [0] is the first element. [1] is the second element, etc</a:t>
            </a:r>
            <a:r>
              <a:rPr lang="en-US" dirty="0" smtClean="0">
                <a:latin typeface="Consolas" panose="020B0609020204030204" pitchFamily="49" charset="0"/>
              </a:rPr>
              <a:t>.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500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Outputs 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45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92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an Array Element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500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 smtClean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Now outputs 33 instead of </a:t>
            </a:r>
            <a:r>
              <a:rPr lang="en-US" dirty="0" smtClean="0">
                <a:solidFill>
                  <a:srgbClr val="008000"/>
                </a:solidFill>
                <a:latin typeface="Consolas" panose="020B0609020204030204" pitchFamily="49" charset="0"/>
              </a:rPr>
              <a:t>45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750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Through an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60913"/>
            <a:ext cx="10515600" cy="3216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  <a:r>
              <a:rPr lang="en-IN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smtClean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++) 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	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062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 Array Size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Add elements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755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Size of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endParaRPr lang="en-US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 smtClean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[] = {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</a:t>
            </a:r>
            <a:r>
              <a:rPr lang="en-US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</a:t>
            </a:r>
            <a:r>
              <a:rPr 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lu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));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Prints 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32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Better Loops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920" y="1825625"/>
            <a:ext cx="593924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[]={</a:t>
            </a:r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sz="24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IN" sz="2400" dirty="0"/>
              <a:t/>
            </a:r>
            <a:br>
              <a:rPr lang="en-IN" sz="2400" dirty="0"/>
            </a:br>
            <a:endParaRPr lang="en-IN" sz="2400" dirty="0" smtClean="0"/>
          </a:p>
          <a:p>
            <a:pPr marL="0" indent="0">
              <a:buNone/>
            </a:pPr>
            <a:endParaRPr lang="en-IN" sz="2400" dirty="0">
              <a:solidFill>
                <a:srgbClr val="0000CD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400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IN" sz="24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++) </a:t>
            </a:r>
            <a:endParaRPr lang="en-IN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2400" dirty="0">
                <a:solidFill>
                  <a:srgbClr val="A52A2A"/>
                </a:solidFill>
                <a:latin typeface="Consolas" panose="020B0609020204030204" pitchFamily="49" charset="0"/>
              </a:rPr>
              <a:t>"%d\n</a:t>
            </a:r>
            <a:r>
              <a:rPr lang="en-IN" sz="24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sz="2400" dirty="0">
              <a:latin typeface="Consolas" panose="020B06090202040302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90658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[]={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25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50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75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length =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 /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&lt; length;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++) 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A52A2A"/>
                </a:solidFill>
                <a:latin typeface="Consolas" panose="020B0609020204030204" pitchFamily="49" charset="0"/>
              </a:rPr>
              <a:t>"%d\n</a:t>
            </a:r>
            <a:r>
              <a:rPr lang="en-US" sz="2400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myNumbers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4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8280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Two-Dimensional Arrays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A 2D array is also known as a matrix (a table of rows and columns).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To create a 2D array of integers, take a look at the following example: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IN" dirty="0" smtClean="0">
                <a:solidFill>
                  <a:srgbClr val="0000CD"/>
                </a:solidFill>
                <a:latin typeface="Consolas" panose="020B0609020204030204" pitchFamily="49" charset="0"/>
              </a:rPr>
              <a:t> </a:t>
            </a:r>
            <a:r>
              <a:rPr lang="en-IN" dirty="0" err="1" smtClean="0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{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 };</a:t>
            </a:r>
            <a:endParaRPr lang="en-IN" dirty="0"/>
          </a:p>
        </p:txBody>
      </p:sp>
      <p:pic>
        <p:nvPicPr>
          <p:cNvPr id="1026" name="Picture 2" descr="https://www.w3schools.com/c/col-r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75" y="4729162"/>
            <a:ext cx="6953250" cy="144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370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the Elements of a 2D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{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 };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]); 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// Outputs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019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Elements in a 2D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{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 };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9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]);  </a:t>
            </a:r>
            <a:r>
              <a:rPr lang="en-IN" dirty="0">
                <a:solidFill>
                  <a:srgbClr val="008000"/>
                </a:solidFill>
                <a:latin typeface="Consolas" panose="020B0609020204030204" pitchFamily="49" charset="0"/>
              </a:rPr>
              <a:t>// Now outputs 9 instead of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2449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matrix[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 = {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}, {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 };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j;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(j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j &lt;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matrix[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][j]);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7189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 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Strings are used for storing text/characters.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For example, "Hello World" is a string of characters.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Unlike many other programming languages, C does not have a String type to easily create string variables. Instead, you must use the char type and create an array of characters to make a string in C: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654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greetings[]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"Hello World!"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greetings</a:t>
            </a: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//Printing Single Value</a:t>
            </a:r>
          </a:p>
          <a:p>
            <a:pPr marL="0" indent="0">
              <a:buNone/>
            </a:pP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smtClean="0">
                <a:solidFill>
                  <a:srgbClr val="A52A2A"/>
                </a:solidFill>
                <a:latin typeface="Consolas" panose="020B0609020204030204" pitchFamily="49" charset="0"/>
              </a:rPr>
              <a:t>"%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c"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greetings[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//Modify the value</a:t>
            </a:r>
            <a:endParaRPr lang="en-IN" dirty="0" smtClean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greetings[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 = 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'J'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"%s"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greetings);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257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carName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[] =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"Volvo"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>
                <a:solidFill>
                  <a:srgbClr val="0000CD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&lt; </a:t>
            </a:r>
            <a:r>
              <a:rPr lang="en-IN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++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"%c\n"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carName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381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Alternate way of String Creation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greetings[] = {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'H'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'e'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'l'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'l'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 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'W'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'o'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'r'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'l'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'd'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'!'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'\0'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r>
              <a:rPr lang="en-IN" dirty="0"/>
              <a:t/>
            </a:r>
            <a:br>
              <a:rPr lang="en-IN" dirty="0"/>
            </a:br>
            <a:endParaRPr lang="en-IN" dirty="0" smtClean="0"/>
          </a:p>
          <a:p>
            <a:pPr marL="0" indent="0">
              <a:buNone/>
            </a:pP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"%s"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greetings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// Find the size of greetings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5767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CD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 greetings2[] = 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"Hello World</a:t>
            </a:r>
            <a:r>
              <a:rPr lang="en-IN" dirty="0" smtClean="0">
                <a:solidFill>
                  <a:srgbClr val="A52A2A"/>
                </a:solidFill>
                <a:latin typeface="Consolas" panose="020B0609020204030204" pitchFamily="49" charset="0"/>
              </a:rPr>
              <a:t>!"</a:t>
            </a:r>
            <a:r>
              <a:rPr lang="en-IN" dirty="0" smtClean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Find the size of greetings2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6146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Input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0000"/>
                </a:solidFill>
                <a:latin typeface="Consolas" panose="020B0609020204030204" pitchFamily="49" charset="0"/>
              </a:rPr>
              <a:t>Multiple Values:</a:t>
            </a:r>
          </a:p>
          <a:p>
            <a:pPr marL="0" indent="0">
              <a:buNone/>
            </a:pPr>
            <a:endParaRPr lang="en-IN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scanf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A52A2A"/>
                </a:solidFill>
                <a:latin typeface="Consolas" panose="020B0609020204030204" pitchFamily="49" charset="0"/>
              </a:rPr>
              <a:t>"%d %c"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myNum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&amp;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myChar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1396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fgets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/>
              <a:t> main() {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char</a:t>
            </a:r>
            <a:r>
              <a:rPr lang="en-IN" dirty="0"/>
              <a:t> </a:t>
            </a:r>
            <a:r>
              <a:rPr lang="en-IN" dirty="0" err="1"/>
              <a:t>fullName</a:t>
            </a:r>
            <a:r>
              <a:rPr lang="en-IN" dirty="0"/>
              <a:t>[30];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/>
              <a:t>("Type your full name: \n");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 smtClean="0">
                <a:solidFill>
                  <a:srgbClr val="FF0000"/>
                </a:solidFill>
              </a:rPr>
              <a:t>scanf</a:t>
            </a:r>
            <a:r>
              <a:rPr lang="en-IN" dirty="0"/>
              <a:t>("%s", &amp;</a:t>
            </a:r>
            <a:r>
              <a:rPr lang="en-IN" dirty="0" err="1"/>
              <a:t>fullName</a:t>
            </a:r>
            <a:r>
              <a:rPr lang="en-IN" dirty="0"/>
              <a:t>);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/>
              <a:t>("Hello %s", </a:t>
            </a:r>
            <a:r>
              <a:rPr lang="en-IN" dirty="0" err="1"/>
              <a:t>fullName</a:t>
            </a:r>
            <a:r>
              <a:rPr lang="en-IN" dirty="0"/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#include&lt;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int</a:t>
            </a:r>
            <a:r>
              <a:rPr lang="en-IN" dirty="0"/>
              <a:t> main() {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char</a:t>
            </a:r>
            <a:r>
              <a:rPr lang="en-IN" dirty="0"/>
              <a:t> </a:t>
            </a:r>
            <a:r>
              <a:rPr lang="en-IN" dirty="0" err="1"/>
              <a:t>fullName</a:t>
            </a:r>
            <a:r>
              <a:rPr lang="en-IN" dirty="0"/>
              <a:t>[30];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/>
              <a:t>("Type your full name: \n");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92D050"/>
                </a:solidFill>
              </a:rPr>
              <a:t>//</a:t>
            </a:r>
            <a:r>
              <a:rPr lang="en-IN" dirty="0" err="1">
                <a:solidFill>
                  <a:srgbClr val="92D050"/>
                </a:solidFill>
              </a:rPr>
              <a:t>scanf</a:t>
            </a:r>
            <a:r>
              <a:rPr lang="en-IN" dirty="0">
                <a:solidFill>
                  <a:srgbClr val="92D050"/>
                </a:solidFill>
              </a:rPr>
              <a:t>("%s", &amp;</a:t>
            </a:r>
            <a:r>
              <a:rPr lang="en-IN" dirty="0" err="1">
                <a:solidFill>
                  <a:srgbClr val="92D050"/>
                </a:solidFill>
              </a:rPr>
              <a:t>fullName</a:t>
            </a:r>
            <a:r>
              <a:rPr lang="en-IN" dirty="0">
                <a:solidFill>
                  <a:srgbClr val="92D050"/>
                </a:solidFill>
              </a:rPr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fgets</a:t>
            </a:r>
            <a:r>
              <a:rPr lang="en-IN" dirty="0"/>
              <a:t>(</a:t>
            </a:r>
            <a:r>
              <a:rPr lang="en-IN" dirty="0" err="1"/>
              <a:t>fullName,sizeof</a:t>
            </a:r>
            <a:r>
              <a:rPr lang="en-IN" dirty="0"/>
              <a:t>(</a:t>
            </a:r>
            <a:r>
              <a:rPr lang="en-IN" dirty="0" err="1"/>
              <a:t>fullName</a:t>
            </a:r>
            <a:r>
              <a:rPr lang="en-IN" dirty="0"/>
              <a:t>),</a:t>
            </a:r>
            <a:r>
              <a:rPr lang="en-IN" dirty="0" err="1"/>
              <a:t>stdin</a:t>
            </a:r>
            <a:r>
              <a:rPr lang="en-IN" dirty="0" smtClean="0"/>
              <a:t>);</a:t>
            </a:r>
            <a:endParaRPr lang="en-IN" dirty="0"/>
          </a:p>
          <a:p>
            <a:pPr marL="514350" indent="-514350">
              <a:buFont typeface="+mj-lt"/>
              <a:buAutoNum type="arabicPeriod"/>
            </a:pP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/>
              <a:t>("Hello %s", </a:t>
            </a:r>
            <a:r>
              <a:rPr lang="en-IN" dirty="0" err="1"/>
              <a:t>fullName</a:t>
            </a:r>
            <a:r>
              <a:rPr lang="en-IN" dirty="0"/>
              <a:t>);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5948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Find the size of a single element in an array.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WAP to find the average age. (</a:t>
            </a:r>
            <a:r>
              <a:rPr lang="en-IN" dirty="0">
                <a:latin typeface="Consolas" panose="020B0609020204030204" pitchFamily="49" charset="0"/>
              </a:rPr>
              <a:t>ages[] = {20, 22, 18, 35, 48, 26, 87, 70};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</a:rPr>
              <a:t>WAP to find the lowest age in the same </a:t>
            </a: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data (Q2).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Create two Matrices and perform Addition.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Consolas" panose="020B0609020204030204" pitchFamily="49" charset="0"/>
                <a:ea typeface="Times New Roman" panose="02020603050405020304" pitchFamily="18" charset="0"/>
              </a:rPr>
              <a:t>Create two Matrices and perform Multiplication.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02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40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Leap Year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7610"/>
            <a:ext cx="10515600" cy="5830389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year;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void</a:t>
            </a:r>
            <a:r>
              <a:rPr lang="en-US" dirty="0"/>
              <a:t> main()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{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/>
              <a:t>("Enter an Year ");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scanf</a:t>
            </a:r>
            <a:r>
              <a:rPr lang="en-US" dirty="0"/>
              <a:t>("%d", &amp;year);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int</a:t>
            </a:r>
            <a:r>
              <a:rPr lang="en-US" dirty="0"/>
              <a:t> </a:t>
            </a:r>
            <a:r>
              <a:rPr lang="en-US" dirty="0" err="1"/>
              <a:t>leap_or_not</a:t>
            </a:r>
            <a:r>
              <a:rPr lang="en-US" dirty="0"/>
              <a:t> = year%4</a:t>
            </a:r>
            <a:r>
              <a:rPr lang="en-US" dirty="0" smtClean="0"/>
              <a:t>; 				</a:t>
            </a:r>
            <a:r>
              <a:rPr lang="en-US" dirty="0" smtClean="0">
                <a:solidFill>
                  <a:srgbClr val="92D050"/>
                </a:solidFill>
              </a:rPr>
              <a:t>//Find Mod</a:t>
            </a:r>
            <a:endParaRPr lang="en-US" dirty="0">
              <a:solidFill>
                <a:srgbClr val="92D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/>
              <a:t>("Leap  %d\n", </a:t>
            </a:r>
            <a:r>
              <a:rPr lang="en-US" dirty="0" err="1"/>
              <a:t>leap_or_not</a:t>
            </a:r>
            <a:r>
              <a:rPr lang="en-US" dirty="0" smtClean="0"/>
              <a:t>);			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5"/>
                </a:solidFill>
              </a:rPr>
              <a:t>if </a:t>
            </a:r>
            <a:r>
              <a:rPr lang="en-US" dirty="0"/>
              <a:t>(</a:t>
            </a:r>
            <a:r>
              <a:rPr lang="en-US" dirty="0" err="1"/>
              <a:t>leap_or_not</a:t>
            </a:r>
            <a:r>
              <a:rPr lang="en-US" dirty="0"/>
              <a:t>==0</a:t>
            </a:r>
            <a:r>
              <a:rPr lang="en-US" dirty="0" smtClean="0"/>
              <a:t>)					</a:t>
            </a:r>
            <a:r>
              <a:rPr lang="en-US" dirty="0" smtClean="0">
                <a:solidFill>
                  <a:srgbClr val="92D050"/>
                </a:solidFill>
              </a:rPr>
              <a:t>//Check Condition</a:t>
            </a:r>
            <a:endParaRPr lang="en-US" dirty="0">
              <a:solidFill>
                <a:srgbClr val="92D05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/>
              <a:t>("This is a Leap Year");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5"/>
                </a:solidFill>
              </a:rPr>
              <a:t>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/>
              <a:t>("Not a Leap Year");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437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A13EE458DC6A41AB6CEB83F6613953" ma:contentTypeVersion="4" ma:contentTypeDescription="Create a new document." ma:contentTypeScope="" ma:versionID="f6ea594442bf66514565299edc124d63">
  <xsd:schema xmlns:xsd="http://www.w3.org/2001/XMLSchema" xmlns:xs="http://www.w3.org/2001/XMLSchema" xmlns:p="http://schemas.microsoft.com/office/2006/metadata/properties" xmlns:ns2="bce89c58-99c7-4a39-8e1b-d4ac22269018" targetNamespace="http://schemas.microsoft.com/office/2006/metadata/properties" ma:root="true" ma:fieldsID="5f451318a34ea5e7c2651fbdd532fdd2" ns2:_="">
    <xsd:import namespace="bce89c58-99c7-4a39-8e1b-d4ac222690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89c58-99c7-4a39-8e1b-d4ac22269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7D86B4-162F-4DB7-9412-853501CD8BA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3213893-4949-4303-9C19-7D6786F4EC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6E4B3-9E27-4020-9B88-58763A4BC4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e89c58-99c7-4a39-8e1b-d4ac222690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426</Words>
  <Application>Microsoft Office PowerPoint</Application>
  <PresentationFormat>Widescreen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Times New Roman</vt:lpstr>
      <vt:lpstr>Office Theme</vt:lpstr>
      <vt:lpstr>Programming for Problem Solving Lect #5</vt:lpstr>
      <vt:lpstr>Arrays</vt:lpstr>
      <vt:lpstr>PowerPoint Presentation</vt:lpstr>
      <vt:lpstr>Access the Elements of an Array</vt:lpstr>
      <vt:lpstr>Change an Array Element</vt:lpstr>
      <vt:lpstr>Loop Through an Array</vt:lpstr>
      <vt:lpstr>Set Array Size</vt:lpstr>
      <vt:lpstr>Get Size of Array</vt:lpstr>
      <vt:lpstr>Better Loops</vt:lpstr>
      <vt:lpstr>Two-Dimensional Arrays</vt:lpstr>
      <vt:lpstr>Access the Elements of a 2D Array</vt:lpstr>
      <vt:lpstr>Change Elements in a 2D Array</vt:lpstr>
      <vt:lpstr>Looping</vt:lpstr>
      <vt:lpstr>C Strings</vt:lpstr>
      <vt:lpstr>Example</vt:lpstr>
      <vt:lpstr>Looping</vt:lpstr>
      <vt:lpstr>Alternate way of String Creation</vt:lpstr>
      <vt:lpstr>PowerPoint Presentation</vt:lpstr>
      <vt:lpstr>User Input</vt:lpstr>
      <vt:lpstr>fgets</vt:lpstr>
      <vt:lpstr>Assignments</vt:lpstr>
      <vt:lpstr>Leap Year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 #2</dc:title>
  <dc:creator>admin</dc:creator>
  <cp:lastModifiedBy>Admin</cp:lastModifiedBy>
  <cp:revision>94</cp:revision>
  <dcterms:created xsi:type="dcterms:W3CDTF">2025-01-16T06:48:48Z</dcterms:created>
  <dcterms:modified xsi:type="dcterms:W3CDTF">2026-02-05T04:57:54Z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0x010100ABA13EE458DC6A41AB6CEB83F6613953</vt:lpwstr>
  </property>
</Properties>
</file>