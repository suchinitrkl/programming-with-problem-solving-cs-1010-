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6370" autoAdjust="0"/>
  </p:normalViewPr>
  <p:slideViewPr>
    <p:cSldViewPr snapToGrid="0">
      <p:cViewPr varScale="1">
        <p:scale>
          <a:sx n="111" d="100"/>
          <a:sy n="111" d="100"/>
        </p:scale>
        <p:origin x="306" y="108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5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0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7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2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7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4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8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1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84FE0-E346-4B26-9FFC-65AFEC4663CF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1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2293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 for Problem Solving</a:t>
            </a:r>
            <a:br>
              <a:rPr lang="en-US" dirty="0"/>
            </a:br>
            <a:r>
              <a:rPr lang="en-US" dirty="0" err="1"/>
              <a:t>Lect</a:t>
            </a:r>
            <a:r>
              <a:rPr lang="en-US" dirty="0"/>
              <a:t> </a:t>
            </a:r>
            <a:r>
              <a:rPr lang="en-US" dirty="0" smtClean="0"/>
              <a:t>#8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Suchismita</a:t>
            </a:r>
            <a:r>
              <a:rPr lang="en-US" dirty="0"/>
              <a:t> </a:t>
            </a:r>
            <a:r>
              <a:rPr lang="en-US" dirty="0" err="1"/>
              <a:t>Chinara</a:t>
            </a:r>
            <a:endParaRPr lang="en-US" dirty="0"/>
          </a:p>
          <a:p>
            <a:r>
              <a:rPr lang="en-US" dirty="0"/>
              <a:t>Department of Computer Science &amp; Engineering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1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 Preprocessors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Preprocessors are programs that process the source code before the actual compilation </a:t>
            </a:r>
            <a:r>
              <a:rPr lang="en-US" dirty="0" smtClean="0">
                <a:latin typeface="Consolas" panose="020B0609020204030204" pitchFamily="49" charset="0"/>
              </a:rPr>
              <a:t>begins (expanded source code). </a:t>
            </a:r>
            <a:r>
              <a:rPr lang="en-US" dirty="0">
                <a:latin typeface="Consolas" panose="020B0609020204030204" pitchFamily="49" charset="0"/>
              </a:rPr>
              <a:t>They are not part of the compilation process but operate separately, allowing programmers to modify the code before compilation.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Example: #include, #define etc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# is the preprocessor directives.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68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geeksforgeeks.org/wp-content/uploads/20230404112946/Compilation-Process-in-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22" y="0"/>
            <a:ext cx="6977574" cy="667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8813" y="6402147"/>
            <a:ext cx="3956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Source: https</a:t>
            </a:r>
            <a:r>
              <a:rPr lang="en-IN" sz="1200" dirty="0"/>
              <a:t>://www.geeksforgeeks.org/c/cc-preprocessors/</a:t>
            </a:r>
          </a:p>
        </p:txBody>
      </p:sp>
    </p:spTree>
    <p:extLst>
      <p:ext uri="{BB962C8B-B14F-4D97-AF65-F5344CB8AC3E}">
        <p14:creationId xmlns:p14="http://schemas.microsoft.com/office/powerpoint/2010/main" val="75320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Types of C Preprocessors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Macros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File Inclusion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Conditional Compilation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Others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91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5273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Macros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1" y="1097280"/>
            <a:ext cx="11690253" cy="57607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Macros </a:t>
            </a:r>
            <a:r>
              <a:rPr lang="en-US" dirty="0">
                <a:latin typeface="Consolas" panose="020B0609020204030204" pitchFamily="49" charset="0"/>
              </a:rPr>
              <a:t>are used to define constants or create functions that are substituted by the preprocessor before the code is compiled. The two preprocessors </a:t>
            </a:r>
            <a:r>
              <a:rPr lang="en-US" b="1" dirty="0">
                <a:latin typeface="Consolas" panose="020B0609020204030204" pitchFamily="49" charset="0"/>
              </a:rPr>
              <a:t>#define </a:t>
            </a:r>
            <a:r>
              <a:rPr lang="en-US" dirty="0">
                <a:latin typeface="Consolas" panose="020B0609020204030204" pitchFamily="49" charset="0"/>
              </a:rPr>
              <a:t>and </a:t>
            </a:r>
            <a:r>
              <a:rPr lang="en-US" b="1" dirty="0">
                <a:latin typeface="Consolas" panose="020B0609020204030204" pitchFamily="49" charset="0"/>
              </a:rPr>
              <a:t>#</a:t>
            </a:r>
            <a:r>
              <a:rPr lang="en-US" b="1" dirty="0" err="1">
                <a:latin typeface="Consolas" panose="020B0609020204030204" pitchFamily="49" charset="0"/>
              </a:rPr>
              <a:t>undef</a:t>
            </a:r>
            <a:r>
              <a:rPr lang="en-US" dirty="0">
                <a:latin typeface="Consolas" panose="020B0609020204030204" pitchFamily="49" charset="0"/>
              </a:rPr>
              <a:t> are used to create and remove macros in C.</a:t>
            </a: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 smtClean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stdio.h</a:t>
            </a:r>
            <a:r>
              <a:rPr lang="en-US" dirty="0" smtClean="0">
                <a:latin typeface="Consolas" panose="020B0609020204030204" pitchFamily="49" charset="0"/>
              </a:rPr>
              <a:t>&gt;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// Macro Definition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#define </a:t>
            </a:r>
            <a:r>
              <a:rPr lang="en-US" dirty="0">
                <a:latin typeface="Consolas" panose="020B0609020204030204" pitchFamily="49" charset="0"/>
              </a:rPr>
              <a:t>LIMIT </a:t>
            </a:r>
            <a:r>
              <a:rPr lang="en-US" dirty="0" smtClean="0">
                <a:latin typeface="Consolas" panose="020B0609020204030204" pitchFamily="49" charset="0"/>
              </a:rPr>
              <a:t>5</a:t>
            </a: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92D050"/>
                </a:solidFill>
                <a:latin typeface="Consolas" panose="020B0609020204030204" pitchFamily="49" charset="0"/>
              </a:rPr>
              <a:t>main(){</a:t>
            </a:r>
            <a:endParaRPr lang="en-US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for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 smtClean="0">
                <a:latin typeface="Consolas" panose="020B0609020204030204" pitchFamily="49" charset="0"/>
              </a:rPr>
              <a:t>int</a:t>
            </a:r>
            <a:r>
              <a:rPr lang="en-US" dirty="0" smtClean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&lt; LIMIT;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++)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92D05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("%d \n",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92D05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0;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7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Takeaways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80188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#define PI 3.14 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 PI = Macro template, 3.14= Macro expansion)</a:t>
            </a:r>
            <a:endParaRPr lang="en-US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</a:rPr>
              <a:t>The macro’s </a:t>
            </a:r>
            <a:r>
              <a:rPr lang="en-US" dirty="0" smtClean="0">
                <a:latin typeface="Consolas" panose="020B0609020204030204" pitchFamily="49" charset="0"/>
              </a:rPr>
              <a:t>name  </a:t>
            </a:r>
            <a:r>
              <a:rPr lang="en-US" dirty="0" smtClean="0">
                <a:latin typeface="Consolas" panose="020B0609020204030204" pitchFamily="49" charset="0"/>
              </a:rPr>
              <a:t>should be all capital letters and unlike variables it doesn’t end with 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en-US" dirty="0" smtClean="0">
              <a:latin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</a:rPr>
              <a:t>The macro accepts constant values.</a:t>
            </a:r>
          </a:p>
          <a:p>
            <a:r>
              <a:rPr lang="en-US" dirty="0" smtClean="0">
                <a:latin typeface="Consolas" panose="020B0609020204030204" pitchFamily="49" charset="0"/>
              </a:rPr>
              <a:t>Why not use a variable like 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float pi = 3.14 ;</a:t>
            </a:r>
            <a:endParaRPr lang="en-US" dirty="0" smtClean="0">
              <a:latin typeface="Consolas" panose="020B0609020204030204" pitchFamily="49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It is inefficient since the compiler can generate faster code for constants than for variables.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The constant value never changes, so making it a variable is counterproductive.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There is always a danger that the variable might be altered.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13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Macros with Arguments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#include&lt;</a:t>
            </a: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stdio.h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#</a:t>
            </a:r>
            <a:r>
              <a:rPr lang="en-US" dirty="0">
                <a:latin typeface="Consolas" panose="020B0609020204030204" pitchFamily="49" charset="0"/>
              </a:rPr>
              <a:t>define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SQUARE(x) </a:t>
            </a:r>
            <a:r>
              <a:rPr lang="en-US" dirty="0">
                <a:latin typeface="Consolas" panose="020B0609020204030204" pitchFamily="49" charset="0"/>
              </a:rPr>
              <a:t>(x * x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</a:p>
          <a:p>
            <a:pPr marL="514350" indent="-514350" fontAlgn="base">
              <a:buFont typeface="+mj-lt"/>
              <a:buAutoNum type="arabicPeriod"/>
            </a:pPr>
            <a:endParaRPr lang="en-US" dirty="0">
              <a:latin typeface="Consolas" panose="020B0609020204030204" pitchFamily="49" charset="0"/>
            </a:endParaRPr>
          </a:p>
          <a:p>
            <a:pPr marL="514350" indent="-514350" fontAlgn="base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main() {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result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SQUARE(5);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 err="1"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("The square of 5 is: %d\n", result);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b="1" dirty="0"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0;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33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onsolas" panose="020B0609020204030204" pitchFamily="49" charset="0"/>
              </a:rPr>
              <a:t>File </a:t>
            </a:r>
            <a:r>
              <a:rPr lang="en-IN" b="1" dirty="0" smtClean="0">
                <a:latin typeface="Consolas" panose="020B0609020204030204" pitchFamily="49" charset="0"/>
              </a:rPr>
              <a:t>Inclusion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6154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File inclusion allows you to include external files (header files, libraries, etc.) into the current program. This is typically done using the</a:t>
            </a:r>
            <a:r>
              <a:rPr lang="en-US" b="1" dirty="0">
                <a:latin typeface="Consolas" panose="020B0609020204030204" pitchFamily="49" charset="0"/>
              </a:rPr>
              <a:t> #include</a:t>
            </a:r>
            <a:r>
              <a:rPr lang="en-US" dirty="0">
                <a:latin typeface="Consolas" panose="020B0609020204030204" pitchFamily="49" charset="0"/>
              </a:rPr>
              <a:t> directive, which can include both system and user-defined files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Ex: #include&lt;</a:t>
            </a:r>
            <a:r>
              <a:rPr lang="en-US" dirty="0" err="1" smtClean="0">
                <a:latin typeface="Consolas" panose="020B0609020204030204" pitchFamily="49" charset="0"/>
              </a:rPr>
              <a:t>string.h</a:t>
            </a:r>
            <a:r>
              <a:rPr lang="en-US" dirty="0" smtClean="0">
                <a:latin typeface="Consolas" panose="020B0609020204030204" pitchFamily="49" charset="0"/>
              </a:rPr>
              <a:t>&gt;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628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onsolas" panose="020B0609020204030204" pitchFamily="49" charset="0"/>
              </a:rPr>
              <a:t>Conditional </a:t>
            </a:r>
            <a:r>
              <a:rPr lang="en-IN" b="1" dirty="0" smtClean="0">
                <a:latin typeface="Consolas" panose="020B0609020204030204" pitchFamily="49" charset="0"/>
              </a:rPr>
              <a:t>Compilation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6831"/>
            <a:ext cx="10950526" cy="453204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Conditional compilation allows you to include or exclude parts of the code depending on certain conditions. This is useful for creating platform-specific code or for debugging. </a:t>
            </a:r>
            <a:endParaRPr lang="en-US" dirty="0" smtClean="0">
              <a:latin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</a:rPr>
              <a:t>There </a:t>
            </a:r>
            <a:r>
              <a:rPr lang="en-US" dirty="0">
                <a:latin typeface="Consolas" panose="020B0609020204030204" pitchFamily="49" charset="0"/>
              </a:rPr>
              <a:t>are the following conditional preprocessor directives: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#if, #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ifdef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, #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ifndef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, else, #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and #</a:t>
            </a:r>
            <a:r>
              <a:rPr lang="en-US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endif</a:t>
            </a:r>
            <a:endParaRPr lang="en-US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200" dirty="0" smtClean="0">
                <a:latin typeface="Consolas" panose="020B0609020204030204" pitchFamily="49" charset="0"/>
              </a:rPr>
              <a:t># </a:t>
            </a:r>
            <a:r>
              <a:rPr lang="en-US" sz="2200" dirty="0" err="1" smtClean="0">
                <a:latin typeface="Consolas" panose="020B0609020204030204" pitchFamily="49" charset="0"/>
              </a:rPr>
              <a:t>ifdef</a:t>
            </a:r>
            <a:r>
              <a:rPr lang="en-US" sz="2200" dirty="0" smtClean="0">
                <a:latin typeface="Consolas" panose="020B0609020204030204" pitchFamily="49" charset="0"/>
              </a:rPr>
              <a:t> </a:t>
            </a:r>
            <a:r>
              <a:rPr lang="en-US" sz="2200" dirty="0" err="1" smtClean="0">
                <a:latin typeface="Consolas" panose="020B0609020204030204" pitchFamily="49" charset="0"/>
              </a:rPr>
              <a:t>macroname</a:t>
            </a:r>
            <a:endParaRPr lang="en-US" sz="22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 smtClean="0">
                <a:latin typeface="Consolas" panose="020B0609020204030204" pitchFamily="49" charset="0"/>
              </a:rPr>
              <a:t>Statement 1;</a:t>
            </a:r>
          </a:p>
          <a:p>
            <a:pPr marL="0" indent="0">
              <a:buNone/>
            </a:pPr>
            <a:r>
              <a:rPr lang="en-US" sz="2200" dirty="0" smtClean="0">
                <a:latin typeface="Consolas" panose="020B0609020204030204" pitchFamily="49" charset="0"/>
              </a:rPr>
              <a:t>Statement 2;</a:t>
            </a:r>
          </a:p>
          <a:p>
            <a:pPr marL="0" indent="0">
              <a:buNone/>
            </a:pPr>
            <a:r>
              <a:rPr lang="en-US" sz="2200" dirty="0" smtClean="0">
                <a:latin typeface="Consolas" panose="020B0609020204030204" pitchFamily="49" charset="0"/>
              </a:rPr>
              <a:t>Statement 3;</a:t>
            </a:r>
          </a:p>
          <a:p>
            <a:pPr marL="0" indent="0">
              <a:buNone/>
            </a:pPr>
            <a:r>
              <a:rPr lang="en-US" sz="2200" dirty="0" smtClean="0">
                <a:latin typeface="Consolas" panose="020B0609020204030204" pitchFamily="49" charset="0"/>
              </a:rPr>
              <a:t>#</a:t>
            </a:r>
            <a:r>
              <a:rPr lang="en-US" sz="2200" dirty="0" err="1" smtClean="0">
                <a:latin typeface="Consolas" panose="020B0609020204030204" pitchFamily="49" charset="0"/>
              </a:rPr>
              <a:t>endif</a:t>
            </a:r>
            <a:endParaRPr lang="en-US" sz="2200" dirty="0">
              <a:latin typeface="Consolas" panose="020B0609020204030204" pitchFamily="49" charset="0"/>
            </a:endParaRPr>
          </a:p>
          <a:p>
            <a:r>
              <a:rPr lang="en-US" dirty="0" smtClean="0">
                <a:latin typeface="Consolas" panose="020B0609020204030204" pitchFamily="49" charset="0"/>
              </a:rPr>
              <a:t>If </a:t>
            </a:r>
            <a:r>
              <a:rPr lang="en-US" dirty="0" err="1" smtClean="0">
                <a:latin typeface="Consolas" panose="020B0609020204030204" pitchFamily="49" charset="0"/>
              </a:rPr>
              <a:t>macroname</a:t>
            </a:r>
            <a:r>
              <a:rPr lang="en-US" dirty="0" smtClean="0">
                <a:latin typeface="Consolas" panose="020B0609020204030204" pitchFamily="49" charset="0"/>
              </a:rPr>
              <a:t> has been modified, the block of code will be processed as usual, otherwise not.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01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Example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42202" y="981559"/>
            <a:ext cx="5724378" cy="43513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#include &lt;</a:t>
            </a:r>
            <a:r>
              <a:rPr lang="en-US" sz="1800" dirty="0" err="1">
                <a:latin typeface="Consolas" panose="020B0609020204030204" pitchFamily="49" charset="0"/>
              </a:rPr>
              <a:t>stdio.h</a:t>
            </a:r>
            <a:r>
              <a:rPr lang="en-US" sz="1800" dirty="0" smtClean="0">
                <a:latin typeface="Consolas" panose="020B0609020204030204" pitchFamily="49" charset="0"/>
              </a:rPr>
              <a:t>&gt;</a:t>
            </a:r>
            <a:endParaRPr lang="en-US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// Defining a macro for PI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#define PI 3.14159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800" dirty="0" err="1">
                <a:latin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</a:rPr>
              <a:t> main(){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// Check if PI is defined using #</a:t>
            </a:r>
            <a:r>
              <a:rPr lang="en-US" sz="1800" dirty="0" err="1">
                <a:latin typeface="Consolas" panose="020B0609020204030204" pitchFamily="49" charset="0"/>
              </a:rPr>
              <a:t>ifdef</a:t>
            </a:r>
            <a:endParaRPr lang="en-US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ifdef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PI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</a:rPr>
              <a:t>("PI is defined\n");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// If PI is not defined, check if SQUARE is defined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elif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defined(SQUARE)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</a:rPr>
              <a:t>("Square is defined\n");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3703" y="981559"/>
            <a:ext cx="6641123" cy="43513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latin typeface="Consolas" panose="020B0609020204030204" pitchFamily="49" charset="0"/>
              </a:rPr>
              <a:t>// If neither PI nor SQUARE is defined, trigger an error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#else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latin typeface="Consolas" panose="020B0609020204030204" pitchFamily="49" charset="0"/>
              </a:rPr>
              <a:t>    #error "Neither PI nor SQUARE is defined"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endif</a:t>
            </a: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12"/>
            </a:pPr>
            <a:endParaRPr lang="en-US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latin typeface="Consolas" panose="020B0609020204030204" pitchFamily="49" charset="0"/>
              </a:rPr>
              <a:t>// Check if SQUARE is not defined using #</a:t>
            </a:r>
            <a:r>
              <a:rPr lang="en-US" sz="1800" dirty="0" err="1">
                <a:latin typeface="Consolas" panose="020B0609020204030204" pitchFamily="49" charset="0"/>
              </a:rPr>
              <a:t>ifndef</a:t>
            </a:r>
            <a:endParaRPr lang="en-US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ifndef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SQUARE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</a:rPr>
              <a:t>("Square is not defined</a:t>
            </a:r>
            <a:r>
              <a:rPr lang="en-US" sz="1800" dirty="0" smtClean="0">
                <a:latin typeface="Consolas" panose="020B0609020204030204" pitchFamily="49" charset="0"/>
              </a:rPr>
              <a:t>");</a:t>
            </a:r>
            <a:endParaRPr lang="en-US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latin typeface="Consolas" panose="020B0609020204030204" pitchFamily="49" charset="0"/>
              </a:rPr>
              <a:t>// If SQUARE is defined, print that it is defined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#else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</a:rPr>
              <a:t>("Square is defined");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endif</a:t>
            </a: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12"/>
            </a:pPr>
            <a:r>
              <a:rPr lang="en-US" sz="1800" dirty="0">
                <a:latin typeface="Consolas" panose="020B0609020204030204" pitchFamily="49" charset="0"/>
              </a:rPr>
              <a:t>    return 0</a:t>
            </a:r>
            <a:r>
              <a:rPr lang="en-US" sz="1800" dirty="0" smtClean="0">
                <a:latin typeface="Consolas" panose="020B0609020204030204" pitchFamily="49" charset="0"/>
              </a:rPr>
              <a:t>;}</a:t>
            </a:r>
            <a:endParaRPr lang="en-IN" sz="1800" dirty="0">
              <a:latin typeface="Consolas" panose="020B0609020204030204" pitchFamily="49" charset="0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89358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Structures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199" y="1825625"/>
            <a:ext cx="1118967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 C, a structure is a user-defined data type that can be used to group items of possibly different types into a single type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The </a:t>
            </a:r>
            <a:r>
              <a:rPr lang="en-US" b="1" dirty="0" err="1"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keyword is used to define a structure. The items in the structure are called its members and they can be of any valid data type.</a:t>
            </a:r>
          </a:p>
          <a:p>
            <a:r>
              <a:rPr lang="en-US" dirty="0">
                <a:latin typeface="Consolas" panose="020B0609020204030204" pitchFamily="49" charset="0"/>
              </a:rPr>
              <a:t>Applications of structures involve creating data structures Linked List and Tree. Structures are also used to represent real world objects in a software like Students and Faculty in a college management software.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71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1425" y="689317"/>
            <a:ext cx="5181600" cy="548764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onsolas" panose="020B0609020204030204" pitchFamily="49" charset="0"/>
              </a:rPr>
              <a:t>#include &lt;</a:t>
            </a:r>
            <a:r>
              <a:rPr lang="en-US" sz="2400" dirty="0" err="1">
                <a:latin typeface="Consolas" panose="020B0609020204030204" pitchFamily="49" charset="0"/>
              </a:rPr>
              <a:t>stdio.h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// Defining a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struct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A</a:t>
            </a:r>
            <a:r>
              <a:rPr lang="en-US" sz="2400" dirty="0">
                <a:latin typeface="Consolas" panose="020B0609020204030204" pitchFamily="49" charset="0"/>
              </a:rPr>
              <a:t> {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x;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onsolas" panose="020B0609020204030204" pitchFamily="49" charset="0"/>
              </a:rPr>
              <a:t>};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443024" y="703385"/>
            <a:ext cx="6748975" cy="548764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main() {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// Creating a structure variable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A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  	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  	// Initializing member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  	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a.x</a:t>
            </a:r>
            <a:r>
              <a:rPr lang="en-US" dirty="0">
                <a:latin typeface="Consolas" panose="020B0609020204030204" pitchFamily="49" charset="0"/>
              </a:rPr>
              <a:t> = 11;</a:t>
            </a:r>
          </a:p>
          <a:p>
            <a:pPr marL="514350" indent="-514350">
              <a:buFont typeface="+mj-lt"/>
              <a:buAutoNum type="arabicPeriod" startAt="6"/>
            </a:pPr>
            <a:endParaRPr lang="en-US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</a:rPr>
              <a:t>("%d", </a:t>
            </a:r>
            <a:r>
              <a:rPr lang="en-US" dirty="0" err="1">
                <a:latin typeface="Consolas" panose="020B0609020204030204" pitchFamily="49" charset="0"/>
              </a:rPr>
              <a:t>a.x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    return 0;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91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91086" y="450166"/>
            <a:ext cx="5181600" cy="572679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000" dirty="0">
                <a:latin typeface="Consolas" panose="020B0609020204030204" pitchFamily="49" charset="0"/>
              </a:rPr>
              <a:t>#include &lt;</a:t>
            </a:r>
            <a:r>
              <a:rPr lang="en-IN" sz="2000" dirty="0" err="1">
                <a:latin typeface="Consolas" panose="020B0609020204030204" pitchFamily="49" charset="0"/>
              </a:rPr>
              <a:t>stdio.h</a:t>
            </a:r>
            <a:r>
              <a:rPr lang="en-IN" sz="2000" dirty="0">
                <a:latin typeface="Consolas" panose="020B0609020204030204" pitchFamily="49" charset="0"/>
              </a:rPr>
              <a:t>&gt;</a:t>
            </a:r>
          </a:p>
          <a:p>
            <a:pPr marL="514350" indent="-514350">
              <a:buFont typeface="+mj-lt"/>
              <a:buAutoNum type="arabicPeriod"/>
            </a:pPr>
            <a:endParaRPr lang="en-IN" sz="20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000" dirty="0">
                <a:solidFill>
                  <a:schemeClr val="accent6"/>
                </a:solidFill>
                <a:latin typeface="Consolas" panose="020B0609020204030204" pitchFamily="49" charset="0"/>
              </a:rPr>
              <a:t>// Defining a structure to represent a student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struct</a:t>
            </a:r>
            <a:r>
              <a:rPr lang="en-IN" sz="2000" dirty="0">
                <a:solidFill>
                  <a:srgbClr val="FF0000"/>
                </a:solidFill>
                <a:latin typeface="Consolas" panose="020B0609020204030204" pitchFamily="49" charset="0"/>
              </a:rPr>
              <a:t> Student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dirty="0">
                <a:latin typeface="Consolas" panose="020B0609020204030204" pitchFamily="49" charset="0"/>
              </a:rPr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dirty="0">
                <a:latin typeface="Consolas" panose="020B0609020204030204" pitchFamily="49" charset="0"/>
              </a:rPr>
              <a:t>    char name[50];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 err="1">
                <a:latin typeface="Consolas" panose="020B0609020204030204" pitchFamily="49" charset="0"/>
              </a:rPr>
              <a:t>int</a:t>
            </a:r>
            <a:r>
              <a:rPr lang="en-IN" sz="2000" dirty="0">
                <a:latin typeface="Consolas" panose="020B0609020204030204" pitchFamily="49" charset="0"/>
              </a:rPr>
              <a:t> age;</a:t>
            </a:r>
          </a:p>
          <a:p>
            <a:pPr marL="514350" indent="-514350">
              <a:buFont typeface="+mj-lt"/>
              <a:buAutoNum type="arabicPeriod"/>
            </a:pPr>
            <a:endParaRPr lang="en-IN" sz="20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000" dirty="0">
                <a:latin typeface="Consolas" panose="020B0609020204030204" pitchFamily="49" charset="0"/>
              </a:rPr>
              <a:t>};</a:t>
            </a:r>
          </a:p>
          <a:p>
            <a:pPr marL="514350" indent="-514350">
              <a:buFont typeface="+mj-lt"/>
              <a:buAutoNum type="arabicPeriod"/>
            </a:pPr>
            <a:endParaRPr lang="en-IN" sz="2000" dirty="0">
              <a:latin typeface="Consolas" panose="020B0609020204030204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458286" y="450166"/>
            <a:ext cx="7907216" cy="5572052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IN" sz="1800" dirty="0" err="1">
                <a:latin typeface="Consolas" panose="020B0609020204030204" pitchFamily="49" charset="0"/>
              </a:rPr>
              <a:t>int</a:t>
            </a:r>
            <a:r>
              <a:rPr lang="en-IN" sz="1800" dirty="0">
                <a:latin typeface="Consolas" panose="020B0609020204030204" pitchFamily="49" charset="0"/>
              </a:rPr>
              <a:t> main()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 smtClean="0">
                <a:latin typeface="Consolas" panose="020B0609020204030204" pitchFamily="49" charset="0"/>
              </a:rPr>
              <a:t>{</a:t>
            </a:r>
            <a:endParaRPr lang="en-IN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Declaring and initializing a structure variable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 smtClean="0">
                <a:latin typeface="Consolas" panose="020B0609020204030204" pitchFamily="49" charset="0"/>
              </a:rPr>
              <a:t>   </a:t>
            </a:r>
            <a:r>
              <a:rPr lang="en-IN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struct</a:t>
            </a:r>
            <a:r>
              <a:rPr lang="en-IN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FF0000"/>
                </a:solidFill>
                <a:latin typeface="Consolas" panose="020B0609020204030204" pitchFamily="49" charset="0"/>
              </a:rPr>
              <a:t>Student s1 </a:t>
            </a:r>
            <a:r>
              <a:rPr lang="en-IN" sz="1800" dirty="0">
                <a:latin typeface="Consolas" panose="020B0609020204030204" pitchFamily="49" charset="0"/>
              </a:rPr>
              <a:t>= {"</a:t>
            </a:r>
            <a:r>
              <a:rPr lang="en-IN" sz="1800" dirty="0" smtClean="0">
                <a:latin typeface="Consolas" panose="020B0609020204030204" pitchFamily="49" charset="0"/>
              </a:rPr>
              <a:t>Ram", 20};</a:t>
            </a:r>
            <a:endParaRPr lang="en-IN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8"/>
            </a:pPr>
            <a:endParaRPr lang="en-IN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Designated Initializing another structure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latin typeface="Consolas" panose="020B0609020204030204" pitchFamily="49" charset="0"/>
              </a:rPr>
              <a:t> </a:t>
            </a:r>
            <a:r>
              <a:rPr lang="en-IN" sz="1800" dirty="0" smtClean="0">
                <a:latin typeface="Consolas" panose="020B0609020204030204" pitchFamily="49" charset="0"/>
              </a:rPr>
              <a:t>   </a:t>
            </a:r>
            <a:r>
              <a:rPr lang="en-IN" sz="18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struct</a:t>
            </a:r>
            <a:r>
              <a:rPr lang="en-IN" sz="1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FF0000"/>
                </a:solidFill>
                <a:latin typeface="Consolas" panose="020B0609020204030204" pitchFamily="49" charset="0"/>
              </a:rPr>
              <a:t>Student s2 </a:t>
            </a:r>
            <a:r>
              <a:rPr lang="en-IN" sz="1800" dirty="0">
                <a:latin typeface="Consolas" panose="020B0609020204030204" pitchFamily="49" charset="0"/>
              </a:rPr>
              <a:t>= {.age = 18, .name = </a:t>
            </a:r>
            <a:r>
              <a:rPr lang="en-IN" sz="1800" dirty="0" smtClean="0">
                <a:latin typeface="Consolas" panose="020B0609020204030204" pitchFamily="49" charset="0"/>
              </a:rPr>
              <a:t>“Mohan"};</a:t>
            </a:r>
            <a:endParaRPr lang="en-IN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8"/>
            </a:pPr>
            <a:endParaRPr lang="en-IN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>
                <a:solidFill>
                  <a:schemeClr val="accent6"/>
                </a:solidFill>
                <a:latin typeface="Consolas" panose="020B0609020204030204" pitchFamily="49" charset="0"/>
              </a:rPr>
              <a:t>// Accessing structure members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IN" sz="1800" dirty="0">
                <a:latin typeface="Consolas" panose="020B0609020204030204" pitchFamily="49" charset="0"/>
              </a:rPr>
              <a:t>("%s\</a:t>
            </a:r>
            <a:r>
              <a:rPr lang="en-IN" sz="1800" dirty="0" err="1">
                <a:latin typeface="Consolas" panose="020B0609020204030204" pitchFamily="49" charset="0"/>
              </a:rPr>
              <a:t>t%d</a:t>
            </a:r>
            <a:r>
              <a:rPr lang="en-IN" sz="1800" dirty="0">
                <a:latin typeface="Consolas" panose="020B0609020204030204" pitchFamily="49" charset="0"/>
              </a:rPr>
              <a:t>\t%.2f\n", s1.name, </a:t>
            </a:r>
            <a:r>
              <a:rPr lang="en-IN" sz="1800" dirty="0" smtClean="0">
                <a:latin typeface="Consolas" panose="020B0609020204030204" pitchFamily="49" charset="0"/>
              </a:rPr>
              <a:t>s1.age);</a:t>
            </a:r>
            <a:endParaRPr lang="en-IN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IN" sz="1800" dirty="0">
                <a:latin typeface="Consolas" panose="020B0609020204030204" pitchFamily="49" charset="0"/>
              </a:rPr>
              <a:t>("%s\</a:t>
            </a:r>
            <a:r>
              <a:rPr lang="en-IN" sz="1800" dirty="0" err="1">
                <a:latin typeface="Consolas" panose="020B0609020204030204" pitchFamily="49" charset="0"/>
              </a:rPr>
              <a:t>t%d</a:t>
            </a:r>
            <a:r>
              <a:rPr lang="en-IN" sz="1800" dirty="0">
                <a:latin typeface="Consolas" panose="020B0609020204030204" pitchFamily="49" charset="0"/>
              </a:rPr>
              <a:t>\t%.2f\n", s2.name, </a:t>
            </a:r>
            <a:r>
              <a:rPr lang="en-IN" sz="1800" dirty="0" smtClean="0">
                <a:latin typeface="Consolas" panose="020B0609020204030204" pitchFamily="49" charset="0"/>
              </a:rPr>
              <a:t>s2.age);</a:t>
            </a:r>
            <a:endParaRPr lang="en-IN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latin typeface="Consolas" panose="020B0609020204030204" pitchFamily="49" charset="0"/>
              </a:rPr>
              <a:t>    return 0;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IN" sz="1800" dirty="0">
                <a:latin typeface="Consolas" panose="020B0609020204030204" pitchFamily="49" charset="0"/>
              </a:rPr>
              <a:t>}</a:t>
            </a:r>
          </a:p>
          <a:p>
            <a:endParaRPr lang="en-IN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66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Assignments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</a:rPr>
              <a:t>To be decided</a:t>
            </a:r>
            <a:endParaRPr lang="en-IN" dirty="0"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0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A13EE458DC6A41AB6CEB83F6613953" ma:contentTypeVersion="4" ma:contentTypeDescription="Create a new document." ma:contentTypeScope="" ma:versionID="f6ea594442bf66514565299edc124d63">
  <xsd:schema xmlns:xsd="http://www.w3.org/2001/XMLSchema" xmlns:xs="http://www.w3.org/2001/XMLSchema" xmlns:p="http://schemas.microsoft.com/office/2006/metadata/properties" xmlns:ns2="bce89c58-99c7-4a39-8e1b-d4ac22269018" targetNamespace="http://schemas.microsoft.com/office/2006/metadata/properties" ma:root="true" ma:fieldsID="5f451318a34ea5e7c2651fbdd532fdd2" ns2:_="">
    <xsd:import namespace="bce89c58-99c7-4a39-8e1b-d4ac222690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89c58-99c7-4a39-8e1b-d4ac22269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0EE2090-C3D3-419D-A275-55D3E0E297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AD22AC-5EA6-46E3-826C-9D163E76A0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e89c58-99c7-4a39-8e1b-d4ac222690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1BBCE-DD66-4860-BC30-144FC8D31FED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bce89c58-99c7-4a39-8e1b-d4ac2226901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618</Words>
  <Application>Microsoft Office PowerPoint</Application>
  <PresentationFormat>Widescreen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Times New Roman</vt:lpstr>
      <vt:lpstr>Office Theme</vt:lpstr>
      <vt:lpstr>Programming for Problem Solving Lect #8</vt:lpstr>
      <vt:lpstr>C Preprocessors</vt:lpstr>
      <vt:lpstr>PowerPoint Presentation</vt:lpstr>
      <vt:lpstr>Types of C Preprocessors</vt:lpstr>
      <vt:lpstr>Macros</vt:lpstr>
      <vt:lpstr>Takeaways</vt:lpstr>
      <vt:lpstr>Macros with Arguments</vt:lpstr>
      <vt:lpstr>File Inclusion</vt:lpstr>
      <vt:lpstr>Conditional Compilation</vt:lpstr>
      <vt:lpstr>Example</vt:lpstr>
      <vt:lpstr>Structures</vt:lpstr>
      <vt:lpstr>PowerPoint Presentation</vt:lpstr>
      <vt:lpstr>PowerPoint Presentation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 #2</dc:title>
  <dc:creator>admin</dc:creator>
  <cp:lastModifiedBy>admin</cp:lastModifiedBy>
  <cp:revision>139</cp:revision>
  <dcterms:created xsi:type="dcterms:W3CDTF">2025-01-16T06:48:48Z</dcterms:created>
  <dcterms:modified xsi:type="dcterms:W3CDTF">2026-03-26T06:18:40Z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0x010100ABA13EE458DC6A41AB6CEB83F6613953</vt:lpwstr>
  </property>
</Properties>
</file>