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89" r:id="rId6"/>
    <p:sldId id="290" r:id="rId7"/>
    <p:sldId id="291" r:id="rId8"/>
    <p:sldId id="292" r:id="rId9"/>
    <p:sldId id="297" r:id="rId10"/>
    <p:sldId id="293" r:id="rId11"/>
    <p:sldId id="294" r:id="rId12"/>
    <p:sldId id="299" r:id="rId13"/>
    <p:sldId id="296" r:id="rId14"/>
    <p:sldId id="295" r:id="rId15"/>
    <p:sldId id="298" r:id="rId16"/>
    <p:sldId id="28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652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404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070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58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009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42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24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57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545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984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41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84FE0-E346-4B26-9FFC-65AFEC4663C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31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922933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Programming for Problem Solving</a:t>
            </a:r>
            <a:br>
              <a:rPr lang="en-US" dirty="0"/>
            </a:br>
            <a:r>
              <a:rPr lang="en-US" dirty="0" err="1"/>
              <a:t>Lect</a:t>
            </a:r>
            <a:r>
              <a:rPr lang="en-US" dirty="0"/>
              <a:t> #3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err="1"/>
              <a:t>Suchismita</a:t>
            </a:r>
            <a:r>
              <a:rPr lang="en-US" dirty="0"/>
              <a:t> </a:t>
            </a:r>
            <a:r>
              <a:rPr lang="en-US" dirty="0" err="1"/>
              <a:t>Chinara</a:t>
            </a:r>
            <a:endParaRPr lang="en-US" dirty="0"/>
          </a:p>
          <a:p>
            <a:r>
              <a:rPr lang="en-US" dirty="0"/>
              <a:t>Department of Computer Science &amp; Engineering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13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B7739-57A4-61D0-698A-10ECEB4BB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if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ECB6C-000E-4D1B-6622-27452B1CB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 has the following conditional statements: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if</a:t>
            </a:r>
            <a:r>
              <a:rPr lang="en-US" dirty="0"/>
              <a:t> to specify a block of code to be executed, if a specified condition is true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else</a:t>
            </a:r>
            <a:r>
              <a:rPr lang="en-US" dirty="0"/>
              <a:t> to specify a block of code to be executed, if the same condition is false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else if</a:t>
            </a:r>
            <a:r>
              <a:rPr lang="en-US" dirty="0"/>
              <a:t> to specify a new condition to test, if the first condition is false</a:t>
            </a:r>
          </a:p>
        </p:txBody>
      </p:sp>
    </p:spTree>
    <p:extLst>
      <p:ext uri="{BB962C8B-B14F-4D97-AF65-F5344CB8AC3E}">
        <p14:creationId xmlns:p14="http://schemas.microsoft.com/office/powerpoint/2010/main" val="2014384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81CAA-D425-C06A-36C3-EEF17EB3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Syntax of if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653C2-5916-AABA-386C-47BE965E6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19468" cy="4351338"/>
          </a:xfrm>
        </p:spPr>
        <p:txBody>
          <a:bodyPr/>
          <a:lstStyle/>
          <a:p>
            <a:pPr marL="0" indent="0">
              <a:buNone/>
            </a:pPr>
            <a:endParaRPr lang="en-US" b="0" i="0" dirty="0">
              <a:solidFill>
                <a:srgbClr val="0000CD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block of code to be executed if the condition is true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21D648-642F-7603-B32D-86C86072A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107" y="1287404"/>
            <a:ext cx="6213894" cy="5385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25F4A6-9306-260A-AFC0-364F0D44BF86}"/>
              </a:ext>
            </a:extLst>
          </p:cNvPr>
          <p:cNvSpPr txBox="1"/>
          <p:nvPr/>
        </p:nvSpPr>
        <p:spPr>
          <a:xfrm>
            <a:off x="105673" y="6438384"/>
            <a:ext cx="60945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https://nerdyteachers.com/PICO-8/Guide/IF</a:t>
            </a:r>
          </a:p>
        </p:txBody>
      </p:sp>
    </p:spTree>
    <p:extLst>
      <p:ext uri="{BB962C8B-B14F-4D97-AF65-F5344CB8AC3E}">
        <p14:creationId xmlns:p14="http://schemas.microsoft.com/office/powerpoint/2010/main" val="3396754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8EE65-B9FC-A6FA-4282-525CD15C3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93538-C494-55DE-F947-AD1C07B14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0" i="0" dirty="0">
              <a:solidFill>
                <a:srgbClr val="0000CD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&gt;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“30 is greater than 28"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5059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8CC0F-4919-AC44-FCD4-272C4BF5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else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5A0D7-7C74-DFF1-1A74-76F34F927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Use the </a:t>
            </a:r>
            <a:r>
              <a:rPr lang="en-US" b="1" dirty="0"/>
              <a:t>else</a:t>
            </a:r>
            <a:r>
              <a:rPr lang="en-US" dirty="0"/>
              <a:t> statement to specify a block of code to be executed if the condition is </a:t>
            </a:r>
            <a:r>
              <a:rPr lang="en-US" b="1" dirty="0"/>
              <a:t>false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block of code to be executed if the condition is true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 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block of code to be executed if the condition is false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44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4F54-8089-0D25-8060-1FEDBBE77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of if-else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6825FB5-5A4A-1504-989D-0D98FA8C6A6C}"/>
              </a:ext>
            </a:extLst>
          </p:cNvPr>
          <p:cNvSpPr txBox="1">
            <a:spLocks/>
          </p:cNvSpPr>
          <p:nvPr/>
        </p:nvSpPr>
        <p:spPr>
          <a:xfrm>
            <a:off x="73864" y="6593396"/>
            <a:ext cx="10515600" cy="2646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100" dirty="0"/>
              <a:t>https://nerdyteachers.com/PICO-8/Guide/IF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2DEAAE-21EB-10F2-B4BA-0E8F2657E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705" y="748341"/>
            <a:ext cx="5361317" cy="536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623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5B8A8-9C0C-F47E-8AC0-37311AC84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BB0BB-95E0-F704-B597-C7C112D84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time =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(time &lt;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"Good day."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 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"Good evening."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2692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AFE27-8715-E11C-B033-FEA26C096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else if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37A40-EC3A-47A8-68EB-EF0364F36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0" i="0" dirty="0">
                <a:effectLst/>
                <a:latin typeface="Consolas" panose="020B0609020204030204" pitchFamily="49" charset="0"/>
              </a:rPr>
              <a:t>Use the </a:t>
            </a:r>
            <a:r>
              <a:rPr lang="en-US" b="1" i="0" dirty="0">
                <a:effectLst/>
                <a:latin typeface="Consolas" panose="020B0609020204030204" pitchFamily="49" charset="0"/>
              </a:rPr>
              <a:t>else if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 statement to specify a new condition if the first condition is </a:t>
            </a:r>
            <a:r>
              <a:rPr lang="en-US" b="1" i="0" dirty="0">
                <a:effectLst/>
                <a:latin typeface="Consolas" panose="020B0609020204030204" pitchFamily="49" charset="0"/>
              </a:rPr>
              <a:t>false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block of code to be executed if condition1 is true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block of code to be executed if the condition1 is false and condition2 is true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block of code to be executed if the condition1 is false and condition2 is false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561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A3F215-4CD9-D944-9908-A771E3F59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253" y="0"/>
            <a:ext cx="762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863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B2A57-01E4-D144-884C-8628024E0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64" y="6593396"/>
            <a:ext cx="10515600" cy="264604"/>
          </a:xfrm>
        </p:spPr>
        <p:txBody>
          <a:bodyPr>
            <a:normAutofit/>
          </a:bodyPr>
          <a:lstStyle/>
          <a:p>
            <a:r>
              <a:rPr lang="en-IN" sz="1100" dirty="0"/>
              <a:t>https://www.geeksforgeeks.org/c/decision-making-in-c/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CAAE9-614D-2DA4-208D-E51E568A1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8E3A3D-1543-53A4-05CF-A4627D2C0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555" y="51760"/>
            <a:ext cx="9579991" cy="650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91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19AB-2343-837A-1297-35A9A354F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3C45E-13D8-44E5-F80C-581580EC1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time =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(time &lt;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"Good morning."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 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(time &lt;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"Good day."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 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"Good evening."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5870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D8EE84-1165-1BA9-9B8E-52AF2F944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Ternary Operator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B272AE-DB68-0254-5CC2-6AFB904F0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9782" y="1494234"/>
            <a:ext cx="5181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time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(time &lt;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"Good day."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"Good evening."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BEEFFB-A2B9-BADA-C1AD-3DF793524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1343" y="1494234"/>
            <a:ext cx="6944265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time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(time &lt;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?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"Good day."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):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"Good evening."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  <a:p>
            <a:endParaRPr lang="en-IN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BBEC282-3B5F-2AB2-52F9-6345476115F3}"/>
              </a:ext>
            </a:extLst>
          </p:cNvPr>
          <p:cNvSpPr txBox="1">
            <a:spLocks/>
          </p:cNvSpPr>
          <p:nvPr/>
        </p:nvSpPr>
        <p:spPr>
          <a:xfrm>
            <a:off x="189782" y="5649118"/>
            <a:ext cx="1168879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i="1" dirty="0"/>
              <a:t>variable</a:t>
            </a:r>
            <a:r>
              <a:rPr lang="en-IN" sz="4000" dirty="0"/>
              <a:t> = </a:t>
            </a:r>
            <a:r>
              <a:rPr lang="en-IN" sz="4000" dirty="0">
                <a:solidFill>
                  <a:schemeClr val="accent2"/>
                </a:solidFill>
              </a:rPr>
              <a:t>(</a:t>
            </a:r>
            <a:r>
              <a:rPr lang="en-IN" sz="4000" i="1" dirty="0">
                <a:solidFill>
                  <a:schemeClr val="accent2"/>
                </a:solidFill>
              </a:rPr>
              <a:t>condition</a:t>
            </a:r>
            <a:r>
              <a:rPr lang="en-IN" sz="4000" dirty="0">
                <a:solidFill>
                  <a:schemeClr val="accent2"/>
                </a:solidFill>
              </a:rPr>
              <a:t>) </a:t>
            </a:r>
            <a:r>
              <a:rPr lang="en-IN" sz="4000" dirty="0"/>
              <a:t>? </a:t>
            </a:r>
            <a:r>
              <a:rPr lang="en-IN" sz="4000" i="1" dirty="0" err="1">
                <a:solidFill>
                  <a:srgbClr val="92D050"/>
                </a:solidFill>
              </a:rPr>
              <a:t>expressionTrue</a:t>
            </a:r>
            <a:r>
              <a:rPr lang="en-IN" sz="4000" dirty="0"/>
              <a:t> : </a:t>
            </a:r>
            <a:r>
              <a:rPr lang="en-IN" sz="4000" i="1" dirty="0" err="1">
                <a:solidFill>
                  <a:srgbClr val="FF0000"/>
                </a:solidFill>
              </a:rPr>
              <a:t>expressionFalse</a:t>
            </a:r>
            <a:r>
              <a:rPr lang="en-IN" sz="40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927690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758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Assignments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7156"/>
            <a:ext cx="10515600" cy="50298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1. </a:t>
            </a:r>
            <a:r>
              <a:rPr lang="en-US" sz="2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Write a C code to perform the following and print it:</a:t>
            </a:r>
            <a:r>
              <a:rPr lang="en-IN" sz="2000" dirty="0"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An addition, subtraction, and multiplication of two integers.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2. </a:t>
            </a:r>
            <a:r>
              <a:rPr lang="en-US" sz="2000" dirty="0">
                <a:effectLst/>
                <a:ea typeface="Times New Roman" panose="02020603050405020304" pitchFamily="18" charset="0"/>
              </a:rPr>
              <a:t>Determine the value of each of the following logical expressions if a=5, b=10 and c= -6 and justify it.</a:t>
            </a:r>
            <a:endParaRPr lang="en-IN" sz="20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effectLst/>
                <a:ea typeface="Times New Roman" panose="02020603050405020304" pitchFamily="18" charset="0"/>
              </a:rPr>
              <a:t>      (a.) a&gt;b &amp;&amp; a&lt;c</a:t>
            </a:r>
            <a:endParaRPr lang="en-IN" sz="20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effectLst/>
                <a:ea typeface="Times New Roman" panose="02020603050405020304" pitchFamily="18" charset="0"/>
              </a:rPr>
              <a:t>      (b.) a&lt;b &amp;&amp; a&gt;c</a:t>
            </a:r>
            <a:endParaRPr lang="en-IN" sz="20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effectLst/>
                <a:ea typeface="Times New Roman" panose="02020603050405020304" pitchFamily="18" charset="0"/>
              </a:rPr>
              <a:t>      (c.) a==c || b&gt; a</a:t>
            </a:r>
            <a:endParaRPr lang="en-IN" sz="20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effectLst/>
                <a:ea typeface="Times New Roman" panose="02020603050405020304" pitchFamily="18" charset="0"/>
              </a:rPr>
              <a:t>      (d.) b&gt; 15 &amp;&amp; c&lt;0 || a&gt;0</a:t>
            </a:r>
            <a:endParaRPr lang="en-IN" sz="20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effectLst/>
                <a:ea typeface="Times New Roman" panose="02020603050405020304" pitchFamily="18" charset="0"/>
              </a:rPr>
              <a:t>      (e.) (a/2.0 ==0.0 &amp;&amp; b/2.0!=0.0 || c&lt; 0.0</a:t>
            </a:r>
            <a:endParaRPr lang="en-IN" sz="2000" dirty="0">
              <a:effectLst/>
              <a:ea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IN" sz="2000" dirty="0">
                <a:effectLst/>
                <a:ea typeface="Times New Roman" panose="02020603050405020304" pitchFamily="18" charset="0"/>
              </a:rPr>
              <a:t>3. </a:t>
            </a:r>
            <a:r>
              <a:rPr lang="en-US" sz="2000" dirty="0">
                <a:effectLst/>
                <a:ea typeface="Times New Roman" panose="02020603050405020304" pitchFamily="18" charset="0"/>
              </a:rPr>
              <a:t>C program check whether a number is even or odd.</a:t>
            </a:r>
            <a:endParaRPr lang="en-IN" sz="2000" dirty="0">
              <a:effectLst/>
              <a:ea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IN" sz="2000" dirty="0">
                <a:ea typeface="Times New Roman" panose="02020603050405020304" pitchFamily="18" charset="0"/>
              </a:rPr>
              <a:t>4. </a:t>
            </a:r>
            <a:r>
              <a:rPr lang="en-US" sz="2000" dirty="0">
                <a:effectLst/>
                <a:ea typeface="Times New Roman" panose="02020603050405020304" pitchFamily="18" charset="0"/>
              </a:rPr>
              <a:t>C program to check whether a number is divisible by 5 and 11 or not.</a:t>
            </a:r>
          </a:p>
          <a:p>
            <a:pPr marL="0" lvl="0" indent="0">
              <a:buNone/>
            </a:pPr>
            <a:r>
              <a:rPr lang="en-US" sz="2000" dirty="0">
                <a:ea typeface="Times New Roman" panose="02020603050405020304" pitchFamily="18" charset="0"/>
              </a:rPr>
              <a:t>5. C program to check whether a triangle is equilateral, scalene or isosceles.</a:t>
            </a:r>
          </a:p>
          <a:p>
            <a:pPr marL="0" lvl="0" indent="0">
              <a:buNone/>
            </a:pPr>
            <a:r>
              <a:rPr lang="en-US" sz="2000" dirty="0">
                <a:effectLst/>
                <a:ea typeface="Times New Roman" panose="02020603050405020304" pitchFamily="18" charset="0"/>
              </a:rPr>
              <a:t>6. C program to check whether a triangle is valid or not if angles are given.</a:t>
            </a:r>
            <a:endParaRPr lang="en-IN" sz="2000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821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A13EE458DC6A41AB6CEB83F6613953" ma:contentTypeVersion="4" ma:contentTypeDescription="Create a new document." ma:contentTypeScope="" ma:versionID="f6ea594442bf66514565299edc124d63">
  <xsd:schema xmlns:xsd="http://www.w3.org/2001/XMLSchema" xmlns:xs="http://www.w3.org/2001/XMLSchema" xmlns:p="http://schemas.microsoft.com/office/2006/metadata/properties" xmlns:ns2="bce89c58-99c7-4a39-8e1b-d4ac22269018" targetNamespace="http://schemas.microsoft.com/office/2006/metadata/properties" ma:root="true" ma:fieldsID="5f451318a34ea5e7c2651fbdd532fdd2" ns2:_="">
    <xsd:import namespace="bce89c58-99c7-4a39-8e1b-d4ac222690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e89c58-99c7-4a39-8e1b-d4ac222690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AF337A5-CD88-4687-BEE4-5AEF6AE319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e89c58-99c7-4a39-8e1b-d4ac222690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C2D23F-A1AF-4FAE-A67D-D12828A9A2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C44C54-039F-435E-89A8-0B78DE90B36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646</Words>
  <Application>Microsoft Office PowerPoint</Application>
  <PresentationFormat>Widescreen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Times New Roman</vt:lpstr>
      <vt:lpstr>Office Theme</vt:lpstr>
      <vt:lpstr>Programming for Problem Solving Lect #3</vt:lpstr>
      <vt:lpstr>if Statement</vt:lpstr>
      <vt:lpstr>Syntax of if Statement</vt:lpstr>
      <vt:lpstr>Example</vt:lpstr>
      <vt:lpstr>else Statement</vt:lpstr>
      <vt:lpstr>Working of if-else</vt:lpstr>
      <vt:lpstr>Example</vt:lpstr>
      <vt:lpstr>else if Statement</vt:lpstr>
      <vt:lpstr>PowerPoint Presentation</vt:lpstr>
      <vt:lpstr>https://www.geeksforgeeks.org/c/decision-making-in-c/</vt:lpstr>
      <vt:lpstr>Example</vt:lpstr>
      <vt:lpstr>Ternary Operator</vt:lpstr>
      <vt:lpstr>Assignments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 #2</dc:title>
  <dc:creator>admin</dc:creator>
  <cp:lastModifiedBy>521CS1007 (VIPULSINGH NEGI)</cp:lastModifiedBy>
  <cp:revision>58</cp:revision>
  <dcterms:created xsi:type="dcterms:W3CDTF">2025-01-16T06:48:48Z</dcterms:created>
  <dcterms:modified xsi:type="dcterms:W3CDTF">2026-09-18T06:30:39Z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0x010100ABA13EE458DC6A41AB6CEB83F6613953</vt:lpwstr>
  </property>
</Properties>
</file>