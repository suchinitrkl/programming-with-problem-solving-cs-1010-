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66" r:id="rId8"/>
    <p:sldId id="267" r:id="rId9"/>
    <p:sldId id="268" r:id="rId10"/>
    <p:sldId id="269" r:id="rId11"/>
    <p:sldId id="259" r:id="rId12"/>
    <p:sldId id="270" r:id="rId13"/>
    <p:sldId id="271" r:id="rId14"/>
    <p:sldId id="272" r:id="rId15"/>
    <p:sldId id="260" r:id="rId16"/>
    <p:sldId id="261" r:id="rId17"/>
    <p:sldId id="262" r:id="rId18"/>
    <p:sldId id="263" r:id="rId19"/>
    <p:sldId id="273" r:id="rId20"/>
    <p:sldId id="264" r:id="rId21"/>
    <p:sldId id="265"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7" d="100"/>
          <a:sy n="57" d="100"/>
        </p:scale>
        <p:origin x="95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5T01:36:53.158"/>
    </inkml:context>
    <inkml:brush xml:id="br0">
      <inkml:brushProperty name="width" value="0.05" units="cm"/>
      <inkml:brushProperty name="height" value="0.05" units="cm"/>
      <inkml:brushProperty name="color" value="#E71224"/>
    </inkml:brush>
  </inkml:definitions>
  <inkml:trace contextRef="#ctx0" brushRef="#br0">527 526 24575,'3'-1'0,"0"1"0,0-1 0,0-1 0,0 1 0,0 0 0,0-1 0,0 1 0,-1-1 0,5-3 0,11-6 0,171-69 0,252-71 0,-110 69 0,-145 51 0,-4 2 0,-80 12 0,31-7 0,-49 4 0,1 3 0,100-5 0,-73 11 0,94-3 0,408 15 0,-547 2 0,0 3 0,70 15 0,-47 0 0,171 64 0,-110-32 0,19 10 0,-41-13 0,-20-5 0,-42-15 0,-10-3 0,-35-16 0,37 14 0,17 7 0,-11-3 0,-35-19 0,-10-4 0,0 1 0,-1 1 0,1 1 0,-2 1 0,1 0 0,27 21 0,3 10 0,154 117 0,-175-136 0,-1 1 0,-1 1 0,37 45 0,-52-56 0,2 2 0,-1 1 0,-1 1 0,-1 0 0,16 33 0,23 79 0,-29-70 0,-15-44 0,0 1 0,-2 1 0,0-1 0,0 0 0,-1 17 0,-4 87 0,0-51 0,3 3 0,-3 64 0,-1-120 0,0 1 0,-1-2 0,0 1 0,-1 0 0,-1-1 0,-9 16 0,-51 84 0,-1-16 0,-24 38 0,68-100 0,-1-2 0,-2-1 0,-2-1 0,-1-1 0,-1-2 0,-2-1 0,-1-1 0,-1-2 0,-1-1 0,-65 34 0,-135 90 0,224-143 0,0 0 0,0 0 0,-1-1 0,-19 5 0,19-6 0,0 0 0,0 1 0,1 0 0,-18 11 0,-7 6 0,-1-2 0,-71 28 0,44-21 0,-114 49 0,29-19 0,116-46 0,-1 0 0,0-2 0,-1-2 0,0-1 0,-41 1 0,-183-6 0,126-3 0,46 2 0,-130-16 0,168 8 0,-89-26 0,107 26 0,-1 2 0,0 1 0,-64-2 0,-25-4 0,-69-16 0,132 20 0,-1 2 0,-111 6 0,64 1 0,-8-1 0,-127-3 0,199-4 0,1-1 0,1-3 0,-64-22 0,-17-4 0,76 24 0,0-1 0,1-3 0,0-1 0,-46-27 0,55 24 0,19 11 0,0 0 0,2 0 0,-28-24 0,-84-64 0,66 41 0,-23-21 0,-82-100 0,109 113 0,31 38 0,2-2 0,-25-37 0,-49-67 0,66 93 0,-52-84 0,48 70 0,27 41 0,0 1 0,0-1 0,1 0 0,1-1 0,0 0 0,-4-14 0,-13-52 0,7 29 0,2 0 0,2-1 0,3-1 0,-5-85 0,13 125 0,1 1 0,0-1 0,1 0 0,0 0 0,0 0 0,1 1 0,1-1 0,0 1 0,1 0 0,0-1 0,10-17 0,5 2 0,1 1 0,1 1 0,46-42 0,-33 35 0,-23 22 0,1 1 0,0 0 0,1 1 0,0 0 0,20-8 0,-19 9 0,1 0 0,-1-1 0,-1 0 0,21-18 0,3-7 0,-3-2 0,50-64 0,23-28 129,-31 40-1623,-66 74-5332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5T01:38:13.204"/>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6433941-78B6-4725-946D-6DEA542FE5E6}" type="datetimeFigureOut">
              <a:rPr lang="en-IN" smtClean="0"/>
              <a:t>05-09-2026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1184865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6433941-78B6-4725-946D-6DEA542FE5E6}" type="datetimeFigureOut">
              <a:rPr lang="en-IN" smtClean="0"/>
              <a:t>05-09-2026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4053014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6433941-78B6-4725-946D-6DEA542FE5E6}" type="datetimeFigureOut">
              <a:rPr lang="en-IN" smtClean="0"/>
              <a:t>05-09-2026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1173933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6433941-78B6-4725-946D-6DEA542FE5E6}" type="datetimeFigureOut">
              <a:rPr lang="en-IN" smtClean="0"/>
              <a:t>05-09-2026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3550634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6433941-78B6-4725-946D-6DEA542FE5E6}" type="datetimeFigureOut">
              <a:rPr lang="en-IN" smtClean="0"/>
              <a:t>05-09-2026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3501046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6433941-78B6-4725-946D-6DEA542FE5E6}" type="datetimeFigureOut">
              <a:rPr lang="en-IN" smtClean="0"/>
              <a:t>05-09-2026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197122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433941-78B6-4725-946D-6DEA542FE5E6}" type="datetimeFigureOut">
              <a:rPr lang="en-IN" smtClean="0"/>
              <a:t>05-09-2026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2608785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433941-78B6-4725-946D-6DEA542FE5E6}" type="datetimeFigureOut">
              <a:rPr lang="en-IN" smtClean="0"/>
              <a:t>05-09-2026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4139845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433941-78B6-4725-946D-6DEA542FE5E6}" type="datetimeFigureOut">
              <a:rPr lang="en-IN" smtClean="0"/>
              <a:t>05-09-2026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293296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6433941-78B6-4725-946D-6DEA542FE5E6}" type="datetimeFigureOut">
              <a:rPr lang="en-IN" smtClean="0"/>
              <a:t>05-09-2026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4071138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6433941-78B6-4725-946D-6DEA542FE5E6}" type="datetimeFigureOut">
              <a:rPr lang="en-IN" smtClean="0"/>
              <a:t>05-09-2026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7B0C6DD-9CA9-4161-8E5D-EF34D1E4A196}" type="slidenum">
              <a:rPr lang="en-IN" smtClean="0"/>
              <a:t>‹#›</a:t>
            </a:fld>
            <a:endParaRPr lang="en-IN"/>
          </a:p>
        </p:txBody>
      </p:sp>
    </p:spTree>
    <p:extLst>
      <p:ext uri="{BB962C8B-B14F-4D97-AF65-F5344CB8AC3E}">
        <p14:creationId xmlns:p14="http://schemas.microsoft.com/office/powerpoint/2010/main" val="4217911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33941-78B6-4725-946D-6DEA542FE5E6}" type="datetimeFigureOut">
              <a:rPr lang="en-IN" smtClean="0"/>
              <a:t>05-09-2026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B0C6DD-9CA9-4161-8E5D-EF34D1E4A196}" type="slidenum">
              <a:rPr lang="en-IN" smtClean="0"/>
              <a:t>‹#›</a:t>
            </a:fld>
            <a:endParaRPr lang="en-IN"/>
          </a:p>
        </p:txBody>
      </p:sp>
    </p:spTree>
    <p:extLst>
      <p:ext uri="{BB962C8B-B14F-4D97-AF65-F5344CB8AC3E}">
        <p14:creationId xmlns:p14="http://schemas.microsoft.com/office/powerpoint/2010/main" val="29159285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Programming for Problem Solving</a:t>
            </a:r>
            <a:endParaRPr lang="en-IN" dirty="0"/>
          </a:p>
        </p:txBody>
      </p:sp>
      <p:sp>
        <p:nvSpPr>
          <p:cNvPr id="3" name="Subtitle 2"/>
          <p:cNvSpPr>
            <a:spLocks noGrp="1"/>
          </p:cNvSpPr>
          <p:nvPr>
            <p:ph type="subTitle" idx="1"/>
          </p:nvPr>
        </p:nvSpPr>
        <p:spPr/>
        <p:txBody>
          <a:bodyPr/>
          <a:lstStyle/>
          <a:p>
            <a:r>
              <a:rPr lang="en-US" dirty="0"/>
              <a:t>Lecture #1</a:t>
            </a:r>
          </a:p>
          <a:p>
            <a:r>
              <a:rPr lang="en-US" dirty="0"/>
              <a:t>Prof. </a:t>
            </a:r>
            <a:r>
              <a:rPr lang="en-US" dirty="0" err="1"/>
              <a:t>Suchismita</a:t>
            </a:r>
            <a:r>
              <a:rPr lang="en-US" dirty="0"/>
              <a:t> </a:t>
            </a:r>
            <a:r>
              <a:rPr lang="en-US" dirty="0" err="1"/>
              <a:t>Chinara</a:t>
            </a:r>
            <a:endParaRPr lang="en-US" dirty="0"/>
          </a:p>
          <a:p>
            <a:r>
              <a:rPr lang="en-US" dirty="0"/>
              <a:t>Department of Computer Science &amp; Engineering</a:t>
            </a:r>
          </a:p>
          <a:p>
            <a:endParaRPr lang="en-IN" dirty="0"/>
          </a:p>
        </p:txBody>
      </p:sp>
    </p:spTree>
    <p:extLst>
      <p:ext uri="{BB962C8B-B14F-4D97-AF65-F5344CB8AC3E}">
        <p14:creationId xmlns:p14="http://schemas.microsoft.com/office/powerpoint/2010/main" val="665396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47395"/>
          </a:xfrm>
        </p:spPr>
        <p:txBody>
          <a:bodyPr/>
          <a:lstStyle/>
          <a:p>
            <a:r>
              <a:rPr lang="en-IN" dirty="0"/>
              <a:t>Introduction—What is a Computer?</a:t>
            </a:r>
          </a:p>
        </p:txBody>
      </p:sp>
      <p:sp>
        <p:nvSpPr>
          <p:cNvPr id="3" name="Content Placeholder 2"/>
          <p:cNvSpPr>
            <a:spLocks noGrp="1"/>
          </p:cNvSpPr>
          <p:nvPr>
            <p:ph idx="1"/>
          </p:nvPr>
        </p:nvSpPr>
        <p:spPr>
          <a:xfrm>
            <a:off x="838200" y="1112520"/>
            <a:ext cx="10515600" cy="5064443"/>
          </a:xfrm>
        </p:spPr>
        <p:txBody>
          <a:bodyPr>
            <a:normAutofit/>
          </a:bodyPr>
          <a:lstStyle/>
          <a:p>
            <a:pPr algn="just"/>
            <a:r>
              <a:rPr lang="en-US" dirty="0"/>
              <a:t>An automatic electronic apparatus for making calculations or controlling operations that are expressible in numerical or logical terms.</a:t>
            </a:r>
          </a:p>
          <a:p>
            <a:pPr algn="just"/>
            <a:r>
              <a:rPr lang="en-US" dirty="0"/>
              <a:t>It can accept input, which may be either data or instructions or both. The computer remembers the input by storing it in memory cells. It then processes the stored input by performing calculations or by making logical comparisons or both. It gives out the result of the arithmetic or logical computations as output information. Internally it converts the input data to meaningful binary digits, performs the instructed operations on the binary data, and transforms the data from binary digit form to understandable alphanumeric form.</a:t>
            </a:r>
            <a:endParaRPr lang="en-IN" dirty="0"/>
          </a:p>
        </p:txBody>
      </p:sp>
    </p:spTree>
    <p:extLst>
      <p:ext uri="{BB962C8B-B14F-4D97-AF65-F5344CB8AC3E}">
        <p14:creationId xmlns:p14="http://schemas.microsoft.com/office/powerpoint/2010/main" val="4057897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6915"/>
          </a:xfrm>
        </p:spPr>
        <p:txBody>
          <a:bodyPr/>
          <a:lstStyle/>
          <a:p>
            <a:r>
              <a:rPr lang="en-IN" dirty="0"/>
              <a:t>Evolution of Computers</a:t>
            </a:r>
          </a:p>
        </p:txBody>
      </p:sp>
      <p:sp>
        <p:nvSpPr>
          <p:cNvPr id="3" name="Content Placeholder 2"/>
          <p:cNvSpPr>
            <a:spLocks noGrp="1"/>
          </p:cNvSpPr>
          <p:nvPr>
            <p:ph idx="1"/>
          </p:nvPr>
        </p:nvSpPr>
        <p:spPr>
          <a:xfrm>
            <a:off x="838200" y="1203960"/>
            <a:ext cx="10515600" cy="4973003"/>
          </a:xfrm>
        </p:spPr>
        <p:txBody>
          <a:bodyPr/>
          <a:lstStyle/>
          <a:p>
            <a:r>
              <a:rPr lang="en-US" dirty="0"/>
              <a:t>Computing in the mechanical era</a:t>
            </a:r>
          </a:p>
          <a:p>
            <a:r>
              <a:rPr lang="en-US" dirty="0"/>
              <a:t>Computing in the electrical era</a:t>
            </a:r>
            <a:endParaRPr lang="en-IN" dirty="0"/>
          </a:p>
        </p:txBody>
      </p:sp>
    </p:spTree>
    <p:extLst>
      <p:ext uri="{BB962C8B-B14F-4D97-AF65-F5344CB8AC3E}">
        <p14:creationId xmlns:p14="http://schemas.microsoft.com/office/powerpoint/2010/main" val="4087712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EF3B1-73A9-7B2D-7128-ADC3ADC267F9}"/>
              </a:ext>
            </a:extLst>
          </p:cNvPr>
          <p:cNvSpPr>
            <a:spLocks noGrp="1"/>
          </p:cNvSpPr>
          <p:nvPr>
            <p:ph type="title"/>
          </p:nvPr>
        </p:nvSpPr>
        <p:spPr>
          <a:xfrm>
            <a:off x="838200" y="182881"/>
            <a:ext cx="10515600" cy="716279"/>
          </a:xfrm>
        </p:spPr>
        <p:txBody>
          <a:bodyPr>
            <a:normAutofit fontScale="90000"/>
          </a:bodyPr>
          <a:lstStyle/>
          <a:p>
            <a:br>
              <a:rPr lang="en-US" dirty="0"/>
            </a:br>
            <a:r>
              <a:rPr lang="en-US" dirty="0"/>
              <a:t>Computing in the mechanical era</a:t>
            </a:r>
            <a:br>
              <a:rPr lang="en-US" dirty="0"/>
            </a:br>
            <a:endParaRPr lang="en-IN" dirty="0"/>
          </a:p>
        </p:txBody>
      </p:sp>
      <p:sp>
        <p:nvSpPr>
          <p:cNvPr id="3" name="Content Placeholder 2">
            <a:extLst>
              <a:ext uri="{FF2B5EF4-FFF2-40B4-BE49-F238E27FC236}">
                <a16:creationId xmlns:a16="http://schemas.microsoft.com/office/drawing/2014/main" id="{5314FC2E-A65D-4BAB-8B06-A053587C8F73}"/>
              </a:ext>
            </a:extLst>
          </p:cNvPr>
          <p:cNvSpPr>
            <a:spLocks noGrp="1"/>
          </p:cNvSpPr>
          <p:nvPr>
            <p:ph idx="1"/>
          </p:nvPr>
        </p:nvSpPr>
        <p:spPr>
          <a:xfrm>
            <a:off x="838200" y="899160"/>
            <a:ext cx="10515600" cy="5277803"/>
          </a:xfrm>
        </p:spPr>
        <p:txBody>
          <a:bodyPr>
            <a:normAutofit/>
          </a:bodyPr>
          <a:lstStyle/>
          <a:p>
            <a:pPr algn="just"/>
            <a:r>
              <a:rPr lang="en-US" dirty="0"/>
              <a:t>The first mechanical calculating apparatus was the abacus, which was invented in 500 BC in Babylon. It was used extensively without any improvement until 1642 when Blaise Pascal designed a calculator that employed gears and wheels. </a:t>
            </a:r>
          </a:p>
          <a:p>
            <a:pPr algn="just"/>
            <a:endParaRPr lang="en-US" dirty="0"/>
          </a:p>
          <a:p>
            <a:pPr algn="just"/>
            <a:r>
              <a:rPr lang="en-US" dirty="0"/>
              <a:t>In 1823, Charles Babbage, started an ambitious project of producing a programmable calculating machine for the Royal Navy of Great Britain. Input to this mechanical machine, named the Analytical Engine, was given through punched cards. </a:t>
            </a:r>
            <a:endParaRPr lang="en-IN" dirty="0"/>
          </a:p>
        </p:txBody>
      </p:sp>
    </p:spTree>
    <p:extLst>
      <p:ext uri="{BB962C8B-B14F-4D97-AF65-F5344CB8AC3E}">
        <p14:creationId xmlns:p14="http://schemas.microsoft.com/office/powerpoint/2010/main" val="3645239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0E919-989D-58A2-6558-3F3B16E811E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5EC3D25-F059-DCBD-D8D0-C4D11E0DBD0C}"/>
              </a:ext>
            </a:extLst>
          </p:cNvPr>
          <p:cNvPicPr>
            <a:picLocks noGrp="1" noChangeAspect="1"/>
          </p:cNvPicPr>
          <p:nvPr>
            <p:ph idx="1"/>
          </p:nvPr>
        </p:nvPicPr>
        <p:blipFill>
          <a:blip r:embed="rId2"/>
          <a:stretch>
            <a:fillRect/>
          </a:stretch>
        </p:blipFill>
        <p:spPr>
          <a:xfrm>
            <a:off x="838200" y="365125"/>
            <a:ext cx="5547841" cy="4561335"/>
          </a:xfrm>
        </p:spPr>
      </p:pic>
      <p:pic>
        <p:nvPicPr>
          <p:cNvPr id="7" name="Picture 6">
            <a:extLst>
              <a:ext uri="{FF2B5EF4-FFF2-40B4-BE49-F238E27FC236}">
                <a16:creationId xmlns:a16="http://schemas.microsoft.com/office/drawing/2014/main" id="{BC8FC730-53C9-6148-67F2-2FF494A55FCB}"/>
              </a:ext>
            </a:extLst>
          </p:cNvPr>
          <p:cNvPicPr>
            <a:picLocks noChangeAspect="1"/>
          </p:cNvPicPr>
          <p:nvPr/>
        </p:nvPicPr>
        <p:blipFill>
          <a:blip r:embed="rId3"/>
          <a:stretch>
            <a:fillRect/>
          </a:stretch>
        </p:blipFill>
        <p:spPr>
          <a:xfrm>
            <a:off x="6777872" y="365125"/>
            <a:ext cx="4575928" cy="4561335"/>
          </a:xfrm>
          <a:prstGeom prst="rect">
            <a:avLst/>
          </a:prstGeom>
        </p:spPr>
      </p:pic>
      <p:sp>
        <p:nvSpPr>
          <p:cNvPr id="8" name="TextBox 7">
            <a:extLst>
              <a:ext uri="{FF2B5EF4-FFF2-40B4-BE49-F238E27FC236}">
                <a16:creationId xmlns:a16="http://schemas.microsoft.com/office/drawing/2014/main" id="{BB3678F5-E248-16D6-6C08-7DFB4D5CA19A}"/>
              </a:ext>
            </a:extLst>
          </p:cNvPr>
          <p:cNvSpPr txBox="1"/>
          <p:nvPr/>
        </p:nvSpPr>
        <p:spPr>
          <a:xfrm flipH="1">
            <a:off x="2136079" y="5128181"/>
            <a:ext cx="2134263" cy="369332"/>
          </a:xfrm>
          <a:prstGeom prst="rect">
            <a:avLst/>
          </a:prstGeom>
          <a:noFill/>
        </p:spPr>
        <p:txBody>
          <a:bodyPr wrap="square" rtlCol="0">
            <a:spAutoFit/>
          </a:bodyPr>
          <a:lstStyle/>
          <a:p>
            <a:r>
              <a:rPr lang="en-IN" dirty="0"/>
              <a:t>Abacus</a:t>
            </a:r>
          </a:p>
        </p:txBody>
      </p:sp>
    </p:spTree>
    <p:extLst>
      <p:ext uri="{BB962C8B-B14F-4D97-AF65-F5344CB8AC3E}">
        <p14:creationId xmlns:p14="http://schemas.microsoft.com/office/powerpoint/2010/main" val="1884410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7E608-B495-AE84-F121-1E5AEA76CD3C}"/>
              </a:ext>
            </a:extLst>
          </p:cNvPr>
          <p:cNvSpPr>
            <a:spLocks noGrp="1"/>
          </p:cNvSpPr>
          <p:nvPr>
            <p:ph type="title"/>
          </p:nvPr>
        </p:nvSpPr>
        <p:spPr>
          <a:xfrm>
            <a:off x="838200" y="365126"/>
            <a:ext cx="10515600" cy="700104"/>
          </a:xfrm>
        </p:spPr>
        <p:txBody>
          <a:bodyPr>
            <a:normAutofit fontScale="90000"/>
          </a:bodyPr>
          <a:lstStyle/>
          <a:p>
            <a:br>
              <a:rPr lang="en-US" dirty="0"/>
            </a:br>
            <a:r>
              <a:rPr lang="en-US" dirty="0"/>
              <a:t>Computing in the electrical era</a:t>
            </a:r>
            <a:br>
              <a:rPr lang="en-IN" dirty="0"/>
            </a:br>
            <a:endParaRPr lang="en-IN" dirty="0"/>
          </a:p>
        </p:txBody>
      </p:sp>
      <p:sp>
        <p:nvSpPr>
          <p:cNvPr id="3" name="Content Placeholder 2">
            <a:extLst>
              <a:ext uri="{FF2B5EF4-FFF2-40B4-BE49-F238E27FC236}">
                <a16:creationId xmlns:a16="http://schemas.microsoft.com/office/drawing/2014/main" id="{7488C1D9-D538-7FC9-3494-8A9B1952511D}"/>
              </a:ext>
            </a:extLst>
          </p:cNvPr>
          <p:cNvSpPr>
            <a:spLocks noGrp="1"/>
          </p:cNvSpPr>
          <p:nvPr>
            <p:ph idx="1"/>
          </p:nvPr>
        </p:nvSpPr>
        <p:spPr>
          <a:xfrm>
            <a:off x="838200" y="1140643"/>
            <a:ext cx="10515600" cy="5036320"/>
          </a:xfrm>
        </p:spPr>
        <p:txBody>
          <a:bodyPr/>
          <a:lstStyle/>
          <a:p>
            <a:r>
              <a:rPr lang="en-US" dirty="0"/>
              <a:t>University of Pennsylvania completed the first general-purpose electronic digital computer in 1946. It was called the ENIAC, Electronic Numerical Integrator and Calculator.</a:t>
            </a:r>
          </a:p>
          <a:p>
            <a:r>
              <a:rPr lang="en-US" dirty="0"/>
              <a:t>It used 17,000 vacuum tubes, over 500 miles of wires, weighed 30 tons, and performed around 100,000 operations per second.</a:t>
            </a:r>
          </a:p>
          <a:p>
            <a:r>
              <a:rPr lang="en-US" dirty="0"/>
              <a:t>The transistor was invented at Bell Labs in 1948. In 1958, IBM, brought out general-purpose computers using transistors that were faster, smaller in size, weighed less, needed less power, and were more reliable.</a:t>
            </a:r>
          </a:p>
          <a:p>
            <a:endParaRPr lang="en-US" dirty="0"/>
          </a:p>
          <a:p>
            <a:endParaRPr lang="en-IN" dirty="0"/>
          </a:p>
        </p:txBody>
      </p:sp>
    </p:spTree>
    <p:extLst>
      <p:ext uri="{BB962C8B-B14F-4D97-AF65-F5344CB8AC3E}">
        <p14:creationId xmlns:p14="http://schemas.microsoft.com/office/powerpoint/2010/main" val="2630128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8F16E-938E-A7DF-8BDD-E13A2B4CA0B3}"/>
              </a:ext>
            </a:extLst>
          </p:cNvPr>
          <p:cNvSpPr>
            <a:spLocks noGrp="1"/>
          </p:cNvSpPr>
          <p:nvPr>
            <p:ph type="title"/>
          </p:nvPr>
        </p:nvSpPr>
        <p:spPr>
          <a:xfrm>
            <a:off x="838200" y="365126"/>
            <a:ext cx="10515600" cy="728384"/>
          </a:xfrm>
        </p:spPr>
        <p:txBody>
          <a:bodyPr>
            <a:normAutofit fontScale="90000"/>
          </a:bodyPr>
          <a:lstStyle/>
          <a:p>
            <a:br>
              <a:rPr lang="en-US" dirty="0"/>
            </a:br>
            <a:r>
              <a:rPr lang="en-US" dirty="0"/>
              <a:t>Computing in the electrical era</a:t>
            </a:r>
            <a:br>
              <a:rPr lang="en-IN" dirty="0"/>
            </a:br>
            <a:endParaRPr lang="en-IN" dirty="0"/>
          </a:p>
        </p:txBody>
      </p:sp>
      <p:sp>
        <p:nvSpPr>
          <p:cNvPr id="3" name="Content Placeholder 2">
            <a:extLst>
              <a:ext uri="{FF2B5EF4-FFF2-40B4-BE49-F238E27FC236}">
                <a16:creationId xmlns:a16="http://schemas.microsoft.com/office/drawing/2014/main" id="{212E2849-71D6-D80D-953E-59DD7674798C}"/>
              </a:ext>
            </a:extLst>
          </p:cNvPr>
          <p:cNvSpPr>
            <a:spLocks noGrp="1"/>
          </p:cNvSpPr>
          <p:nvPr>
            <p:ph idx="1"/>
          </p:nvPr>
        </p:nvSpPr>
        <p:spPr>
          <a:xfrm>
            <a:off x="838200" y="1093510"/>
            <a:ext cx="10515600" cy="5083453"/>
          </a:xfrm>
        </p:spPr>
        <p:txBody>
          <a:bodyPr>
            <a:normAutofit/>
          </a:bodyPr>
          <a:lstStyle/>
          <a:p>
            <a:r>
              <a:rPr lang="en-US" dirty="0"/>
              <a:t>Though desktop computers were available from 1975 onwards, none could gain as much popularity as the IBM PC. </a:t>
            </a:r>
          </a:p>
          <a:p>
            <a:r>
              <a:rPr lang="en-US" dirty="0"/>
              <a:t>In 1981, IBM used the 8088 microprocessor in the personal computer. The 80286 16-bit microprocessor came in 1983 as an updated version of 8086. The 32-bit microprocessor 80386 arrived in 1986 and the 80486 arrived in 1989. </a:t>
            </a:r>
          </a:p>
          <a:p>
            <a:r>
              <a:rPr lang="en-US" dirty="0"/>
              <a:t>With the introduction of the Pentium in 1993, a highly improved personal computer was available at an affordable price.</a:t>
            </a:r>
          </a:p>
          <a:p>
            <a:r>
              <a:rPr lang="en-US" dirty="0"/>
              <a:t>In the 1950s, Assembly language was developed for UNIVAC computers. In 1957, IBM developed FORTRAN language. Then in the years that followed came programming languages such as </a:t>
            </a:r>
            <a:r>
              <a:rPr lang="en-US" dirty="0" err="1"/>
              <a:t>algol</a:t>
            </a:r>
            <a:r>
              <a:rPr lang="en-US" dirty="0"/>
              <a:t>, </a:t>
            </a:r>
            <a:r>
              <a:rPr lang="en-US" dirty="0" err="1"/>
              <a:t>cobol</a:t>
            </a:r>
            <a:r>
              <a:rPr lang="en-US" dirty="0"/>
              <a:t>, basic, pascal, c/</a:t>
            </a:r>
            <a:r>
              <a:rPr lang="en-US" dirty="0" err="1"/>
              <a:t>c++</a:t>
            </a:r>
            <a:r>
              <a:rPr lang="en-US" dirty="0"/>
              <a:t>, </a:t>
            </a:r>
            <a:r>
              <a:rPr lang="en-US" dirty="0" err="1"/>
              <a:t>ada</a:t>
            </a:r>
            <a:r>
              <a:rPr lang="en-US" dirty="0"/>
              <a:t>, and java.</a:t>
            </a:r>
            <a:endParaRPr lang="en-IN" dirty="0"/>
          </a:p>
        </p:txBody>
      </p:sp>
    </p:spTree>
    <p:extLst>
      <p:ext uri="{BB962C8B-B14F-4D97-AF65-F5344CB8AC3E}">
        <p14:creationId xmlns:p14="http://schemas.microsoft.com/office/powerpoint/2010/main" val="2197745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8F724-9108-F3BA-8DBA-A949D247C48B}"/>
              </a:ext>
            </a:extLst>
          </p:cNvPr>
          <p:cNvSpPr>
            <a:spLocks noGrp="1"/>
          </p:cNvSpPr>
          <p:nvPr>
            <p:ph type="title"/>
          </p:nvPr>
        </p:nvSpPr>
        <p:spPr/>
        <p:txBody>
          <a:bodyPr/>
          <a:lstStyle/>
          <a:p>
            <a:r>
              <a:rPr lang="en-IN" dirty="0"/>
              <a:t>Classification of Computers</a:t>
            </a:r>
          </a:p>
        </p:txBody>
      </p:sp>
      <p:sp>
        <p:nvSpPr>
          <p:cNvPr id="3" name="Content Placeholder 2">
            <a:extLst>
              <a:ext uri="{FF2B5EF4-FFF2-40B4-BE49-F238E27FC236}">
                <a16:creationId xmlns:a16="http://schemas.microsoft.com/office/drawing/2014/main" id="{1A666428-2F5B-066D-E1A9-892B9797DDE8}"/>
              </a:ext>
            </a:extLst>
          </p:cNvPr>
          <p:cNvSpPr>
            <a:spLocks noGrp="1"/>
          </p:cNvSpPr>
          <p:nvPr>
            <p:ph idx="1"/>
          </p:nvPr>
        </p:nvSpPr>
        <p:spPr/>
        <p:txBody>
          <a:bodyPr/>
          <a:lstStyle/>
          <a:p>
            <a:r>
              <a:rPr lang="en-IN" dirty="0"/>
              <a:t>Supercomputer</a:t>
            </a:r>
          </a:p>
          <a:p>
            <a:r>
              <a:rPr lang="en-IN" dirty="0"/>
              <a:t>Mainframe</a:t>
            </a:r>
          </a:p>
          <a:p>
            <a:r>
              <a:rPr lang="en-IN" dirty="0"/>
              <a:t>Mini computer</a:t>
            </a:r>
          </a:p>
          <a:p>
            <a:r>
              <a:rPr lang="en-IN" dirty="0"/>
              <a:t>Micro computer</a:t>
            </a:r>
          </a:p>
          <a:p>
            <a:r>
              <a:rPr lang="en-IN" dirty="0"/>
              <a:t>Desktop Computer</a:t>
            </a:r>
          </a:p>
          <a:p>
            <a:r>
              <a:rPr lang="en-IN" dirty="0"/>
              <a:t>Laptop</a:t>
            </a:r>
          </a:p>
          <a:p>
            <a:r>
              <a:rPr lang="en-IN" dirty="0"/>
              <a:t>Palmtop / PDA</a:t>
            </a:r>
          </a:p>
        </p:txBody>
      </p:sp>
    </p:spTree>
    <p:extLst>
      <p:ext uri="{BB962C8B-B14F-4D97-AF65-F5344CB8AC3E}">
        <p14:creationId xmlns:p14="http://schemas.microsoft.com/office/powerpoint/2010/main" val="4174770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117C7-7BB0-F8F8-9AFD-AEBA11D1AA60}"/>
              </a:ext>
            </a:extLst>
          </p:cNvPr>
          <p:cNvSpPr>
            <a:spLocks noGrp="1"/>
          </p:cNvSpPr>
          <p:nvPr>
            <p:ph type="title"/>
          </p:nvPr>
        </p:nvSpPr>
        <p:spPr>
          <a:xfrm>
            <a:off x="838200" y="365126"/>
            <a:ext cx="10515600" cy="652970"/>
          </a:xfrm>
        </p:spPr>
        <p:txBody>
          <a:bodyPr>
            <a:normAutofit fontScale="90000"/>
          </a:bodyPr>
          <a:lstStyle/>
          <a:p>
            <a:r>
              <a:rPr lang="en-IN" dirty="0"/>
              <a:t>Supercomputer (PARAM 8000- 1991)</a:t>
            </a:r>
          </a:p>
        </p:txBody>
      </p:sp>
      <p:sp>
        <p:nvSpPr>
          <p:cNvPr id="3" name="Content Placeholder 2">
            <a:extLst>
              <a:ext uri="{FF2B5EF4-FFF2-40B4-BE49-F238E27FC236}">
                <a16:creationId xmlns:a16="http://schemas.microsoft.com/office/drawing/2014/main" id="{0FED54A6-C465-00EA-0F68-19B2ABAA8D93}"/>
              </a:ext>
            </a:extLst>
          </p:cNvPr>
          <p:cNvSpPr>
            <a:spLocks noGrp="1"/>
          </p:cNvSpPr>
          <p:nvPr>
            <p:ph sz="half" idx="1"/>
          </p:nvPr>
        </p:nvSpPr>
        <p:spPr>
          <a:xfrm>
            <a:off x="838200" y="1102936"/>
            <a:ext cx="5181600" cy="5074027"/>
          </a:xfrm>
        </p:spPr>
        <p:txBody>
          <a:bodyPr>
            <a:normAutofit/>
          </a:bodyPr>
          <a:lstStyle/>
          <a:p>
            <a:pPr algn="just"/>
            <a:r>
              <a:rPr lang="en-US" dirty="0"/>
              <a:t>Supercomputer is the most expensive and fastest type of computer that performs at or near the currently highest operational rate for computers. These are employed for specialized applications that require immense amounts of mathematical calculations such as weather forecasting, nuclear energy research, and petroleum exploration etc.</a:t>
            </a:r>
          </a:p>
          <a:p>
            <a:endParaRPr lang="en-IN" dirty="0"/>
          </a:p>
        </p:txBody>
      </p:sp>
      <p:sp>
        <p:nvSpPr>
          <p:cNvPr id="6" name="Content Placeholder 5">
            <a:extLst>
              <a:ext uri="{FF2B5EF4-FFF2-40B4-BE49-F238E27FC236}">
                <a16:creationId xmlns:a16="http://schemas.microsoft.com/office/drawing/2014/main" id="{CE2EC064-7C2E-B9CA-6CD9-8BA8C30F852C}"/>
              </a:ext>
            </a:extLst>
          </p:cNvPr>
          <p:cNvSpPr>
            <a:spLocks noGrp="1"/>
          </p:cNvSpPr>
          <p:nvPr>
            <p:ph sz="half" idx="2"/>
          </p:nvPr>
        </p:nvSpPr>
        <p:spPr/>
        <p:txBody>
          <a:bodyPr>
            <a:normAutofit/>
          </a:bodyPr>
          <a:lstStyle/>
          <a:p>
            <a:endParaRPr lang="en-IN"/>
          </a:p>
        </p:txBody>
      </p:sp>
      <p:pic>
        <p:nvPicPr>
          <p:cNvPr id="5" name="Picture 4">
            <a:extLst>
              <a:ext uri="{FF2B5EF4-FFF2-40B4-BE49-F238E27FC236}">
                <a16:creationId xmlns:a16="http://schemas.microsoft.com/office/drawing/2014/main" id="{17115A20-6FB5-CC48-1D56-2F66F19A1BCE}"/>
              </a:ext>
            </a:extLst>
          </p:cNvPr>
          <p:cNvPicPr>
            <a:picLocks noChangeAspect="1"/>
          </p:cNvPicPr>
          <p:nvPr/>
        </p:nvPicPr>
        <p:blipFill>
          <a:blip r:embed="rId2"/>
          <a:stretch>
            <a:fillRect/>
          </a:stretch>
        </p:blipFill>
        <p:spPr>
          <a:xfrm>
            <a:off x="6172199" y="1018096"/>
            <a:ext cx="5181599" cy="4912928"/>
          </a:xfrm>
          <a:prstGeom prst="rect">
            <a:avLst/>
          </a:prstGeom>
        </p:spPr>
      </p:pic>
    </p:spTree>
    <p:extLst>
      <p:ext uri="{BB962C8B-B14F-4D97-AF65-F5344CB8AC3E}">
        <p14:creationId xmlns:p14="http://schemas.microsoft.com/office/powerpoint/2010/main" val="2796895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80988-9BC9-DB4C-1524-F4A458AB0D8E}"/>
              </a:ext>
            </a:extLst>
          </p:cNvPr>
          <p:cNvSpPr>
            <a:spLocks noGrp="1"/>
          </p:cNvSpPr>
          <p:nvPr>
            <p:ph type="title"/>
          </p:nvPr>
        </p:nvSpPr>
        <p:spPr>
          <a:xfrm>
            <a:off x="838200" y="365125"/>
            <a:ext cx="10515600" cy="737811"/>
          </a:xfrm>
        </p:spPr>
        <p:txBody>
          <a:bodyPr/>
          <a:lstStyle/>
          <a:p>
            <a:r>
              <a:rPr lang="en-IN" dirty="0"/>
              <a:t>Mainframe Computer</a:t>
            </a:r>
          </a:p>
        </p:txBody>
      </p:sp>
      <p:sp>
        <p:nvSpPr>
          <p:cNvPr id="3" name="Content Placeholder 2">
            <a:extLst>
              <a:ext uri="{FF2B5EF4-FFF2-40B4-BE49-F238E27FC236}">
                <a16:creationId xmlns:a16="http://schemas.microsoft.com/office/drawing/2014/main" id="{7ED695E0-0659-6C09-B010-49D790281B6F}"/>
              </a:ext>
            </a:extLst>
          </p:cNvPr>
          <p:cNvSpPr>
            <a:spLocks noGrp="1"/>
          </p:cNvSpPr>
          <p:nvPr>
            <p:ph sz="half" idx="1"/>
          </p:nvPr>
        </p:nvSpPr>
        <p:spPr>
          <a:xfrm>
            <a:off x="838200" y="1329179"/>
            <a:ext cx="5181600" cy="4847784"/>
          </a:xfrm>
        </p:spPr>
        <p:txBody>
          <a:bodyPr>
            <a:normAutofit fontScale="77500" lnSpcReduction="20000"/>
          </a:bodyPr>
          <a:lstStyle/>
          <a:p>
            <a:pPr algn="just"/>
            <a:r>
              <a:rPr lang="en-US" dirty="0"/>
              <a:t>A mainframe computer supports a vast number of users to work simultaneously and remotely. </a:t>
            </a:r>
          </a:p>
          <a:p>
            <a:pPr algn="just"/>
            <a:r>
              <a:rPr lang="en-US" dirty="0"/>
              <a:t>Apart from providing multi-user facility, it can process large amounts of data at very high speeds and support many input, output and auxiliary storage devices.</a:t>
            </a:r>
          </a:p>
          <a:p>
            <a:pPr algn="just"/>
            <a:r>
              <a:rPr lang="en-US" dirty="0"/>
              <a:t> These computers are very large in size, and expensive. </a:t>
            </a:r>
          </a:p>
          <a:p>
            <a:pPr algn="just"/>
            <a:r>
              <a:rPr lang="en-US" dirty="0"/>
              <a:t>The main difference between a supercomputer and a mainframe is that a supercomputer can execute a single program faster than a mainframe, whereas a mainframe uses its power to execute many programs concurrently. </a:t>
            </a:r>
          </a:p>
          <a:p>
            <a:pPr algn="just"/>
            <a:r>
              <a:rPr lang="en-US" dirty="0"/>
              <a:t>The IBM 370 and IBM 3090 are examples of mainframe computers.</a:t>
            </a:r>
            <a:endParaRPr lang="en-IN" dirty="0"/>
          </a:p>
        </p:txBody>
      </p:sp>
      <p:pic>
        <p:nvPicPr>
          <p:cNvPr id="6" name="Content Placeholder 5">
            <a:extLst>
              <a:ext uri="{FF2B5EF4-FFF2-40B4-BE49-F238E27FC236}">
                <a16:creationId xmlns:a16="http://schemas.microsoft.com/office/drawing/2014/main" id="{1CC3894F-C56A-82B1-8A19-C4B3DD83D070}"/>
              </a:ext>
            </a:extLst>
          </p:cNvPr>
          <p:cNvPicPr>
            <a:picLocks noGrp="1" noChangeAspect="1"/>
          </p:cNvPicPr>
          <p:nvPr>
            <p:ph sz="half" idx="2"/>
          </p:nvPr>
        </p:nvPicPr>
        <p:blipFill>
          <a:blip r:embed="rId2"/>
          <a:stretch>
            <a:fillRect/>
          </a:stretch>
        </p:blipFill>
        <p:spPr>
          <a:xfrm>
            <a:off x="6172200" y="1329179"/>
            <a:ext cx="5181600" cy="4270343"/>
          </a:xfrm>
        </p:spPr>
      </p:pic>
    </p:spTree>
    <p:extLst>
      <p:ext uri="{BB962C8B-B14F-4D97-AF65-F5344CB8AC3E}">
        <p14:creationId xmlns:p14="http://schemas.microsoft.com/office/powerpoint/2010/main" val="2908084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D24A0-316D-2AE6-359E-5ED4035A57FC}"/>
              </a:ext>
            </a:extLst>
          </p:cNvPr>
          <p:cNvSpPr>
            <a:spLocks noGrp="1"/>
          </p:cNvSpPr>
          <p:nvPr>
            <p:ph type="title"/>
          </p:nvPr>
        </p:nvSpPr>
        <p:spPr/>
        <p:txBody>
          <a:bodyPr/>
          <a:lstStyle/>
          <a:p>
            <a:r>
              <a:rPr lang="en-IN" dirty="0"/>
              <a:t>Mini Computer</a:t>
            </a:r>
          </a:p>
        </p:txBody>
      </p:sp>
      <p:sp>
        <p:nvSpPr>
          <p:cNvPr id="3" name="Content Placeholder 2">
            <a:extLst>
              <a:ext uri="{FF2B5EF4-FFF2-40B4-BE49-F238E27FC236}">
                <a16:creationId xmlns:a16="http://schemas.microsoft.com/office/drawing/2014/main" id="{39CB415E-BEC5-7BE4-F356-4070137DE389}"/>
              </a:ext>
            </a:extLst>
          </p:cNvPr>
          <p:cNvSpPr>
            <a:spLocks noGrp="1"/>
          </p:cNvSpPr>
          <p:nvPr>
            <p:ph sz="half" idx="1"/>
          </p:nvPr>
        </p:nvSpPr>
        <p:spPr/>
        <p:txBody>
          <a:bodyPr/>
          <a:lstStyle/>
          <a:p>
            <a:pPr algn="just"/>
            <a:r>
              <a:rPr lang="en-US" dirty="0"/>
              <a:t>A minicomputer is powerful enough to be used by multiple users (between 10 to 100) but is smaller in size and memory capacity and cheaper than mainframes. Two classic examples were the Digital Equipment Corporation VAX and the IBM AS/400. </a:t>
            </a:r>
            <a:endParaRPr lang="en-IN" dirty="0"/>
          </a:p>
        </p:txBody>
      </p:sp>
      <p:pic>
        <p:nvPicPr>
          <p:cNvPr id="12" name="Content Placeholder 11">
            <a:extLst>
              <a:ext uri="{FF2B5EF4-FFF2-40B4-BE49-F238E27FC236}">
                <a16:creationId xmlns:a16="http://schemas.microsoft.com/office/drawing/2014/main" id="{5BBB466E-C067-8DA7-A311-91DE24DD932C}"/>
              </a:ext>
            </a:extLst>
          </p:cNvPr>
          <p:cNvPicPr>
            <a:picLocks noGrp="1" noChangeAspect="1"/>
          </p:cNvPicPr>
          <p:nvPr>
            <p:ph sz="half" idx="2"/>
          </p:nvPr>
        </p:nvPicPr>
        <p:blipFill>
          <a:blip r:embed="rId2"/>
          <a:stretch>
            <a:fillRect/>
          </a:stretch>
        </p:blipFill>
        <p:spPr>
          <a:xfrm>
            <a:off x="6542202" y="1690689"/>
            <a:ext cx="4411744" cy="4276736"/>
          </a:xfrm>
        </p:spPr>
      </p:pic>
    </p:spTree>
    <p:extLst>
      <p:ext uri="{BB962C8B-B14F-4D97-AF65-F5344CB8AC3E}">
        <p14:creationId xmlns:p14="http://schemas.microsoft.com/office/powerpoint/2010/main" val="839156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37E0A-CE59-7856-6B24-E5DC9AA9177D}"/>
              </a:ext>
            </a:extLst>
          </p:cNvPr>
          <p:cNvSpPr>
            <a:spLocks noGrp="1"/>
          </p:cNvSpPr>
          <p:nvPr>
            <p:ph type="title"/>
          </p:nvPr>
        </p:nvSpPr>
        <p:spPr/>
        <p:txBody>
          <a:bodyPr/>
          <a:lstStyle/>
          <a:p>
            <a:r>
              <a:rPr lang="en-IN" dirty="0"/>
              <a:t>Anatomy of Computer</a:t>
            </a:r>
          </a:p>
        </p:txBody>
      </p:sp>
      <p:sp>
        <p:nvSpPr>
          <p:cNvPr id="3" name="Content Placeholder 2">
            <a:extLst>
              <a:ext uri="{FF2B5EF4-FFF2-40B4-BE49-F238E27FC236}">
                <a16:creationId xmlns:a16="http://schemas.microsoft.com/office/drawing/2014/main" id="{85A22CAB-3A51-CCF6-D0D4-66DD932BEDFC}"/>
              </a:ext>
            </a:extLst>
          </p:cNvPr>
          <p:cNvSpPr>
            <a:spLocks noGrp="1"/>
          </p:cNvSpPr>
          <p:nvPr>
            <p:ph idx="1"/>
          </p:nvPr>
        </p:nvSpPr>
        <p:spPr/>
        <p:txBody>
          <a:bodyPr/>
          <a:lstStyle/>
          <a:p>
            <a:r>
              <a:rPr lang="en-IN" dirty="0"/>
              <a:t>Hardware</a:t>
            </a:r>
          </a:p>
          <a:p>
            <a:pPr lvl="1"/>
            <a:r>
              <a:rPr lang="en-IN" dirty="0"/>
              <a:t>Input / Output devices</a:t>
            </a:r>
          </a:p>
          <a:p>
            <a:pPr lvl="1"/>
            <a:r>
              <a:rPr lang="en-IN" dirty="0"/>
              <a:t>Central Processing Unit</a:t>
            </a:r>
          </a:p>
          <a:p>
            <a:pPr lvl="1"/>
            <a:r>
              <a:rPr lang="en-IN" dirty="0"/>
              <a:t>Memory and storage devices</a:t>
            </a:r>
          </a:p>
          <a:p>
            <a:pPr lvl="1"/>
            <a:r>
              <a:rPr lang="en-IN" dirty="0"/>
              <a:t>Interface units</a:t>
            </a:r>
          </a:p>
          <a:p>
            <a:pPr marL="457200" lvl="1" indent="0">
              <a:buNone/>
            </a:pPr>
            <a:endParaRPr lang="en-IN" dirty="0"/>
          </a:p>
          <a:p>
            <a:r>
              <a:rPr lang="en-IN" dirty="0"/>
              <a:t>Software</a:t>
            </a:r>
          </a:p>
        </p:txBody>
      </p:sp>
    </p:spTree>
    <p:extLst>
      <p:ext uri="{BB962C8B-B14F-4D97-AF65-F5344CB8AC3E}">
        <p14:creationId xmlns:p14="http://schemas.microsoft.com/office/powerpoint/2010/main" val="1825112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ACFFB-AB7E-1BF8-8F9F-997CBAB605BE}"/>
              </a:ext>
            </a:extLst>
          </p:cNvPr>
          <p:cNvSpPr>
            <a:spLocks noGrp="1"/>
          </p:cNvSpPr>
          <p:nvPr>
            <p:ph type="title"/>
          </p:nvPr>
        </p:nvSpPr>
        <p:spPr/>
        <p:txBody>
          <a:bodyPr/>
          <a:lstStyle/>
          <a:p>
            <a:r>
              <a:rPr lang="en-IN" dirty="0"/>
              <a:t>Input / Output Devices</a:t>
            </a:r>
          </a:p>
        </p:txBody>
      </p:sp>
      <p:sp>
        <p:nvSpPr>
          <p:cNvPr id="3" name="Content Placeholder 2">
            <a:extLst>
              <a:ext uri="{FF2B5EF4-FFF2-40B4-BE49-F238E27FC236}">
                <a16:creationId xmlns:a16="http://schemas.microsoft.com/office/drawing/2014/main" id="{41EBE439-62FE-23ED-6486-C4A3EF332AE8}"/>
              </a:ext>
            </a:extLst>
          </p:cNvPr>
          <p:cNvSpPr>
            <a:spLocks noGrp="1"/>
          </p:cNvSpPr>
          <p:nvPr>
            <p:ph idx="1"/>
          </p:nvPr>
        </p:nvSpPr>
        <p:spPr/>
        <p:txBody>
          <a:bodyPr/>
          <a:lstStyle/>
          <a:p>
            <a:r>
              <a:rPr lang="en-IN" dirty="0"/>
              <a:t>Keyboard</a:t>
            </a:r>
          </a:p>
          <a:p>
            <a:r>
              <a:rPr lang="en-IN" dirty="0"/>
              <a:t>Mouse</a:t>
            </a:r>
          </a:p>
          <a:p>
            <a:r>
              <a:rPr lang="en-IN" dirty="0"/>
              <a:t>Scanner</a:t>
            </a:r>
          </a:p>
          <a:p>
            <a:r>
              <a:rPr lang="en-IN" dirty="0"/>
              <a:t>Monitor</a:t>
            </a:r>
          </a:p>
          <a:p>
            <a:r>
              <a:rPr lang="en-IN" dirty="0"/>
              <a:t>Printer</a:t>
            </a:r>
          </a:p>
          <a:p>
            <a:endParaRPr lang="en-IN" dirty="0"/>
          </a:p>
        </p:txBody>
      </p:sp>
    </p:spTree>
    <p:extLst>
      <p:ext uri="{BB962C8B-B14F-4D97-AF65-F5344CB8AC3E}">
        <p14:creationId xmlns:p14="http://schemas.microsoft.com/office/powerpoint/2010/main" val="38169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D7FAC-C76F-B74F-8C4D-51152A10C334}"/>
              </a:ext>
            </a:extLst>
          </p:cNvPr>
          <p:cNvSpPr>
            <a:spLocks noGrp="1"/>
          </p:cNvSpPr>
          <p:nvPr>
            <p:ph type="title"/>
          </p:nvPr>
        </p:nvSpPr>
        <p:spPr>
          <a:xfrm>
            <a:off x="838200" y="365126"/>
            <a:ext cx="10515600" cy="728384"/>
          </a:xfrm>
        </p:spPr>
        <p:txBody>
          <a:bodyPr/>
          <a:lstStyle/>
          <a:p>
            <a:r>
              <a:rPr lang="en-IN" dirty="0"/>
              <a:t>Central Processing Unit</a:t>
            </a:r>
          </a:p>
        </p:txBody>
      </p:sp>
      <p:sp>
        <p:nvSpPr>
          <p:cNvPr id="3" name="Content Placeholder 2">
            <a:extLst>
              <a:ext uri="{FF2B5EF4-FFF2-40B4-BE49-F238E27FC236}">
                <a16:creationId xmlns:a16="http://schemas.microsoft.com/office/drawing/2014/main" id="{A37BF9C1-6430-5EEC-3C40-B6E16C5C5233}"/>
              </a:ext>
            </a:extLst>
          </p:cNvPr>
          <p:cNvSpPr>
            <a:spLocks noGrp="1"/>
          </p:cNvSpPr>
          <p:nvPr>
            <p:ph idx="1"/>
          </p:nvPr>
        </p:nvSpPr>
        <p:spPr>
          <a:xfrm>
            <a:off x="838200" y="1093510"/>
            <a:ext cx="10515600" cy="5083453"/>
          </a:xfrm>
        </p:spPr>
        <p:txBody>
          <a:bodyPr>
            <a:normAutofit/>
          </a:bodyPr>
          <a:lstStyle/>
          <a:p>
            <a:r>
              <a:rPr lang="en-IN" dirty="0"/>
              <a:t>Registers (GPR, SPR)</a:t>
            </a:r>
          </a:p>
          <a:p>
            <a:pPr lvl="1"/>
            <a:r>
              <a:rPr lang="en-US" dirty="0"/>
              <a:t>These are high-speed storage devices. In most CPUs, some registers are reserved for special purposes. Ex: the Instruction Register (IR) holds the current instruction being executed. The Program Counter (PC) is a register that holds the address of the next instruction to be executed. </a:t>
            </a:r>
            <a:endParaRPr lang="en-IN" dirty="0"/>
          </a:p>
          <a:p>
            <a:r>
              <a:rPr lang="en-IN" dirty="0"/>
              <a:t>Arithmetic logic unit</a:t>
            </a:r>
          </a:p>
          <a:p>
            <a:pPr lvl="1"/>
            <a:r>
              <a:rPr lang="en-US" dirty="0"/>
              <a:t>is the part of the CPU that performs arithmetic operations, such as addition and subtraction as well as logical operations, such as comparing two numbers to see if they are the equal or greater or less.</a:t>
            </a:r>
            <a:endParaRPr lang="en-IN" dirty="0"/>
          </a:p>
          <a:p>
            <a:r>
              <a:rPr lang="en-IN" dirty="0"/>
              <a:t>Control unit</a:t>
            </a:r>
          </a:p>
          <a:p>
            <a:pPr lvl="1"/>
            <a:r>
              <a:rPr lang="en-US" dirty="0"/>
              <a:t>he control unit coordinates the processing by controlling the transfer of data and instructions between main memory and the registers in the CPU.</a:t>
            </a:r>
            <a:endParaRPr lang="en-IN" dirty="0"/>
          </a:p>
        </p:txBody>
      </p:sp>
    </p:spTree>
    <p:extLst>
      <p:ext uri="{BB962C8B-B14F-4D97-AF65-F5344CB8AC3E}">
        <p14:creationId xmlns:p14="http://schemas.microsoft.com/office/powerpoint/2010/main" val="2029045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65669-EC69-B782-A22B-992A3A2A85E0}"/>
              </a:ext>
            </a:extLst>
          </p:cNvPr>
          <p:cNvSpPr>
            <a:spLocks noGrp="1"/>
          </p:cNvSpPr>
          <p:nvPr>
            <p:ph type="title"/>
          </p:nvPr>
        </p:nvSpPr>
        <p:spPr/>
        <p:txBody>
          <a:bodyPr/>
          <a:lstStyle/>
          <a:p>
            <a:r>
              <a:rPr lang="en-IN" dirty="0"/>
              <a:t>Memory Unit</a:t>
            </a:r>
          </a:p>
        </p:txBody>
      </p:sp>
      <p:sp>
        <p:nvSpPr>
          <p:cNvPr id="3" name="Content Placeholder 2">
            <a:extLst>
              <a:ext uri="{FF2B5EF4-FFF2-40B4-BE49-F238E27FC236}">
                <a16:creationId xmlns:a16="http://schemas.microsoft.com/office/drawing/2014/main" id="{AF022183-3AE6-28F4-8C6C-E9F7ACAA2D78}"/>
              </a:ext>
            </a:extLst>
          </p:cNvPr>
          <p:cNvSpPr>
            <a:spLocks noGrp="1"/>
          </p:cNvSpPr>
          <p:nvPr>
            <p:ph idx="1"/>
          </p:nvPr>
        </p:nvSpPr>
        <p:spPr/>
        <p:txBody>
          <a:bodyPr>
            <a:normAutofit lnSpcReduction="10000"/>
          </a:bodyPr>
          <a:lstStyle/>
          <a:p>
            <a:r>
              <a:rPr lang="en-IN" dirty="0"/>
              <a:t>Primary memory</a:t>
            </a:r>
          </a:p>
          <a:p>
            <a:pPr lvl="1" algn="just"/>
            <a:r>
              <a:rPr lang="en-US" dirty="0"/>
              <a:t>Primary memory is the area where data and programs are stored while the program is being executed along with the data. This memory space, also known as main memory, forms the working area of the program. This memory is accessed directly by the processor. Ex: RAM, ROM, Cache etc.</a:t>
            </a:r>
            <a:endParaRPr lang="en-IN" dirty="0"/>
          </a:p>
          <a:p>
            <a:r>
              <a:rPr lang="en-IN" dirty="0"/>
              <a:t>Secondary memory</a:t>
            </a:r>
          </a:p>
          <a:p>
            <a:pPr lvl="1"/>
            <a:r>
              <a:rPr lang="en-US" dirty="0"/>
              <a:t>Secondary memory provides large, non-volatile, and inexpensive storage for programs and data. However, the access time in secondary memory is much larger than in primary memory. Secondary storage permits the storage of computer instructions and data for long periods of time. Moreover, secondary memory, which is also known as auxiliary memory, stores a huge number of data bytes at a lesser cost than primary memory devices. Ex: Floppy Disk, CDROM, HDD etc.</a:t>
            </a:r>
            <a:endParaRPr lang="en-IN" dirty="0"/>
          </a:p>
        </p:txBody>
      </p:sp>
    </p:spTree>
    <p:extLst>
      <p:ext uri="{BB962C8B-B14F-4D97-AF65-F5344CB8AC3E}">
        <p14:creationId xmlns:p14="http://schemas.microsoft.com/office/powerpoint/2010/main" val="2970019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DF86C7-7FAE-39C1-0D36-3C55523C64AE}"/>
              </a:ext>
            </a:extLst>
          </p:cNvPr>
          <p:cNvSpPr>
            <a:spLocks noGrp="1"/>
          </p:cNvSpPr>
          <p:nvPr>
            <p:ph type="title"/>
          </p:nvPr>
        </p:nvSpPr>
        <p:spPr>
          <a:xfrm>
            <a:off x="838200" y="365125"/>
            <a:ext cx="10515600" cy="973481"/>
          </a:xfrm>
        </p:spPr>
        <p:txBody>
          <a:bodyPr/>
          <a:lstStyle/>
          <a:p>
            <a:r>
              <a:rPr lang="en-IN" dirty="0"/>
              <a:t>Memory Hierarchy ( Size vs cost)</a:t>
            </a:r>
          </a:p>
        </p:txBody>
      </p:sp>
      <p:pic>
        <p:nvPicPr>
          <p:cNvPr id="8" name="Content Placeholder 7">
            <a:extLst>
              <a:ext uri="{FF2B5EF4-FFF2-40B4-BE49-F238E27FC236}">
                <a16:creationId xmlns:a16="http://schemas.microsoft.com/office/drawing/2014/main" id="{ECAC9C94-B292-DE74-6661-3AD925B4BE32}"/>
              </a:ext>
            </a:extLst>
          </p:cNvPr>
          <p:cNvPicPr>
            <a:picLocks noGrp="1" noChangeAspect="1"/>
          </p:cNvPicPr>
          <p:nvPr>
            <p:ph sz="half" idx="1"/>
          </p:nvPr>
        </p:nvPicPr>
        <p:blipFill>
          <a:blip r:embed="rId2"/>
          <a:stretch>
            <a:fillRect/>
          </a:stretch>
        </p:blipFill>
        <p:spPr>
          <a:xfrm>
            <a:off x="836650" y="1825625"/>
            <a:ext cx="5408437" cy="4351338"/>
          </a:xfrm>
        </p:spPr>
      </p:pic>
      <p:pic>
        <p:nvPicPr>
          <p:cNvPr id="10" name="Content Placeholder 9">
            <a:extLst>
              <a:ext uri="{FF2B5EF4-FFF2-40B4-BE49-F238E27FC236}">
                <a16:creationId xmlns:a16="http://schemas.microsoft.com/office/drawing/2014/main" id="{DC148CC7-AC2D-AA8E-CAB3-E127DE9A0332}"/>
              </a:ext>
            </a:extLst>
          </p:cNvPr>
          <p:cNvPicPr>
            <a:picLocks noGrp="1" noChangeAspect="1"/>
          </p:cNvPicPr>
          <p:nvPr>
            <p:ph sz="half" idx="2"/>
          </p:nvPr>
        </p:nvPicPr>
        <p:blipFill>
          <a:blip r:embed="rId3"/>
          <a:stretch>
            <a:fillRect/>
          </a:stretch>
        </p:blipFill>
        <p:spPr>
          <a:xfrm>
            <a:off x="6353666" y="1690689"/>
            <a:ext cx="5572493" cy="4486274"/>
          </a:xfrm>
        </p:spPr>
      </p:pic>
    </p:spTree>
    <p:extLst>
      <p:ext uri="{BB962C8B-B14F-4D97-AF65-F5344CB8AC3E}">
        <p14:creationId xmlns:p14="http://schemas.microsoft.com/office/powerpoint/2010/main" val="2999550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10207-7B4A-CF92-2978-35B01E1B577D}"/>
              </a:ext>
            </a:extLst>
          </p:cNvPr>
          <p:cNvSpPr>
            <a:spLocks noGrp="1"/>
          </p:cNvSpPr>
          <p:nvPr>
            <p:ph type="title"/>
          </p:nvPr>
        </p:nvSpPr>
        <p:spPr/>
        <p:txBody>
          <a:bodyPr/>
          <a:lstStyle/>
          <a:p>
            <a:r>
              <a:rPr lang="en-IN" dirty="0"/>
              <a:t>Interface Unit</a:t>
            </a:r>
          </a:p>
        </p:txBody>
      </p:sp>
      <p:sp>
        <p:nvSpPr>
          <p:cNvPr id="3" name="Content Placeholder 2">
            <a:extLst>
              <a:ext uri="{FF2B5EF4-FFF2-40B4-BE49-F238E27FC236}">
                <a16:creationId xmlns:a16="http://schemas.microsoft.com/office/drawing/2014/main" id="{55F4A71A-146C-16D6-7945-3EF8FC26A3AB}"/>
              </a:ext>
            </a:extLst>
          </p:cNvPr>
          <p:cNvSpPr>
            <a:spLocks noGrp="1"/>
          </p:cNvSpPr>
          <p:nvPr>
            <p:ph idx="1"/>
          </p:nvPr>
        </p:nvSpPr>
        <p:spPr/>
        <p:txBody>
          <a:bodyPr>
            <a:normAutofit lnSpcReduction="10000"/>
          </a:bodyPr>
          <a:lstStyle/>
          <a:p>
            <a:pPr algn="just"/>
            <a:r>
              <a:rPr lang="en-US" dirty="0"/>
              <a:t>The interface unit interconnects the CPU with memory and also with the various input/output (I/O) devices. The instructions and data move between the CPU and other hardware components through interface unit.</a:t>
            </a:r>
          </a:p>
          <a:p>
            <a:pPr algn="just"/>
            <a:r>
              <a:rPr lang="en-US" dirty="0"/>
              <a:t>It is a set of parallel wires or lines which connects all the internal computer components to the CPU and main memory. Depending on the type of data transmitted, a bus can be classified into the following three types:</a:t>
            </a:r>
            <a:endParaRPr lang="en-IN" dirty="0"/>
          </a:p>
          <a:p>
            <a:pPr lvl="1"/>
            <a:r>
              <a:rPr lang="en-IN" dirty="0"/>
              <a:t>Data bus (</a:t>
            </a:r>
            <a:r>
              <a:rPr lang="en-US" dirty="0"/>
              <a:t>The bus used to carry actual data)</a:t>
            </a:r>
            <a:endParaRPr lang="en-IN" dirty="0"/>
          </a:p>
          <a:p>
            <a:pPr lvl="1"/>
            <a:r>
              <a:rPr lang="en-IN" dirty="0"/>
              <a:t>Address bus (</a:t>
            </a:r>
            <a:r>
              <a:rPr lang="en-US" dirty="0"/>
              <a:t>Addresses travel via the address bus. )</a:t>
            </a:r>
            <a:endParaRPr lang="en-IN" dirty="0"/>
          </a:p>
          <a:p>
            <a:pPr lvl="1"/>
            <a:r>
              <a:rPr lang="en-IN" dirty="0"/>
              <a:t>Control bus (</a:t>
            </a:r>
            <a:r>
              <a:rPr lang="en-US" dirty="0"/>
              <a:t>This bus carries control information between the CPU and other devices within the computer.)</a:t>
            </a:r>
            <a:endParaRPr lang="en-IN" dirty="0"/>
          </a:p>
          <a:p>
            <a:endParaRPr lang="en-IN" dirty="0"/>
          </a:p>
        </p:txBody>
      </p:sp>
    </p:spTree>
    <p:extLst>
      <p:ext uri="{BB962C8B-B14F-4D97-AF65-F5344CB8AC3E}">
        <p14:creationId xmlns:p14="http://schemas.microsoft.com/office/powerpoint/2010/main" val="4231593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7138F-A13C-8487-EA23-94B5D0018475}"/>
              </a:ext>
            </a:extLst>
          </p:cNvPr>
          <p:cNvSpPr>
            <a:spLocks noGrp="1"/>
          </p:cNvSpPr>
          <p:nvPr>
            <p:ph type="title"/>
          </p:nvPr>
        </p:nvSpPr>
        <p:spPr/>
        <p:txBody>
          <a:bodyPr/>
          <a:lstStyle/>
          <a:p>
            <a:r>
              <a:rPr lang="en-IN" dirty="0"/>
              <a:t>Software</a:t>
            </a:r>
          </a:p>
        </p:txBody>
      </p:sp>
      <p:sp>
        <p:nvSpPr>
          <p:cNvPr id="3" name="Content Placeholder 2">
            <a:extLst>
              <a:ext uri="{FF2B5EF4-FFF2-40B4-BE49-F238E27FC236}">
                <a16:creationId xmlns:a16="http://schemas.microsoft.com/office/drawing/2014/main" id="{5D243C72-6C79-3433-07AF-7D5A222F0F51}"/>
              </a:ext>
            </a:extLst>
          </p:cNvPr>
          <p:cNvSpPr>
            <a:spLocks noGrp="1"/>
          </p:cNvSpPr>
          <p:nvPr>
            <p:ph idx="1"/>
          </p:nvPr>
        </p:nvSpPr>
        <p:spPr/>
        <p:txBody>
          <a:bodyPr/>
          <a:lstStyle/>
          <a:p>
            <a:pPr algn="just"/>
            <a:r>
              <a:rPr lang="en-US" dirty="0"/>
              <a:t>Software provides the instructions that tell the hardware exactly what is to be performed and in what order. This set of instructions is sequenced and organized in a computer program. Therefore, a program is a series of instructions which is intended to direct a computer to perform certain functions and is executed by the processor.</a:t>
            </a:r>
            <a:endParaRPr lang="en-IN" dirty="0"/>
          </a:p>
          <a:p>
            <a:pPr lvl="1"/>
            <a:r>
              <a:rPr lang="en-IN" dirty="0"/>
              <a:t>System software</a:t>
            </a:r>
          </a:p>
          <a:p>
            <a:pPr lvl="1"/>
            <a:r>
              <a:rPr lang="en-IN" dirty="0"/>
              <a:t>Application software</a:t>
            </a:r>
          </a:p>
        </p:txBody>
      </p:sp>
      <p:pic>
        <p:nvPicPr>
          <p:cNvPr id="5" name="Picture 4">
            <a:extLst>
              <a:ext uri="{FF2B5EF4-FFF2-40B4-BE49-F238E27FC236}">
                <a16:creationId xmlns:a16="http://schemas.microsoft.com/office/drawing/2014/main" id="{17E5B405-8DEC-A70F-540B-7F74FE6B0E8F}"/>
              </a:ext>
            </a:extLst>
          </p:cNvPr>
          <p:cNvPicPr>
            <a:picLocks noChangeAspect="1"/>
          </p:cNvPicPr>
          <p:nvPr/>
        </p:nvPicPr>
        <p:blipFill>
          <a:blip r:embed="rId2"/>
          <a:stretch>
            <a:fillRect/>
          </a:stretch>
        </p:blipFill>
        <p:spPr>
          <a:xfrm>
            <a:off x="5587550" y="3883144"/>
            <a:ext cx="5164349" cy="2894728"/>
          </a:xfrm>
          <a:prstGeom prst="rect">
            <a:avLst/>
          </a:prstGeom>
        </p:spPr>
      </p:pic>
    </p:spTree>
    <p:extLst>
      <p:ext uri="{BB962C8B-B14F-4D97-AF65-F5344CB8AC3E}">
        <p14:creationId xmlns:p14="http://schemas.microsoft.com/office/powerpoint/2010/main" val="3933628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A8447-A801-1BB4-291F-B6CC8915EF82}"/>
              </a:ext>
            </a:extLst>
          </p:cNvPr>
          <p:cNvSpPr>
            <a:spLocks noGrp="1"/>
          </p:cNvSpPr>
          <p:nvPr>
            <p:ph type="title"/>
          </p:nvPr>
        </p:nvSpPr>
        <p:spPr>
          <a:xfrm>
            <a:off x="838200" y="365126"/>
            <a:ext cx="10515600" cy="822652"/>
          </a:xfrm>
        </p:spPr>
        <p:txBody>
          <a:bodyPr/>
          <a:lstStyle/>
          <a:p>
            <a:r>
              <a:rPr lang="en-IN" dirty="0"/>
              <a:t>System Software</a:t>
            </a:r>
          </a:p>
        </p:txBody>
      </p:sp>
      <p:sp>
        <p:nvSpPr>
          <p:cNvPr id="3" name="Content Placeholder 2">
            <a:extLst>
              <a:ext uri="{FF2B5EF4-FFF2-40B4-BE49-F238E27FC236}">
                <a16:creationId xmlns:a16="http://schemas.microsoft.com/office/drawing/2014/main" id="{84298F24-CCF2-6DB6-339B-6032DB66B476}"/>
              </a:ext>
            </a:extLst>
          </p:cNvPr>
          <p:cNvSpPr>
            <a:spLocks noGrp="1"/>
          </p:cNvSpPr>
          <p:nvPr>
            <p:ph idx="1"/>
          </p:nvPr>
        </p:nvSpPr>
        <p:spPr>
          <a:xfrm>
            <a:off x="838200" y="1121790"/>
            <a:ext cx="10515600" cy="5055173"/>
          </a:xfrm>
        </p:spPr>
        <p:txBody>
          <a:bodyPr>
            <a:normAutofit fontScale="85000" lnSpcReduction="20000"/>
          </a:bodyPr>
          <a:lstStyle/>
          <a:p>
            <a:pPr algn="just"/>
            <a:r>
              <a:rPr lang="en-US" dirty="0"/>
              <a:t>System software is designed to facilitate and coordinate the use of the computer by making hardware operational. </a:t>
            </a:r>
          </a:p>
          <a:p>
            <a:pPr algn="just"/>
            <a:r>
              <a:rPr lang="en-US" dirty="0"/>
              <a:t>It interacts with the computer system at low level. Examples of such software include language translator, operating system, loader, linker, etc.</a:t>
            </a:r>
          </a:p>
          <a:p>
            <a:pPr algn="just"/>
            <a:r>
              <a:rPr lang="en-US" dirty="0"/>
              <a:t> However, the most important system software is the </a:t>
            </a:r>
            <a:r>
              <a:rPr lang="en-US" i="1" dirty="0"/>
              <a:t>operating system</a:t>
            </a:r>
            <a:r>
              <a:rPr lang="en-US" dirty="0"/>
              <a:t> which is a set of programs designed to control the input and output operations of the computer, provide communication interface to the user, and manage the resources of the computer system, such as memory, processor, input/output devices etc. and schedule their operations with minimum manual intervention.</a:t>
            </a:r>
          </a:p>
          <a:p>
            <a:pPr algn="just"/>
            <a:r>
              <a:rPr lang="en-US" dirty="0"/>
              <a:t> Other programs (system and application) rely on facilities provided by the operating system to gain access to computer system resources. </a:t>
            </a:r>
          </a:p>
          <a:p>
            <a:pPr algn="just"/>
            <a:r>
              <a:rPr lang="en-US" dirty="0"/>
              <a:t>The </a:t>
            </a:r>
            <a:r>
              <a:rPr lang="en-US" i="1" dirty="0"/>
              <a:t>loader</a:t>
            </a:r>
            <a:r>
              <a:rPr lang="en-US" dirty="0"/>
              <a:t> is the system software which copies a executable program from secondary storage device into main memory and prepares this program for execution and initializes the execution.</a:t>
            </a:r>
          </a:p>
          <a:p>
            <a:pPr algn="just"/>
            <a:r>
              <a:rPr lang="en-US" dirty="0"/>
              <a:t>Device driver vs Plug n Play.</a:t>
            </a:r>
            <a:endParaRPr lang="en-IN" dirty="0"/>
          </a:p>
        </p:txBody>
      </p:sp>
    </p:spTree>
    <p:extLst>
      <p:ext uri="{BB962C8B-B14F-4D97-AF65-F5344CB8AC3E}">
        <p14:creationId xmlns:p14="http://schemas.microsoft.com/office/powerpoint/2010/main" val="4078692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91410-9DE5-362F-C84D-4247FF904C84}"/>
              </a:ext>
            </a:extLst>
          </p:cNvPr>
          <p:cNvSpPr>
            <a:spLocks noGrp="1"/>
          </p:cNvSpPr>
          <p:nvPr>
            <p:ph type="title"/>
          </p:nvPr>
        </p:nvSpPr>
        <p:spPr>
          <a:xfrm>
            <a:off x="838200" y="365126"/>
            <a:ext cx="10515600" cy="888640"/>
          </a:xfrm>
        </p:spPr>
        <p:txBody>
          <a:bodyPr/>
          <a:lstStyle/>
          <a:p>
            <a:r>
              <a:rPr lang="en-IN" dirty="0"/>
              <a:t>Application Software</a:t>
            </a:r>
          </a:p>
        </p:txBody>
      </p:sp>
      <p:sp>
        <p:nvSpPr>
          <p:cNvPr id="3" name="Content Placeholder 2">
            <a:extLst>
              <a:ext uri="{FF2B5EF4-FFF2-40B4-BE49-F238E27FC236}">
                <a16:creationId xmlns:a16="http://schemas.microsoft.com/office/drawing/2014/main" id="{830CBD61-F0C5-4842-EFA8-439B0D86C509}"/>
              </a:ext>
            </a:extLst>
          </p:cNvPr>
          <p:cNvSpPr>
            <a:spLocks noGrp="1"/>
          </p:cNvSpPr>
          <p:nvPr>
            <p:ph idx="1"/>
          </p:nvPr>
        </p:nvSpPr>
        <p:spPr>
          <a:xfrm>
            <a:off x="838200" y="1357460"/>
            <a:ext cx="10515600" cy="4819503"/>
          </a:xfrm>
        </p:spPr>
        <p:txBody>
          <a:bodyPr/>
          <a:lstStyle/>
          <a:p>
            <a:pPr algn="just"/>
            <a:r>
              <a:rPr lang="en-IN" dirty="0"/>
              <a:t>Application software is designed to perform specific usages of the users. Microsoft Word, Microsoft Excel, Microsoft Power Point, Microsoft Access, AutoCAD, Acrobat, etc. are some of the examples of application software.</a:t>
            </a:r>
          </a:p>
          <a:p>
            <a:pPr algn="just"/>
            <a:r>
              <a:rPr lang="en-US" dirty="0"/>
              <a:t>There are two categories of application software, custom software and pre-written software packages. </a:t>
            </a:r>
          </a:p>
          <a:p>
            <a:pPr algn="just"/>
            <a:r>
              <a:rPr lang="en-US" dirty="0"/>
              <a:t>Software that is developed for a specific user or organization in accordance with the user’s needs is known as custom software.</a:t>
            </a:r>
          </a:p>
          <a:p>
            <a:pPr algn="just"/>
            <a:r>
              <a:rPr lang="en-US" dirty="0"/>
              <a:t>A pre-written software package is bought off the shelf and has predefined generic specifications that may or may not cater to any specific user’s requirements.</a:t>
            </a:r>
            <a:endParaRPr lang="en-IN" dirty="0"/>
          </a:p>
        </p:txBody>
      </p:sp>
    </p:spTree>
    <p:extLst>
      <p:ext uri="{BB962C8B-B14F-4D97-AF65-F5344CB8AC3E}">
        <p14:creationId xmlns:p14="http://schemas.microsoft.com/office/powerpoint/2010/main" val="1078528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DD63E-4C10-B14E-701A-23E22BC456B7}"/>
              </a:ext>
            </a:extLst>
          </p:cNvPr>
          <p:cNvSpPr>
            <a:spLocks noGrp="1"/>
          </p:cNvSpPr>
          <p:nvPr>
            <p:ph type="title"/>
          </p:nvPr>
        </p:nvSpPr>
        <p:spPr>
          <a:xfrm>
            <a:off x="838200" y="365125"/>
            <a:ext cx="10515600" cy="756665"/>
          </a:xfrm>
        </p:spPr>
        <p:txBody>
          <a:bodyPr/>
          <a:lstStyle/>
          <a:p>
            <a:r>
              <a:rPr lang="en-IN" dirty="0"/>
              <a:t>Introduction to Programming Languages</a:t>
            </a:r>
          </a:p>
        </p:txBody>
      </p:sp>
      <p:sp>
        <p:nvSpPr>
          <p:cNvPr id="3" name="Content Placeholder 2">
            <a:extLst>
              <a:ext uri="{FF2B5EF4-FFF2-40B4-BE49-F238E27FC236}">
                <a16:creationId xmlns:a16="http://schemas.microsoft.com/office/drawing/2014/main" id="{186EFEFE-F8A0-6763-100F-DA42DCC34AAB}"/>
              </a:ext>
            </a:extLst>
          </p:cNvPr>
          <p:cNvSpPr>
            <a:spLocks noGrp="1"/>
          </p:cNvSpPr>
          <p:nvPr>
            <p:ph idx="1"/>
          </p:nvPr>
        </p:nvSpPr>
        <p:spPr>
          <a:xfrm>
            <a:off x="838200" y="1282045"/>
            <a:ext cx="10515600" cy="4894918"/>
          </a:xfrm>
        </p:spPr>
        <p:txBody>
          <a:bodyPr/>
          <a:lstStyle/>
          <a:p>
            <a:pPr algn="just"/>
            <a:r>
              <a:rPr lang="en-US" dirty="0"/>
              <a:t>A programming language can be defined formally as an artificial formalism in which algorithms can be expressed. It is composed of a set of instructions in a language understandable to the programmer and recognizable by a computer.</a:t>
            </a:r>
          </a:p>
          <a:p>
            <a:pPr algn="just"/>
            <a:r>
              <a:rPr lang="en-US" dirty="0"/>
              <a:t>The development of programming languages has been governed by a number of factors such as type and performance of available hardware, applications of computers in different fields, the development of new programming methodologies and its implementation etc.</a:t>
            </a:r>
            <a:endParaRPr lang="en-IN" dirty="0"/>
          </a:p>
        </p:txBody>
      </p:sp>
    </p:spTree>
    <p:extLst>
      <p:ext uri="{BB962C8B-B14F-4D97-AF65-F5344CB8AC3E}">
        <p14:creationId xmlns:p14="http://schemas.microsoft.com/office/powerpoint/2010/main" val="1518879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569CA-3D17-3FE6-A14F-0DEEA437863F}"/>
              </a:ext>
            </a:extLst>
          </p:cNvPr>
          <p:cNvSpPr>
            <a:spLocks noGrp="1"/>
          </p:cNvSpPr>
          <p:nvPr>
            <p:ph type="title"/>
          </p:nvPr>
        </p:nvSpPr>
        <p:spPr>
          <a:xfrm>
            <a:off x="838200" y="365126"/>
            <a:ext cx="10515600" cy="775518"/>
          </a:xfrm>
        </p:spPr>
        <p:txBody>
          <a:bodyPr/>
          <a:lstStyle/>
          <a:p>
            <a:r>
              <a:rPr lang="en-IN" dirty="0"/>
              <a:t>Generation of Programming Languages</a:t>
            </a:r>
          </a:p>
        </p:txBody>
      </p:sp>
      <p:sp>
        <p:nvSpPr>
          <p:cNvPr id="3" name="Content Placeholder 2">
            <a:extLst>
              <a:ext uri="{FF2B5EF4-FFF2-40B4-BE49-F238E27FC236}">
                <a16:creationId xmlns:a16="http://schemas.microsoft.com/office/drawing/2014/main" id="{416D9A7B-2A8E-5A0E-F651-927BCCCE7BE3}"/>
              </a:ext>
            </a:extLst>
          </p:cNvPr>
          <p:cNvSpPr>
            <a:spLocks noGrp="1"/>
          </p:cNvSpPr>
          <p:nvPr>
            <p:ph idx="1"/>
          </p:nvPr>
        </p:nvSpPr>
        <p:spPr>
          <a:xfrm>
            <a:off x="838200" y="1282045"/>
            <a:ext cx="10515600" cy="4894918"/>
          </a:xfrm>
        </p:spPr>
        <p:txBody>
          <a:bodyPr/>
          <a:lstStyle/>
          <a:p>
            <a:r>
              <a:rPr lang="en-US" dirty="0"/>
              <a:t>First generation language (1GL)—machine language</a:t>
            </a:r>
          </a:p>
          <a:p>
            <a:r>
              <a:rPr lang="en-US" dirty="0"/>
              <a:t>Second generation language (2GL)—assembly language</a:t>
            </a:r>
          </a:p>
          <a:p>
            <a:r>
              <a:rPr lang="en-US" dirty="0"/>
              <a:t>Third generation language (3GL)—high-level language</a:t>
            </a:r>
          </a:p>
          <a:p>
            <a:r>
              <a:rPr lang="en-IN" dirty="0"/>
              <a:t>Fourth generation languages (4GL) – Non-procedural Language</a:t>
            </a:r>
            <a:endParaRPr lang="en-US" dirty="0"/>
          </a:p>
          <a:p>
            <a:r>
              <a:rPr lang="en-IN" dirty="0"/>
              <a:t>Fifth generation language (5GL) –Natural Language</a:t>
            </a:r>
          </a:p>
        </p:txBody>
      </p:sp>
    </p:spTree>
    <p:extLst>
      <p:ext uri="{BB962C8B-B14F-4D97-AF65-F5344CB8AC3E}">
        <p14:creationId xmlns:p14="http://schemas.microsoft.com/office/powerpoint/2010/main" val="629011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181DD-17FB-AB85-435E-4D6A6B66ADEF}"/>
              </a:ext>
            </a:extLst>
          </p:cNvPr>
          <p:cNvSpPr>
            <a:spLocks noGrp="1"/>
          </p:cNvSpPr>
          <p:nvPr>
            <p:ph type="title"/>
          </p:nvPr>
        </p:nvSpPr>
        <p:spPr>
          <a:xfrm>
            <a:off x="838200" y="94268"/>
            <a:ext cx="10515600" cy="1008668"/>
          </a:xfrm>
        </p:spPr>
        <p:txBody>
          <a:bodyPr>
            <a:normAutofit fontScale="90000"/>
          </a:bodyPr>
          <a:lstStyle/>
          <a:p>
            <a:r>
              <a:rPr lang="en-US" dirty="0"/>
              <a:t>First generation language (1GL)—machine language</a:t>
            </a:r>
            <a:endParaRPr lang="en-IN" dirty="0"/>
          </a:p>
        </p:txBody>
      </p:sp>
      <p:sp>
        <p:nvSpPr>
          <p:cNvPr id="3" name="Content Placeholder 2">
            <a:extLst>
              <a:ext uri="{FF2B5EF4-FFF2-40B4-BE49-F238E27FC236}">
                <a16:creationId xmlns:a16="http://schemas.microsoft.com/office/drawing/2014/main" id="{A625674F-D697-A195-2378-6C1E01A6ACEB}"/>
              </a:ext>
            </a:extLst>
          </p:cNvPr>
          <p:cNvSpPr>
            <a:spLocks noGrp="1"/>
          </p:cNvSpPr>
          <p:nvPr>
            <p:ph idx="1"/>
          </p:nvPr>
        </p:nvSpPr>
        <p:spPr>
          <a:xfrm>
            <a:off x="838200" y="1253766"/>
            <a:ext cx="10515600" cy="5137608"/>
          </a:xfrm>
        </p:spPr>
        <p:txBody>
          <a:bodyPr>
            <a:normAutofit fontScale="85000" lnSpcReduction="10000"/>
          </a:bodyPr>
          <a:lstStyle/>
          <a:p>
            <a:pPr algn="just"/>
            <a:r>
              <a:rPr lang="en-US" dirty="0"/>
              <a:t>The instructions in machine language are written in the form of binary codes that can immediately be executed by the processor.</a:t>
            </a:r>
          </a:p>
          <a:p>
            <a:pPr algn="just"/>
            <a:r>
              <a:rPr lang="en-US" dirty="0"/>
              <a:t>General format of machine language instruction is</a:t>
            </a:r>
          </a:p>
          <a:p>
            <a:pPr algn="just"/>
            <a:endParaRPr lang="en-US" dirty="0"/>
          </a:p>
          <a:p>
            <a:pPr algn="just"/>
            <a:endParaRPr lang="en-US" dirty="0"/>
          </a:p>
          <a:p>
            <a:pPr algn="just"/>
            <a:endParaRPr lang="en-US" dirty="0"/>
          </a:p>
          <a:p>
            <a:pPr algn="just"/>
            <a:r>
              <a:rPr lang="en-US" dirty="0"/>
              <a:t>The first part is the operation code  conveys to the computer what function has to be performed by the instruction. All computers have operation codes for functions such as adding, subtracting and moving etc.</a:t>
            </a:r>
          </a:p>
          <a:p>
            <a:pPr algn="just"/>
            <a:r>
              <a:rPr lang="en-US" dirty="0"/>
              <a:t> The second part “Mode” specifies the type of addressing used by the instruction to obtain the operand referred by the instruction. </a:t>
            </a:r>
          </a:p>
          <a:p>
            <a:pPr algn="just"/>
            <a:r>
              <a:rPr lang="en-US" dirty="0"/>
              <a:t>The third part of the instruction either specifies that the operand contains data on which the operation has to be performed or it specifies that the operand contains a location, the contents of which have to be subjected to the operation. </a:t>
            </a:r>
            <a:endParaRPr lang="en-IN" dirty="0"/>
          </a:p>
        </p:txBody>
      </p:sp>
      <p:pic>
        <p:nvPicPr>
          <p:cNvPr id="5" name="Picture 4">
            <a:extLst>
              <a:ext uri="{FF2B5EF4-FFF2-40B4-BE49-F238E27FC236}">
                <a16:creationId xmlns:a16="http://schemas.microsoft.com/office/drawing/2014/main" id="{2FE487D7-970C-5378-55D0-EF1D12BA8B55}"/>
              </a:ext>
            </a:extLst>
          </p:cNvPr>
          <p:cNvPicPr>
            <a:picLocks noChangeAspect="1"/>
          </p:cNvPicPr>
          <p:nvPr/>
        </p:nvPicPr>
        <p:blipFill>
          <a:blip r:embed="rId2"/>
          <a:stretch>
            <a:fillRect/>
          </a:stretch>
        </p:blipFill>
        <p:spPr>
          <a:xfrm>
            <a:off x="7645138" y="1960775"/>
            <a:ext cx="3635193" cy="1468225"/>
          </a:xfrm>
          <a:prstGeom prst="rect">
            <a:avLst/>
          </a:prstGeom>
        </p:spPr>
      </p:pic>
    </p:spTree>
    <p:extLst>
      <p:ext uri="{BB962C8B-B14F-4D97-AF65-F5344CB8AC3E}">
        <p14:creationId xmlns:p14="http://schemas.microsoft.com/office/powerpoint/2010/main" val="3292192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85ACA-159B-A854-1267-A9E9ED43E178}"/>
              </a:ext>
            </a:extLst>
          </p:cNvPr>
          <p:cNvSpPr>
            <a:spLocks noGrp="1"/>
          </p:cNvSpPr>
          <p:nvPr>
            <p:ph type="title"/>
          </p:nvPr>
        </p:nvSpPr>
        <p:spPr>
          <a:xfrm>
            <a:off x="838200" y="365125"/>
            <a:ext cx="10515600" cy="945201"/>
          </a:xfrm>
        </p:spPr>
        <p:txBody>
          <a:bodyPr>
            <a:normAutofit fontScale="90000"/>
          </a:bodyPr>
          <a:lstStyle/>
          <a:p>
            <a:br>
              <a:rPr lang="en-US" dirty="0"/>
            </a:br>
            <a:r>
              <a:rPr lang="en-US" dirty="0"/>
              <a:t>Second generation language (2GL)—assembly language</a:t>
            </a:r>
            <a:br>
              <a:rPr lang="en-US" dirty="0"/>
            </a:br>
            <a:endParaRPr lang="en-IN" dirty="0"/>
          </a:p>
        </p:txBody>
      </p:sp>
      <p:sp>
        <p:nvSpPr>
          <p:cNvPr id="3" name="Content Placeholder 2">
            <a:extLst>
              <a:ext uri="{FF2B5EF4-FFF2-40B4-BE49-F238E27FC236}">
                <a16:creationId xmlns:a16="http://schemas.microsoft.com/office/drawing/2014/main" id="{C101F201-0F5E-3517-D452-DB8D17AFEE79}"/>
              </a:ext>
            </a:extLst>
          </p:cNvPr>
          <p:cNvSpPr>
            <a:spLocks noGrp="1"/>
          </p:cNvSpPr>
          <p:nvPr>
            <p:ph idx="1"/>
          </p:nvPr>
        </p:nvSpPr>
        <p:spPr>
          <a:xfrm>
            <a:off x="838200" y="1432874"/>
            <a:ext cx="10515600" cy="4939646"/>
          </a:xfrm>
        </p:spPr>
        <p:txBody>
          <a:bodyPr>
            <a:normAutofit fontScale="92500" lnSpcReduction="10000"/>
          </a:bodyPr>
          <a:lstStyle/>
          <a:p>
            <a:pPr algn="just"/>
            <a:r>
              <a:rPr lang="en-US" dirty="0"/>
              <a:t>In this language, an instruction is expressed using mnemonic codes instead of binary codes. </a:t>
            </a:r>
          </a:p>
          <a:p>
            <a:pPr algn="just"/>
            <a:r>
              <a:rPr lang="en-US" dirty="0"/>
              <a:t>Normally an assembly language statement consists of a label, an operation code, and one or more operands. </a:t>
            </a:r>
          </a:p>
          <a:p>
            <a:pPr algn="just"/>
            <a:r>
              <a:rPr lang="en-US" dirty="0"/>
              <a:t>Labels are used to identify and reference instructions in the program.</a:t>
            </a:r>
          </a:p>
          <a:p>
            <a:pPr algn="just"/>
            <a:r>
              <a:rPr lang="en-US" dirty="0"/>
              <a:t> The operation code is a symbolic notation that specifies the particular operation to be performed, such as MOV, ADD, SUB, or CMP etc. </a:t>
            </a:r>
          </a:p>
          <a:p>
            <a:pPr algn="just"/>
            <a:r>
              <a:rPr lang="en-US" dirty="0"/>
              <a:t>The operand represents the register or the location in main memory where the data to be processed is located. </a:t>
            </a:r>
          </a:p>
          <a:p>
            <a:pPr algn="just"/>
            <a:r>
              <a:rPr lang="en-US" dirty="0"/>
              <a:t>For example, a typical statement in assembler to command the processor to move the hexadecimal number 080H into processor register 2 might be: MOV R2, 080H</a:t>
            </a:r>
            <a:endParaRPr lang="en-IN" dirty="0"/>
          </a:p>
        </p:txBody>
      </p:sp>
    </p:spTree>
    <p:extLst>
      <p:ext uri="{BB962C8B-B14F-4D97-AF65-F5344CB8AC3E}">
        <p14:creationId xmlns:p14="http://schemas.microsoft.com/office/powerpoint/2010/main" val="991577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F85AC-2504-1DE5-4E93-FE27AE234370}"/>
              </a:ext>
            </a:extLst>
          </p:cNvPr>
          <p:cNvSpPr>
            <a:spLocks noGrp="1"/>
          </p:cNvSpPr>
          <p:nvPr>
            <p:ph type="title"/>
          </p:nvPr>
        </p:nvSpPr>
        <p:spPr/>
        <p:txBody>
          <a:bodyPr/>
          <a:lstStyle/>
          <a:p>
            <a:r>
              <a:rPr lang="en-US" dirty="0"/>
              <a:t>Second generation language (2GL)—assembly language</a:t>
            </a:r>
            <a:endParaRPr lang="en-IN" dirty="0"/>
          </a:p>
        </p:txBody>
      </p:sp>
      <p:sp>
        <p:nvSpPr>
          <p:cNvPr id="3" name="Content Placeholder 2">
            <a:extLst>
              <a:ext uri="{FF2B5EF4-FFF2-40B4-BE49-F238E27FC236}">
                <a16:creationId xmlns:a16="http://schemas.microsoft.com/office/drawing/2014/main" id="{AD9CF76C-1AAF-264E-A614-E5F32363AEB9}"/>
              </a:ext>
            </a:extLst>
          </p:cNvPr>
          <p:cNvSpPr>
            <a:spLocks noGrp="1"/>
          </p:cNvSpPr>
          <p:nvPr>
            <p:ph idx="1"/>
          </p:nvPr>
        </p:nvSpPr>
        <p:spPr/>
        <p:txBody>
          <a:bodyPr/>
          <a:lstStyle/>
          <a:p>
            <a:pPr algn="just"/>
            <a:r>
              <a:rPr lang="en-US" dirty="0"/>
              <a:t>An assembly language program cannot be executed by a machine directly as it is not in a binary machine language form. </a:t>
            </a:r>
          </a:p>
          <a:p>
            <a:pPr algn="just"/>
            <a:r>
              <a:rPr lang="en-US" dirty="0"/>
              <a:t>An assembler is a translator that produces machine language code from an assembly language code. </a:t>
            </a:r>
          </a:p>
          <a:p>
            <a:pPr algn="just"/>
            <a:r>
              <a:rPr lang="en-US" dirty="0"/>
              <a:t>It produces a single machine language instruction from a single assembly language statement. </a:t>
            </a:r>
          </a:p>
          <a:p>
            <a:pPr algn="just"/>
            <a:r>
              <a:rPr lang="en-US" dirty="0"/>
              <a:t>Therefore, the coding to solve a problem in assembly language has to be exercised at individual instruction level. That’s why, along with machine language, assembly language is also referred to as a low level language.</a:t>
            </a:r>
            <a:endParaRPr lang="en-IN" dirty="0"/>
          </a:p>
        </p:txBody>
      </p:sp>
    </p:spTree>
    <p:extLst>
      <p:ext uri="{BB962C8B-B14F-4D97-AF65-F5344CB8AC3E}">
        <p14:creationId xmlns:p14="http://schemas.microsoft.com/office/powerpoint/2010/main" val="3438417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39001-39BF-652B-523E-B1950DB9E09E}"/>
              </a:ext>
            </a:extLst>
          </p:cNvPr>
          <p:cNvSpPr>
            <a:spLocks noGrp="1"/>
          </p:cNvSpPr>
          <p:nvPr>
            <p:ph type="title"/>
          </p:nvPr>
        </p:nvSpPr>
        <p:spPr>
          <a:xfrm>
            <a:off x="838200" y="365126"/>
            <a:ext cx="10515600" cy="916920"/>
          </a:xfrm>
        </p:spPr>
        <p:txBody>
          <a:bodyPr>
            <a:normAutofit fontScale="90000"/>
          </a:bodyPr>
          <a:lstStyle/>
          <a:p>
            <a:br>
              <a:rPr lang="en-US" dirty="0"/>
            </a:br>
            <a:r>
              <a:rPr lang="en-US" dirty="0"/>
              <a:t>Third generation language (3GL)—high-level language</a:t>
            </a:r>
            <a:br>
              <a:rPr lang="en-US" dirty="0"/>
            </a:br>
            <a:endParaRPr lang="en-IN" dirty="0"/>
          </a:p>
        </p:txBody>
      </p:sp>
      <p:sp>
        <p:nvSpPr>
          <p:cNvPr id="3" name="Content Placeholder 2">
            <a:extLst>
              <a:ext uri="{FF2B5EF4-FFF2-40B4-BE49-F238E27FC236}">
                <a16:creationId xmlns:a16="http://schemas.microsoft.com/office/drawing/2014/main" id="{B1FB08C4-0331-CA12-072D-C80737ED6EF1}"/>
              </a:ext>
            </a:extLst>
          </p:cNvPr>
          <p:cNvSpPr>
            <a:spLocks noGrp="1"/>
          </p:cNvSpPr>
          <p:nvPr>
            <p:ph idx="1"/>
          </p:nvPr>
        </p:nvSpPr>
        <p:spPr>
          <a:xfrm>
            <a:off x="838200" y="1527142"/>
            <a:ext cx="10515600" cy="4649821"/>
          </a:xfrm>
        </p:spPr>
        <p:txBody>
          <a:bodyPr>
            <a:normAutofit fontScale="92500" lnSpcReduction="10000"/>
          </a:bodyPr>
          <a:lstStyle/>
          <a:p>
            <a:pPr algn="just"/>
            <a:r>
              <a:rPr lang="en-US" dirty="0"/>
              <a:t>High-level languages are called third generation languages (3GLs). High-level programming languages were developed to make programming easier and less error-prone. </a:t>
            </a:r>
          </a:p>
          <a:p>
            <a:pPr algn="just"/>
            <a:r>
              <a:rPr lang="en-US" dirty="0"/>
              <a:t>Languages like C, C++, COBOL, FORTRAN, BASIC, PASCAL etc., have instructions that are similar to </a:t>
            </a:r>
            <a:r>
              <a:rPr lang="en-US" dirty="0" err="1"/>
              <a:t>english</a:t>
            </a:r>
            <a:r>
              <a:rPr lang="en-US" dirty="0"/>
              <a:t> language that makes it easy for a programmer to write programs and identify and correct errors in them.</a:t>
            </a:r>
          </a:p>
          <a:p>
            <a:pPr algn="just"/>
            <a:r>
              <a:rPr lang="en-US" dirty="0"/>
              <a:t>Most third generation languages are procedural in nature. That is, the programmer must specify the sequential logically related steps to be followed by the computer in a program. </a:t>
            </a:r>
          </a:p>
          <a:p>
            <a:pPr algn="just"/>
            <a:r>
              <a:rPr lang="en-US" dirty="0"/>
              <a:t>As computer only understands machine language, a program written in a high level language must be translated into the basic machine language instruction set before it can be executed. (Compiler vs interpreter)</a:t>
            </a:r>
            <a:endParaRPr lang="en-IN" dirty="0"/>
          </a:p>
        </p:txBody>
      </p:sp>
    </p:spTree>
    <p:extLst>
      <p:ext uri="{BB962C8B-B14F-4D97-AF65-F5344CB8AC3E}">
        <p14:creationId xmlns:p14="http://schemas.microsoft.com/office/powerpoint/2010/main" val="1342738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DBD75-4823-9921-022E-5144A7AB0717}"/>
              </a:ext>
            </a:extLst>
          </p:cNvPr>
          <p:cNvSpPr>
            <a:spLocks noGrp="1"/>
          </p:cNvSpPr>
          <p:nvPr>
            <p:ph type="title"/>
          </p:nvPr>
        </p:nvSpPr>
        <p:spPr/>
        <p:txBody>
          <a:bodyPr/>
          <a:lstStyle/>
          <a:p>
            <a:r>
              <a:rPr lang="en-IN" dirty="0"/>
              <a:t>Advantages of High Level Languages</a:t>
            </a:r>
          </a:p>
        </p:txBody>
      </p:sp>
      <p:sp>
        <p:nvSpPr>
          <p:cNvPr id="3" name="Content Placeholder 2">
            <a:extLst>
              <a:ext uri="{FF2B5EF4-FFF2-40B4-BE49-F238E27FC236}">
                <a16:creationId xmlns:a16="http://schemas.microsoft.com/office/drawing/2014/main" id="{CFC493B2-B65E-54BC-44FD-760A56FCC075}"/>
              </a:ext>
            </a:extLst>
          </p:cNvPr>
          <p:cNvSpPr>
            <a:spLocks noGrp="1"/>
          </p:cNvSpPr>
          <p:nvPr>
            <p:ph idx="1"/>
          </p:nvPr>
        </p:nvSpPr>
        <p:spPr>
          <a:xfrm>
            <a:off x="838200" y="1366887"/>
            <a:ext cx="10515600" cy="4810076"/>
          </a:xfrm>
        </p:spPr>
        <p:txBody>
          <a:bodyPr/>
          <a:lstStyle/>
          <a:p>
            <a:pPr algn="just"/>
            <a:r>
              <a:rPr lang="en-US" b="1" dirty="0"/>
              <a:t>Readability: </a:t>
            </a:r>
            <a:r>
              <a:rPr lang="en-US" dirty="0"/>
              <a:t> Programs written in these languages are more readable than those written in assembly and machine languages. </a:t>
            </a:r>
          </a:p>
          <a:p>
            <a:pPr algn="just"/>
            <a:r>
              <a:rPr lang="en-US" b="1" dirty="0"/>
              <a:t>Portability:</a:t>
            </a:r>
            <a:r>
              <a:rPr lang="en-US" dirty="0"/>
              <a:t> High-level programming languages can be run on different machines with little or no change. It is, therefore, possible to exchange software, leading to creation of program libraries.</a:t>
            </a:r>
          </a:p>
          <a:p>
            <a:pPr algn="just"/>
            <a:r>
              <a:rPr lang="en-US" b="1" dirty="0"/>
              <a:t>Easy debugging:</a:t>
            </a:r>
            <a:r>
              <a:rPr lang="en-US" dirty="0"/>
              <a:t> Errors can be easily detected and removed. </a:t>
            </a:r>
          </a:p>
          <a:p>
            <a:pPr algn="just"/>
            <a:r>
              <a:rPr lang="en-US" b="1" dirty="0"/>
              <a:t>Ease in the development of software:</a:t>
            </a:r>
            <a:r>
              <a:rPr lang="en-US" dirty="0"/>
              <a:t> Since the instructions or statements of these programming languages are closer to the </a:t>
            </a:r>
            <a:r>
              <a:rPr lang="en-US" dirty="0" err="1"/>
              <a:t>english</a:t>
            </a:r>
            <a:r>
              <a:rPr lang="en-US" dirty="0"/>
              <a:t> language, software can be developed with ease. The time and cost of creating machine and assembly language programs were quite high.</a:t>
            </a:r>
            <a:endParaRPr lang="en-IN" dirty="0"/>
          </a:p>
        </p:txBody>
      </p:sp>
    </p:spTree>
    <p:extLst>
      <p:ext uri="{BB962C8B-B14F-4D97-AF65-F5344CB8AC3E}">
        <p14:creationId xmlns:p14="http://schemas.microsoft.com/office/powerpoint/2010/main" val="36534860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DC123-383B-9264-8ABD-72F325AED86A}"/>
              </a:ext>
            </a:extLst>
          </p:cNvPr>
          <p:cNvSpPr>
            <a:spLocks noGrp="1"/>
          </p:cNvSpPr>
          <p:nvPr>
            <p:ph type="title"/>
          </p:nvPr>
        </p:nvSpPr>
        <p:spPr>
          <a:xfrm>
            <a:off x="838200" y="365126"/>
            <a:ext cx="10515600" cy="916920"/>
          </a:xfrm>
        </p:spPr>
        <p:txBody>
          <a:bodyPr>
            <a:normAutofit fontScale="90000"/>
          </a:bodyPr>
          <a:lstStyle/>
          <a:p>
            <a:br>
              <a:rPr lang="en-IN" dirty="0"/>
            </a:br>
            <a:r>
              <a:rPr lang="en-IN" dirty="0"/>
              <a:t>Fourth generation languages (4GL) – Non-procedural Language</a:t>
            </a:r>
            <a:br>
              <a:rPr lang="en-US" dirty="0"/>
            </a:br>
            <a:endParaRPr lang="en-IN" dirty="0"/>
          </a:p>
        </p:txBody>
      </p:sp>
      <p:sp>
        <p:nvSpPr>
          <p:cNvPr id="3" name="Content Placeholder 2">
            <a:extLst>
              <a:ext uri="{FF2B5EF4-FFF2-40B4-BE49-F238E27FC236}">
                <a16:creationId xmlns:a16="http://schemas.microsoft.com/office/drawing/2014/main" id="{5EF75E5E-B85D-79C4-FA23-A6D41AA2F2DB}"/>
              </a:ext>
            </a:extLst>
          </p:cNvPr>
          <p:cNvSpPr>
            <a:spLocks noGrp="1"/>
          </p:cNvSpPr>
          <p:nvPr>
            <p:ph idx="1"/>
          </p:nvPr>
        </p:nvSpPr>
        <p:spPr>
          <a:xfrm>
            <a:off x="838200" y="1527142"/>
            <a:ext cx="10515600" cy="4649821"/>
          </a:xfrm>
        </p:spPr>
        <p:txBody>
          <a:bodyPr/>
          <a:lstStyle/>
          <a:p>
            <a:pPr algn="just"/>
            <a:r>
              <a:rPr lang="en-US" dirty="0"/>
              <a:t>The Fourth Generation Language (4GL) is a non-procedural language that allows the user to simply specify what is wanted without describing the steps that the computer has to follow to produce the result. </a:t>
            </a:r>
          </a:p>
          <a:p>
            <a:pPr algn="just"/>
            <a:r>
              <a:rPr lang="en-US" dirty="0"/>
              <a:t>This class of languages requires significantly fewer instructions to accomplish a particular task than does a third generation language.</a:t>
            </a:r>
          </a:p>
          <a:p>
            <a:pPr algn="just"/>
            <a:r>
              <a:rPr lang="en-US" dirty="0"/>
              <a:t> Thus, a programmer should be able to write a program faster in 4GL than in a third generation language. </a:t>
            </a:r>
          </a:p>
          <a:p>
            <a:pPr algn="just"/>
            <a:r>
              <a:rPr lang="en-US" dirty="0"/>
              <a:t>Ex: database queries, report generators, data manipulation, analysis and reporting, screen painters, etc.</a:t>
            </a:r>
          </a:p>
          <a:p>
            <a:pPr marL="0" indent="0" algn="ctr">
              <a:buNone/>
            </a:pPr>
            <a:endParaRPr lang="en-IN" dirty="0"/>
          </a:p>
        </p:txBody>
      </p:sp>
    </p:spTree>
    <p:extLst>
      <p:ext uri="{BB962C8B-B14F-4D97-AF65-F5344CB8AC3E}">
        <p14:creationId xmlns:p14="http://schemas.microsoft.com/office/powerpoint/2010/main" val="3492539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A052A-6DAA-AFBA-470F-9E35D0D6FDB0}"/>
              </a:ext>
            </a:extLst>
          </p:cNvPr>
          <p:cNvSpPr>
            <a:spLocks noGrp="1"/>
          </p:cNvSpPr>
          <p:nvPr>
            <p:ph type="title"/>
          </p:nvPr>
        </p:nvSpPr>
        <p:spPr/>
        <p:txBody>
          <a:bodyPr>
            <a:normAutofit fontScale="90000"/>
          </a:bodyPr>
          <a:lstStyle/>
          <a:p>
            <a:br>
              <a:rPr lang="en-IN" dirty="0"/>
            </a:br>
            <a:r>
              <a:rPr lang="en-IN" dirty="0"/>
              <a:t>Fifth generation language (5GL) –Natural Language</a:t>
            </a:r>
            <a:br>
              <a:rPr lang="en-IN" dirty="0"/>
            </a:br>
            <a:endParaRPr lang="en-IN" dirty="0"/>
          </a:p>
        </p:txBody>
      </p:sp>
      <p:sp>
        <p:nvSpPr>
          <p:cNvPr id="3" name="Content Placeholder 2">
            <a:extLst>
              <a:ext uri="{FF2B5EF4-FFF2-40B4-BE49-F238E27FC236}">
                <a16:creationId xmlns:a16="http://schemas.microsoft.com/office/drawing/2014/main" id="{49DADE95-81C6-5272-F495-70BA362FC701}"/>
              </a:ext>
            </a:extLst>
          </p:cNvPr>
          <p:cNvSpPr>
            <a:spLocks noGrp="1"/>
          </p:cNvSpPr>
          <p:nvPr>
            <p:ph idx="1"/>
          </p:nvPr>
        </p:nvSpPr>
        <p:spPr/>
        <p:txBody>
          <a:bodyPr/>
          <a:lstStyle/>
          <a:p>
            <a:pPr algn="just"/>
            <a:r>
              <a:rPr lang="en-US" dirty="0"/>
              <a:t>Natural languages represent the next step in the development of programming languages belonging to Fifth Generation Language (5GL). </a:t>
            </a:r>
          </a:p>
          <a:p>
            <a:pPr algn="just"/>
            <a:r>
              <a:rPr lang="en-US" dirty="0"/>
              <a:t>Natural language is similar to query language, with one difference: it eliminates the need for the user or programmer to learn a specific vocabulary, grammar, or syntax. </a:t>
            </a:r>
          </a:p>
          <a:p>
            <a:pPr algn="just"/>
            <a:r>
              <a:rPr lang="en-US" dirty="0"/>
              <a:t>Actually, 5GL is a programming language based around solving problems using constraints given to the program, rather than using an algorithm written by a programmer. Fifth generation languages are used mainly in artificial intelligence research.</a:t>
            </a:r>
            <a:endParaRPr lang="en-IN" dirty="0"/>
          </a:p>
        </p:txBody>
      </p:sp>
    </p:spTree>
    <p:extLst>
      <p:ext uri="{BB962C8B-B14F-4D97-AF65-F5344CB8AC3E}">
        <p14:creationId xmlns:p14="http://schemas.microsoft.com/office/powerpoint/2010/main" val="1878277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B8BD4-BFB7-90BC-55BE-860D3CDE8C9B}"/>
              </a:ext>
            </a:extLst>
          </p:cNvPr>
          <p:cNvSpPr>
            <a:spLocks noGrp="1"/>
          </p:cNvSpPr>
          <p:nvPr>
            <p:ph type="title"/>
          </p:nvPr>
        </p:nvSpPr>
        <p:spPr>
          <a:xfrm>
            <a:off x="838200" y="365126"/>
            <a:ext cx="10515600" cy="822652"/>
          </a:xfrm>
        </p:spPr>
        <p:txBody>
          <a:bodyPr>
            <a:normAutofit fontScale="90000"/>
          </a:bodyPr>
          <a:lstStyle/>
          <a:p>
            <a:br>
              <a:rPr lang="en-IN" dirty="0"/>
            </a:br>
            <a:r>
              <a:rPr lang="en-IN" dirty="0"/>
              <a:t>Classification of Programming Languages</a:t>
            </a:r>
            <a:br>
              <a:rPr lang="en-IN" dirty="0"/>
            </a:br>
            <a:endParaRPr lang="en-IN" dirty="0"/>
          </a:p>
        </p:txBody>
      </p:sp>
      <p:pic>
        <p:nvPicPr>
          <p:cNvPr id="5" name="Content Placeholder 4">
            <a:extLst>
              <a:ext uri="{FF2B5EF4-FFF2-40B4-BE49-F238E27FC236}">
                <a16:creationId xmlns:a16="http://schemas.microsoft.com/office/drawing/2014/main" id="{9B0A657B-1C96-7B53-1D2E-7DB882A7D02E}"/>
              </a:ext>
            </a:extLst>
          </p:cNvPr>
          <p:cNvPicPr>
            <a:picLocks noGrp="1" noChangeAspect="1"/>
          </p:cNvPicPr>
          <p:nvPr>
            <p:ph idx="1"/>
          </p:nvPr>
        </p:nvPicPr>
        <p:blipFill>
          <a:blip r:embed="rId2"/>
          <a:stretch>
            <a:fillRect/>
          </a:stretch>
        </p:blipFill>
        <p:spPr>
          <a:xfrm>
            <a:off x="1753386" y="1492357"/>
            <a:ext cx="8823487" cy="5097752"/>
          </a:xfr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63897D64-D208-4478-95BE-AFCC0E08AD1D}"/>
                  </a:ext>
                </a:extLst>
              </p14:cNvPr>
              <p14:cNvContentPartPr/>
              <p14:nvPr/>
            </p14:nvContentPartPr>
            <p14:xfrm>
              <a:off x="2120033" y="3543825"/>
              <a:ext cx="2057760" cy="1123560"/>
            </p14:xfrm>
          </p:contentPart>
        </mc:Choice>
        <mc:Fallback xmlns="">
          <p:pic>
            <p:nvPicPr>
              <p:cNvPr id="6" name="Ink 5">
                <a:extLst>
                  <a:ext uri="{FF2B5EF4-FFF2-40B4-BE49-F238E27FC236}">
                    <a16:creationId xmlns:a16="http://schemas.microsoft.com/office/drawing/2014/main" id="{63897D64-D208-4478-95BE-AFCC0E08AD1D}"/>
                  </a:ext>
                </a:extLst>
              </p:cNvPr>
              <p:cNvPicPr/>
              <p:nvPr/>
            </p:nvPicPr>
            <p:blipFill>
              <a:blip r:embed="rId4"/>
              <a:stretch>
                <a:fillRect/>
              </a:stretch>
            </p:blipFill>
            <p:spPr>
              <a:xfrm>
                <a:off x="2111393" y="3535185"/>
                <a:ext cx="2075400" cy="1141200"/>
              </a:xfrm>
              <a:prstGeom prst="rect">
                <a:avLst/>
              </a:prstGeom>
            </p:spPr>
          </p:pic>
        </mc:Fallback>
      </mc:AlternateContent>
    </p:spTree>
    <p:extLst>
      <p:ext uri="{BB962C8B-B14F-4D97-AF65-F5344CB8AC3E}">
        <p14:creationId xmlns:p14="http://schemas.microsoft.com/office/powerpoint/2010/main" val="151385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24952-5100-F500-7891-4FAD64EE5501}"/>
              </a:ext>
            </a:extLst>
          </p:cNvPr>
          <p:cNvSpPr>
            <a:spLocks noGrp="1"/>
          </p:cNvSpPr>
          <p:nvPr>
            <p:ph type="title"/>
          </p:nvPr>
        </p:nvSpPr>
        <p:spPr>
          <a:xfrm>
            <a:off x="838200" y="365126"/>
            <a:ext cx="10515600" cy="813226"/>
          </a:xfrm>
        </p:spPr>
        <p:txBody>
          <a:bodyPr/>
          <a:lstStyle/>
          <a:p>
            <a:r>
              <a:rPr lang="en-IN" dirty="0"/>
              <a:t>Algorithmic PL</a:t>
            </a:r>
          </a:p>
        </p:txBody>
      </p:sp>
      <p:sp>
        <p:nvSpPr>
          <p:cNvPr id="3" name="Content Placeholder 2">
            <a:extLst>
              <a:ext uri="{FF2B5EF4-FFF2-40B4-BE49-F238E27FC236}">
                <a16:creationId xmlns:a16="http://schemas.microsoft.com/office/drawing/2014/main" id="{3BBD7187-390A-9513-2494-64A4EAC88BA9}"/>
              </a:ext>
            </a:extLst>
          </p:cNvPr>
          <p:cNvSpPr>
            <a:spLocks noGrp="1"/>
          </p:cNvSpPr>
          <p:nvPr>
            <p:ph idx="1"/>
          </p:nvPr>
        </p:nvSpPr>
        <p:spPr>
          <a:xfrm>
            <a:off x="838200" y="1332244"/>
            <a:ext cx="10515600" cy="4844719"/>
          </a:xfrm>
        </p:spPr>
        <p:txBody>
          <a:bodyPr/>
          <a:lstStyle/>
          <a:p>
            <a:pPr algn="just"/>
            <a:r>
              <a:rPr lang="en-US" dirty="0"/>
              <a:t>Using this type of programming languages, the programmer must specify the steps the computer has to follow while executing a program. </a:t>
            </a:r>
          </a:p>
          <a:p>
            <a:pPr algn="just"/>
            <a:r>
              <a:rPr lang="en-US" dirty="0"/>
              <a:t>In these languages, a complex problem is solved using top-down approach of problem solving in which the problem is divided into a collection of small problems and each small problem is realized in terms of subprogram. </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951A61F-D6B0-81E6-A727-BB9871CE2349}"/>
                  </a:ext>
                </a:extLst>
              </p14:cNvPr>
              <p14:cNvContentPartPr/>
              <p14:nvPr/>
            </p14:nvContentPartPr>
            <p14:xfrm>
              <a:off x="1149833" y="848505"/>
              <a:ext cx="360" cy="360"/>
            </p14:xfrm>
          </p:contentPart>
        </mc:Choice>
        <mc:Fallback xmlns="">
          <p:pic>
            <p:nvPicPr>
              <p:cNvPr id="4" name="Ink 3">
                <a:extLst>
                  <a:ext uri="{FF2B5EF4-FFF2-40B4-BE49-F238E27FC236}">
                    <a16:creationId xmlns:a16="http://schemas.microsoft.com/office/drawing/2014/main" id="{4951A61F-D6B0-81E6-A727-BB9871CE2349}"/>
                  </a:ext>
                </a:extLst>
              </p:cNvPr>
              <p:cNvPicPr/>
              <p:nvPr/>
            </p:nvPicPr>
            <p:blipFill>
              <a:blip r:embed="rId3"/>
              <a:stretch>
                <a:fillRect/>
              </a:stretch>
            </p:blipFill>
            <p:spPr>
              <a:xfrm>
                <a:off x="1140833" y="839505"/>
                <a:ext cx="18000" cy="18000"/>
              </a:xfrm>
              <a:prstGeom prst="rect">
                <a:avLst/>
              </a:prstGeom>
            </p:spPr>
          </p:pic>
        </mc:Fallback>
      </mc:AlternateContent>
    </p:spTree>
    <p:extLst>
      <p:ext uri="{BB962C8B-B14F-4D97-AF65-F5344CB8AC3E}">
        <p14:creationId xmlns:p14="http://schemas.microsoft.com/office/powerpoint/2010/main" val="4068053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BA13EE458DC6A41AB6CEB83F6613953" ma:contentTypeVersion="4" ma:contentTypeDescription="Create a new document." ma:contentTypeScope="" ma:versionID="f6ea594442bf66514565299edc124d63">
  <xsd:schema xmlns:xsd="http://www.w3.org/2001/XMLSchema" xmlns:xs="http://www.w3.org/2001/XMLSchema" xmlns:p="http://schemas.microsoft.com/office/2006/metadata/properties" xmlns:ns2="bce89c58-99c7-4a39-8e1b-d4ac22269018" targetNamespace="http://schemas.microsoft.com/office/2006/metadata/properties" ma:root="true" ma:fieldsID="5f451318a34ea5e7c2651fbdd532fdd2" ns2:_="">
    <xsd:import namespace="bce89c58-99c7-4a39-8e1b-d4ac222690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e89c58-99c7-4a39-8e1b-d4ac222690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D884E2-E738-4A1E-B87D-257FD253C5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e89c58-99c7-4a39-8e1b-d4ac222690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72E29DD-1684-4106-9861-D33B0F2BE4B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58AA8328-1CA3-4E35-BFA2-7B9860C947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657</TotalTime>
  <Words>2516</Words>
  <Application>Microsoft Office PowerPoint</Application>
  <PresentationFormat>Widescreen</PresentationFormat>
  <Paragraphs>144</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Programming for Problem Solving</vt:lpstr>
      <vt:lpstr>Introduction—What is a Computer?</vt:lpstr>
      <vt:lpstr>Evolution of Computers</vt:lpstr>
      <vt:lpstr> Computing in the mechanical era </vt:lpstr>
      <vt:lpstr>PowerPoint Presentation</vt:lpstr>
      <vt:lpstr> Computing in the electrical era </vt:lpstr>
      <vt:lpstr> Computing in the electrical era </vt:lpstr>
      <vt:lpstr>Classification of Computers</vt:lpstr>
      <vt:lpstr>Supercomputer (PARAM 8000- 1991)</vt:lpstr>
      <vt:lpstr>Mainframe Computer</vt:lpstr>
      <vt:lpstr>Mini Computer</vt:lpstr>
      <vt:lpstr>Anatomy of Computer</vt:lpstr>
      <vt:lpstr>Input / Output Devices</vt:lpstr>
      <vt:lpstr>Central Processing Unit</vt:lpstr>
      <vt:lpstr>Memory Unit</vt:lpstr>
      <vt:lpstr>Memory Hierarchy ( Size vs cost)</vt:lpstr>
      <vt:lpstr>Interface Unit</vt:lpstr>
      <vt:lpstr>Software</vt:lpstr>
      <vt:lpstr>System Software</vt:lpstr>
      <vt:lpstr>Application Software</vt:lpstr>
      <vt:lpstr>Introduction to Programming Languages</vt:lpstr>
      <vt:lpstr>Generation of Programming Languages</vt:lpstr>
      <vt:lpstr>First generation language (1GL)—machine language</vt:lpstr>
      <vt:lpstr> Second generation language (2GL)—assembly language </vt:lpstr>
      <vt:lpstr>Second generation language (2GL)—assembly language</vt:lpstr>
      <vt:lpstr> Third generation language (3GL)—high-level language </vt:lpstr>
      <vt:lpstr>Advantages of High Level Languages</vt:lpstr>
      <vt:lpstr> Fourth generation languages (4GL) – Non-procedural Language </vt:lpstr>
      <vt:lpstr> Fifth generation language (5GL) –Natural Language </vt:lpstr>
      <vt:lpstr> Classification of Programming Languages </vt:lpstr>
      <vt:lpstr>Algorithmic PL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for Problem Solving</dc:title>
  <dc:creator>admin</dc:creator>
  <cp:lastModifiedBy>Vipul Negi</cp:lastModifiedBy>
  <cp:revision>12</cp:revision>
  <dcterms:created xsi:type="dcterms:W3CDTF">2025-01-13T08:36:37Z</dcterms:created>
  <dcterms:modified xsi:type="dcterms:W3CDTF">2026-09-05T11:52:53Z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0x010100ABA13EE458DC6A41AB6CEB83F6613953</vt:lpwstr>
  </property>
</Properties>
</file>