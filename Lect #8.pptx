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307" r:id="rId6"/>
    <p:sldId id="308" r:id="rId7"/>
    <p:sldId id="309" r:id="rId8"/>
    <p:sldId id="310" r:id="rId9"/>
    <p:sldId id="311" r:id="rId10"/>
    <p:sldId id="312" r:id="rId11"/>
    <p:sldId id="313" r:id="rId12"/>
    <p:sldId id="314" r:id="rId13"/>
    <p:sldId id="315" r:id="rId14"/>
    <p:sldId id="316" r:id="rId15"/>
    <p:sldId id="317" r:id="rId16"/>
    <p:sldId id="318" r:id="rId17"/>
    <p:sldId id="306" r:id="rId18"/>
    <p:sldId id="31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8" autoAdjust="0"/>
    <p:restoredTop sz="96370" autoAdjust="0"/>
  </p:normalViewPr>
  <p:slideViewPr>
    <p:cSldViewPr snapToGrid="0">
      <p:cViewPr varScale="1">
        <p:scale>
          <a:sx n="110" d="100"/>
          <a:sy n="110" d="100"/>
        </p:scale>
        <p:origin x="348" y="108"/>
      </p:cViewPr>
      <p:guideLst/>
    </p:cSldViewPr>
  </p:slideViewPr>
  <p:outlineViewPr>
    <p:cViewPr>
      <p:scale>
        <a:sx n="33" d="100"/>
        <a:sy n="33" d="100"/>
      </p:scale>
      <p:origin x="0" y="-47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DC84FE0-E346-4B26-9FFC-65AFEC4663CF}"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2362652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C84FE0-E346-4B26-9FFC-65AFEC4663CF}"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2860404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C84FE0-E346-4B26-9FFC-65AFEC4663CF}"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2328070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DC84FE0-E346-4B26-9FFC-65AFEC4663CF}" type="datetimeFigureOut">
              <a:rPr lang="en-IN" smtClean="0"/>
              <a:t>26-03-2026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51058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DC84FE0-E346-4B26-9FFC-65AFEC4663CF}" type="datetimeFigureOut">
              <a:rPr lang="en-IN" smtClean="0"/>
              <a:t>26-03-2026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2553009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DC84FE0-E346-4B26-9FFC-65AFEC4663CF}" type="datetimeFigureOut">
              <a:rPr lang="en-IN" smtClean="0"/>
              <a:t>26-03-2026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2471423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C84FE0-E346-4B26-9FFC-65AFEC4663CF}" type="datetimeFigureOut">
              <a:rPr lang="en-IN" smtClean="0"/>
              <a:t>26-03-2026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4062246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DC84FE0-E346-4B26-9FFC-65AFEC4663CF}" type="datetimeFigureOut">
              <a:rPr lang="en-IN" smtClean="0"/>
              <a:t>26-03-2026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1365579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DC84FE0-E346-4B26-9FFC-65AFEC4663CF}" type="datetimeFigureOut">
              <a:rPr lang="en-IN" smtClean="0"/>
              <a:t>26-03-2026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1744545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C84FE0-E346-4B26-9FFC-65AFEC4663CF}"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4067984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C84FE0-E346-4B26-9FFC-65AFEC4663CF}"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7DB88B-E345-4F9D-8AD3-AAF620E955AC}" type="slidenum">
              <a:rPr lang="en-IN" smtClean="0"/>
              <a:t>‹#›</a:t>
            </a:fld>
            <a:endParaRPr lang="en-IN"/>
          </a:p>
        </p:txBody>
      </p:sp>
    </p:spTree>
    <p:extLst>
      <p:ext uri="{BB962C8B-B14F-4D97-AF65-F5344CB8AC3E}">
        <p14:creationId xmlns:p14="http://schemas.microsoft.com/office/powerpoint/2010/main" val="2967415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C84FE0-E346-4B26-9FFC-65AFEC4663CF}" type="datetimeFigureOut">
              <a:rPr lang="en-IN" smtClean="0"/>
              <a:t>26-03-2026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7DB88B-E345-4F9D-8AD3-AAF620E955AC}" type="slidenum">
              <a:rPr lang="en-IN" smtClean="0"/>
              <a:t>‹#›</a:t>
            </a:fld>
            <a:endParaRPr lang="en-IN"/>
          </a:p>
        </p:txBody>
      </p:sp>
    </p:spTree>
    <p:extLst>
      <p:ext uri="{BB962C8B-B14F-4D97-AF65-F5344CB8AC3E}">
        <p14:creationId xmlns:p14="http://schemas.microsoft.com/office/powerpoint/2010/main" val="39773194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1122363"/>
            <a:ext cx="9922933" cy="2387600"/>
          </a:xfrm>
        </p:spPr>
        <p:txBody>
          <a:bodyPr>
            <a:normAutofit fontScale="90000"/>
          </a:bodyPr>
          <a:lstStyle/>
          <a:p>
            <a:r>
              <a:rPr lang="en-US" dirty="0"/>
              <a:t>Programming for Problem Solving</a:t>
            </a:r>
            <a:br>
              <a:rPr lang="en-US" dirty="0"/>
            </a:br>
            <a:r>
              <a:rPr lang="en-US" dirty="0" err="1"/>
              <a:t>Lect</a:t>
            </a:r>
            <a:r>
              <a:rPr lang="en-US" dirty="0"/>
              <a:t> </a:t>
            </a:r>
            <a:r>
              <a:rPr lang="en-US" dirty="0" smtClean="0"/>
              <a:t>#8</a:t>
            </a:r>
            <a:endParaRPr lang="en-IN" dirty="0"/>
          </a:p>
        </p:txBody>
      </p:sp>
      <p:sp>
        <p:nvSpPr>
          <p:cNvPr id="3" name="Subtitle 2"/>
          <p:cNvSpPr>
            <a:spLocks noGrp="1"/>
          </p:cNvSpPr>
          <p:nvPr>
            <p:ph type="subTitle" idx="1"/>
          </p:nvPr>
        </p:nvSpPr>
        <p:spPr/>
        <p:txBody>
          <a:bodyPr/>
          <a:lstStyle/>
          <a:p>
            <a:r>
              <a:rPr lang="en-US" dirty="0"/>
              <a:t>Prof. </a:t>
            </a:r>
            <a:r>
              <a:rPr lang="en-US" dirty="0" err="1"/>
              <a:t>Suchismita</a:t>
            </a:r>
            <a:r>
              <a:rPr lang="en-US" dirty="0"/>
              <a:t> </a:t>
            </a:r>
            <a:r>
              <a:rPr lang="en-US" dirty="0" err="1"/>
              <a:t>Chinara</a:t>
            </a:r>
            <a:endParaRPr lang="en-US" dirty="0"/>
          </a:p>
          <a:p>
            <a:r>
              <a:rPr lang="en-US" dirty="0"/>
              <a:t>Department of Computer Science &amp; Engineering</a:t>
            </a:r>
          </a:p>
          <a:p>
            <a:endParaRPr lang="en-US" dirty="0"/>
          </a:p>
          <a:p>
            <a:endParaRPr lang="en-IN" dirty="0"/>
          </a:p>
        </p:txBody>
      </p:sp>
    </p:spTree>
    <p:extLst>
      <p:ext uri="{BB962C8B-B14F-4D97-AF65-F5344CB8AC3E}">
        <p14:creationId xmlns:p14="http://schemas.microsoft.com/office/powerpoint/2010/main" val="251413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 Preprocessors</a:t>
            </a:r>
            <a:endParaRPr lang="en-IN" dirty="0"/>
          </a:p>
        </p:txBody>
      </p:sp>
      <p:sp>
        <p:nvSpPr>
          <p:cNvPr id="3" name="Content Placeholder 2"/>
          <p:cNvSpPr>
            <a:spLocks noGrp="1"/>
          </p:cNvSpPr>
          <p:nvPr>
            <p:ph idx="1"/>
          </p:nvPr>
        </p:nvSpPr>
        <p:spPr/>
        <p:txBody>
          <a:bodyPr>
            <a:normAutofit/>
          </a:bodyPr>
          <a:lstStyle/>
          <a:p>
            <a:pPr marL="0" indent="0">
              <a:buNone/>
            </a:pPr>
            <a:r>
              <a:rPr lang="en-US" dirty="0">
                <a:latin typeface="Consolas" panose="020B0609020204030204" pitchFamily="49" charset="0"/>
              </a:rPr>
              <a:t>Preprocessors are programs that process the source code before the actual compilation begins. They are not part of the compilation process but operate separately, allowing programmers to modify the code before compilation.</a:t>
            </a:r>
          </a:p>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Example: #include, #define etc</a:t>
            </a:r>
            <a:r>
              <a:rPr lang="en-US" dirty="0" smtClean="0">
                <a:latin typeface="Consolas" panose="020B0609020204030204" pitchFamily="49" charset="0"/>
              </a:rPr>
              <a:t>.</a:t>
            </a:r>
          </a:p>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 is the preprocessor directives.</a:t>
            </a:r>
            <a:endParaRPr lang="en-IN" dirty="0">
              <a:latin typeface="Consolas" panose="020B0609020204030204" pitchFamily="49" charset="0"/>
            </a:endParaRPr>
          </a:p>
          <a:p>
            <a:pPr marL="0" indent="0">
              <a:buNone/>
            </a:pPr>
            <a:endParaRPr lang="en-IN" dirty="0">
              <a:latin typeface="Consolas" panose="020B0609020204030204" pitchFamily="49" charset="0"/>
            </a:endParaRPr>
          </a:p>
        </p:txBody>
      </p:sp>
    </p:spTree>
    <p:extLst>
      <p:ext uri="{BB962C8B-B14F-4D97-AF65-F5344CB8AC3E}">
        <p14:creationId xmlns:p14="http://schemas.microsoft.com/office/powerpoint/2010/main" val="1551688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media.geeksforgeeks.org/wp-content/uploads/20230404112946/Compilation-Process-in-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0322" y="0"/>
            <a:ext cx="6977574" cy="667914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68813" y="6402147"/>
            <a:ext cx="3956724" cy="276999"/>
          </a:xfrm>
          <a:prstGeom prst="rect">
            <a:avLst/>
          </a:prstGeom>
          <a:noFill/>
        </p:spPr>
        <p:txBody>
          <a:bodyPr wrap="none" rtlCol="0">
            <a:spAutoFit/>
          </a:bodyPr>
          <a:lstStyle/>
          <a:p>
            <a:r>
              <a:rPr lang="en-IN" sz="1200" dirty="0" smtClean="0"/>
              <a:t>Source: https</a:t>
            </a:r>
            <a:r>
              <a:rPr lang="en-IN" sz="1200" dirty="0"/>
              <a:t>://www.geeksforgeeks.org/c/cc-preprocessors/</a:t>
            </a:r>
          </a:p>
        </p:txBody>
      </p:sp>
    </p:spTree>
    <p:extLst>
      <p:ext uri="{BB962C8B-B14F-4D97-AF65-F5344CB8AC3E}">
        <p14:creationId xmlns:p14="http://schemas.microsoft.com/office/powerpoint/2010/main" val="75320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onsolas" panose="020B0609020204030204" pitchFamily="49" charset="0"/>
              </a:rPr>
              <a:t>Types of C Preprocessors</a:t>
            </a:r>
            <a:endParaRPr lang="en-IN" dirty="0">
              <a:latin typeface="Consolas" panose="020B0609020204030204" pitchFamily="49" charset="0"/>
            </a:endParaRPr>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latin typeface="Consolas" panose="020B0609020204030204" pitchFamily="49" charset="0"/>
              </a:rPr>
              <a:t>Macros</a:t>
            </a:r>
          </a:p>
          <a:p>
            <a:pPr marL="514350" indent="-514350">
              <a:buFont typeface="+mj-lt"/>
              <a:buAutoNum type="arabicPeriod"/>
            </a:pPr>
            <a:r>
              <a:rPr lang="en-US" dirty="0" smtClean="0">
                <a:latin typeface="Consolas" panose="020B0609020204030204" pitchFamily="49" charset="0"/>
              </a:rPr>
              <a:t>File Inclusion</a:t>
            </a:r>
          </a:p>
          <a:p>
            <a:pPr marL="514350" indent="-514350">
              <a:buFont typeface="+mj-lt"/>
              <a:buAutoNum type="arabicPeriod"/>
            </a:pPr>
            <a:r>
              <a:rPr lang="en-US" dirty="0" smtClean="0">
                <a:latin typeface="Consolas" panose="020B0609020204030204" pitchFamily="49" charset="0"/>
              </a:rPr>
              <a:t>Conditional Compilation</a:t>
            </a:r>
          </a:p>
          <a:p>
            <a:pPr marL="514350" indent="-514350">
              <a:buFont typeface="+mj-lt"/>
              <a:buAutoNum type="arabicPeriod"/>
            </a:pPr>
            <a:r>
              <a:rPr lang="en-US" dirty="0" smtClean="0">
                <a:latin typeface="Consolas" panose="020B0609020204030204" pitchFamily="49" charset="0"/>
              </a:rPr>
              <a:t>Others</a:t>
            </a:r>
            <a:endParaRPr lang="en-IN" dirty="0">
              <a:latin typeface="Consolas" panose="020B0609020204030204" pitchFamily="49" charset="0"/>
            </a:endParaRPr>
          </a:p>
        </p:txBody>
      </p:sp>
    </p:spTree>
    <p:extLst>
      <p:ext uri="{BB962C8B-B14F-4D97-AF65-F5344CB8AC3E}">
        <p14:creationId xmlns:p14="http://schemas.microsoft.com/office/powerpoint/2010/main" val="3033914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5273"/>
            <a:ext cx="10515600" cy="1325563"/>
          </a:xfrm>
        </p:spPr>
        <p:txBody>
          <a:bodyPr/>
          <a:lstStyle/>
          <a:p>
            <a:r>
              <a:rPr lang="en-US" dirty="0" smtClean="0">
                <a:latin typeface="Consolas" panose="020B0609020204030204" pitchFamily="49" charset="0"/>
              </a:rPr>
              <a:t>Macros</a:t>
            </a:r>
            <a:endParaRPr lang="en-IN" dirty="0">
              <a:latin typeface="Consolas" panose="020B0609020204030204" pitchFamily="49" charset="0"/>
            </a:endParaRPr>
          </a:p>
        </p:txBody>
      </p:sp>
      <p:sp>
        <p:nvSpPr>
          <p:cNvPr id="3" name="Content Placeholder 2"/>
          <p:cNvSpPr>
            <a:spLocks noGrp="1"/>
          </p:cNvSpPr>
          <p:nvPr>
            <p:ph idx="1"/>
          </p:nvPr>
        </p:nvSpPr>
        <p:spPr>
          <a:xfrm>
            <a:off x="351691" y="1097280"/>
            <a:ext cx="11690253" cy="5760720"/>
          </a:xfrm>
        </p:spPr>
        <p:txBody>
          <a:bodyPr>
            <a:normAutofit fontScale="92500" lnSpcReduction="20000"/>
          </a:bodyPr>
          <a:lstStyle/>
          <a:p>
            <a:pPr marL="0" indent="0">
              <a:buNone/>
            </a:pPr>
            <a:r>
              <a:rPr lang="en-US" b="1" dirty="0">
                <a:latin typeface="Consolas" panose="020B0609020204030204" pitchFamily="49" charset="0"/>
              </a:rPr>
              <a:t>Macros </a:t>
            </a:r>
            <a:r>
              <a:rPr lang="en-US" dirty="0">
                <a:latin typeface="Consolas" panose="020B0609020204030204" pitchFamily="49" charset="0"/>
              </a:rPr>
              <a:t>are used to define constants or create functions that are substituted by the preprocessor before the code is compiled. The two preprocessors </a:t>
            </a:r>
            <a:r>
              <a:rPr lang="en-US" b="1" dirty="0">
                <a:latin typeface="Consolas" panose="020B0609020204030204" pitchFamily="49" charset="0"/>
              </a:rPr>
              <a:t>#define </a:t>
            </a:r>
            <a:r>
              <a:rPr lang="en-US" dirty="0">
                <a:latin typeface="Consolas" panose="020B0609020204030204" pitchFamily="49" charset="0"/>
              </a:rPr>
              <a:t>and </a:t>
            </a:r>
            <a:r>
              <a:rPr lang="en-US" b="1" dirty="0">
                <a:latin typeface="Consolas" panose="020B0609020204030204" pitchFamily="49" charset="0"/>
              </a:rPr>
              <a:t>#</a:t>
            </a:r>
            <a:r>
              <a:rPr lang="en-US" b="1" dirty="0" err="1">
                <a:latin typeface="Consolas" panose="020B0609020204030204" pitchFamily="49" charset="0"/>
              </a:rPr>
              <a:t>undef</a:t>
            </a:r>
            <a:r>
              <a:rPr lang="en-US" dirty="0">
                <a:latin typeface="Consolas" panose="020B0609020204030204" pitchFamily="49" charset="0"/>
              </a:rPr>
              <a:t> are used to create and remove macros in C.</a:t>
            </a:r>
            <a:endParaRPr lang="en-IN" dirty="0">
              <a:latin typeface="Consolas" panose="020B0609020204030204" pitchFamily="49" charset="0"/>
            </a:endParaRPr>
          </a:p>
          <a:p>
            <a:pPr marL="0" indent="0">
              <a:buNone/>
            </a:pPr>
            <a:endParaRPr lang="en-US" dirty="0" smtClean="0">
              <a:latin typeface="Consolas" panose="020B0609020204030204" pitchFamily="49" charset="0"/>
            </a:endParaRPr>
          </a:p>
          <a:p>
            <a:pPr marL="0" indent="0">
              <a:buNone/>
            </a:pPr>
            <a:endParaRPr lang="en-US" dirty="0" smtClean="0">
              <a:latin typeface="Consolas" panose="020B0609020204030204" pitchFamily="49" charset="0"/>
            </a:endParaRPr>
          </a:p>
          <a:p>
            <a:pPr marL="514350" indent="-514350">
              <a:buFont typeface="+mj-lt"/>
              <a:buAutoNum type="arabicPeriod"/>
            </a:pPr>
            <a:r>
              <a:rPr lang="en-US" dirty="0">
                <a:latin typeface="Consolas" panose="020B0609020204030204" pitchFamily="49" charset="0"/>
              </a:rPr>
              <a:t>#include &lt;</a:t>
            </a:r>
            <a:r>
              <a:rPr lang="en-US" dirty="0" err="1">
                <a:latin typeface="Consolas" panose="020B0609020204030204" pitchFamily="49" charset="0"/>
              </a:rPr>
              <a:t>stdio.h</a:t>
            </a:r>
            <a:r>
              <a:rPr lang="en-US" dirty="0" smtClean="0">
                <a:latin typeface="Consolas" panose="020B0609020204030204" pitchFamily="49" charset="0"/>
              </a:rPr>
              <a:t>&gt;</a:t>
            </a:r>
            <a:endParaRPr lang="en-US" dirty="0">
              <a:latin typeface="Consolas" panose="020B0609020204030204" pitchFamily="49" charset="0"/>
            </a:endParaRPr>
          </a:p>
          <a:p>
            <a:pPr marL="514350" indent="-514350">
              <a:buFont typeface="+mj-lt"/>
              <a:buAutoNum type="arabicPeriod"/>
            </a:pPr>
            <a:r>
              <a:rPr lang="en-US" dirty="0">
                <a:latin typeface="Consolas" panose="020B0609020204030204" pitchFamily="49" charset="0"/>
              </a:rPr>
              <a:t>// Macro Definition</a:t>
            </a:r>
          </a:p>
          <a:p>
            <a:pPr marL="514350" indent="-514350">
              <a:buFont typeface="+mj-lt"/>
              <a:buAutoNum type="arabicPeriod"/>
            </a:pPr>
            <a:r>
              <a:rPr lang="en-US" dirty="0">
                <a:solidFill>
                  <a:schemeClr val="accent2"/>
                </a:solidFill>
                <a:latin typeface="Consolas" panose="020B0609020204030204" pitchFamily="49" charset="0"/>
              </a:rPr>
              <a:t>#define </a:t>
            </a:r>
            <a:r>
              <a:rPr lang="en-US" dirty="0">
                <a:latin typeface="Consolas" panose="020B0609020204030204" pitchFamily="49" charset="0"/>
              </a:rPr>
              <a:t>LIMIT </a:t>
            </a:r>
            <a:r>
              <a:rPr lang="en-US" dirty="0" smtClean="0">
                <a:latin typeface="Consolas" panose="020B0609020204030204" pitchFamily="49" charset="0"/>
              </a:rPr>
              <a:t>5</a:t>
            </a:r>
            <a:endParaRPr lang="en-US" dirty="0">
              <a:latin typeface="Consolas" panose="020B0609020204030204" pitchFamily="49" charset="0"/>
            </a:endParaRPr>
          </a:p>
          <a:p>
            <a:pPr marL="514350" indent="-514350">
              <a:buFont typeface="+mj-lt"/>
              <a:buAutoNum type="arabicPeriod"/>
            </a:pPr>
            <a:r>
              <a:rPr lang="en-US" dirty="0" err="1">
                <a:latin typeface="Consolas" panose="020B0609020204030204" pitchFamily="49" charset="0"/>
              </a:rPr>
              <a:t>int</a:t>
            </a:r>
            <a:r>
              <a:rPr lang="en-US" dirty="0">
                <a:latin typeface="Consolas" panose="020B0609020204030204" pitchFamily="49" charset="0"/>
              </a:rPr>
              <a:t> </a:t>
            </a:r>
            <a:r>
              <a:rPr lang="en-US" dirty="0" smtClean="0">
                <a:solidFill>
                  <a:srgbClr val="92D050"/>
                </a:solidFill>
                <a:latin typeface="Consolas" panose="020B0609020204030204" pitchFamily="49" charset="0"/>
              </a:rPr>
              <a:t>main(){</a:t>
            </a:r>
            <a:endParaRPr lang="en-US" dirty="0">
              <a:solidFill>
                <a:srgbClr val="92D050"/>
              </a:solidFill>
              <a:latin typeface="Consolas" panose="020B0609020204030204" pitchFamily="49" charset="0"/>
            </a:endParaRPr>
          </a:p>
          <a:p>
            <a:pPr marL="514350" indent="-514350">
              <a:buFont typeface="+mj-lt"/>
              <a:buAutoNum type="arabicPeriod"/>
            </a:pPr>
            <a:r>
              <a:rPr lang="en-US" dirty="0">
                <a:latin typeface="Consolas" panose="020B0609020204030204" pitchFamily="49" charset="0"/>
              </a:rPr>
              <a:t>    </a:t>
            </a:r>
            <a:r>
              <a:rPr lang="en-US" dirty="0">
                <a:solidFill>
                  <a:schemeClr val="accent2"/>
                </a:solidFill>
                <a:latin typeface="Consolas" panose="020B0609020204030204" pitchFamily="49" charset="0"/>
              </a:rPr>
              <a:t>for </a:t>
            </a:r>
            <a:r>
              <a:rPr lang="en-US" dirty="0">
                <a:latin typeface="Consolas" panose="020B0609020204030204" pitchFamily="49" charset="0"/>
              </a:rPr>
              <a:t>(</a:t>
            </a:r>
            <a:r>
              <a:rPr lang="en-US" dirty="0" err="1" smtClean="0">
                <a:latin typeface="Consolas" panose="020B0609020204030204" pitchFamily="49" charset="0"/>
              </a:rPr>
              <a:t>int</a:t>
            </a:r>
            <a:r>
              <a:rPr lang="en-US" dirty="0" smtClean="0">
                <a:latin typeface="Consolas" panose="020B0609020204030204" pitchFamily="49" charset="0"/>
              </a:rPr>
              <a:t> </a:t>
            </a:r>
            <a:r>
              <a:rPr lang="en-US" dirty="0" err="1">
                <a:latin typeface="Consolas" panose="020B0609020204030204" pitchFamily="49" charset="0"/>
              </a:rPr>
              <a:t>i</a:t>
            </a:r>
            <a:r>
              <a:rPr lang="en-US" dirty="0">
                <a:latin typeface="Consolas" panose="020B0609020204030204" pitchFamily="49" charset="0"/>
              </a:rPr>
              <a:t> = 0; </a:t>
            </a:r>
            <a:r>
              <a:rPr lang="en-US" dirty="0" err="1">
                <a:latin typeface="Consolas" panose="020B0609020204030204" pitchFamily="49" charset="0"/>
              </a:rPr>
              <a:t>i</a:t>
            </a:r>
            <a:r>
              <a:rPr lang="en-US" dirty="0">
                <a:latin typeface="Consolas" panose="020B0609020204030204" pitchFamily="49" charset="0"/>
              </a:rPr>
              <a:t> &lt; LIMIT; </a:t>
            </a:r>
            <a:r>
              <a:rPr lang="en-US" dirty="0" err="1">
                <a:latin typeface="Consolas" panose="020B0609020204030204" pitchFamily="49" charset="0"/>
              </a:rPr>
              <a:t>i</a:t>
            </a:r>
            <a:r>
              <a:rPr lang="en-US" dirty="0">
                <a:latin typeface="Consolas" panose="020B0609020204030204" pitchFamily="49" charset="0"/>
              </a:rPr>
              <a:t>++) {</a:t>
            </a:r>
          </a:p>
          <a:p>
            <a:pPr marL="514350" indent="-514350">
              <a:buFont typeface="+mj-lt"/>
              <a:buAutoNum type="arabicPeriod"/>
            </a:pPr>
            <a:r>
              <a:rPr lang="en-US" dirty="0">
                <a:latin typeface="Consolas" panose="020B0609020204030204" pitchFamily="49" charset="0"/>
              </a:rPr>
              <a:t>        </a:t>
            </a:r>
            <a:r>
              <a:rPr lang="en-US" dirty="0" err="1">
                <a:solidFill>
                  <a:srgbClr val="92D050"/>
                </a:solidFill>
                <a:latin typeface="Consolas" panose="020B0609020204030204" pitchFamily="49" charset="0"/>
              </a:rPr>
              <a:t>printf</a:t>
            </a:r>
            <a:r>
              <a:rPr lang="en-US" dirty="0">
                <a:latin typeface="Consolas" panose="020B0609020204030204" pitchFamily="49" charset="0"/>
              </a:rPr>
              <a:t>("%d \n", </a:t>
            </a:r>
            <a:r>
              <a:rPr lang="en-US" dirty="0" err="1">
                <a:latin typeface="Consolas" panose="020B0609020204030204" pitchFamily="49" charset="0"/>
              </a:rPr>
              <a:t>i</a:t>
            </a:r>
            <a:r>
              <a:rPr lang="en-US" dirty="0">
                <a:latin typeface="Consolas" panose="020B0609020204030204" pitchFamily="49" charset="0"/>
              </a:rPr>
              <a:t>);</a:t>
            </a:r>
          </a:p>
          <a:p>
            <a:pPr marL="514350" indent="-514350">
              <a:buFont typeface="+mj-lt"/>
              <a:buAutoNum type="arabicPeriod"/>
            </a:pPr>
            <a:r>
              <a:rPr lang="en-US" dirty="0">
                <a:latin typeface="Consolas" panose="020B0609020204030204" pitchFamily="49" charset="0"/>
              </a:rPr>
              <a:t>    }</a:t>
            </a:r>
          </a:p>
          <a:p>
            <a:pPr marL="514350" indent="-514350">
              <a:buFont typeface="+mj-lt"/>
              <a:buAutoNum type="arabicPeriod"/>
            </a:pPr>
            <a:r>
              <a:rPr lang="en-US" dirty="0">
                <a:latin typeface="Consolas" panose="020B0609020204030204" pitchFamily="49" charset="0"/>
              </a:rPr>
              <a:t>    </a:t>
            </a:r>
            <a:r>
              <a:rPr lang="en-US" dirty="0">
                <a:solidFill>
                  <a:srgbClr val="92D050"/>
                </a:solidFill>
                <a:latin typeface="Consolas" panose="020B0609020204030204" pitchFamily="49" charset="0"/>
              </a:rPr>
              <a:t>return</a:t>
            </a:r>
            <a:r>
              <a:rPr lang="en-US" dirty="0">
                <a:latin typeface="Consolas" panose="020B0609020204030204" pitchFamily="49" charset="0"/>
              </a:rPr>
              <a:t> 0;</a:t>
            </a:r>
          </a:p>
          <a:p>
            <a:pPr marL="514350" indent="-514350">
              <a:buFont typeface="+mj-lt"/>
              <a:buAutoNum type="arabicPeriod"/>
            </a:pPr>
            <a:r>
              <a:rPr lang="en-US" dirty="0" smtClean="0">
                <a:latin typeface="Consolas" panose="020B0609020204030204" pitchFamily="49" charset="0"/>
              </a:rPr>
              <a:t>}</a:t>
            </a:r>
            <a:endParaRPr lang="en-IN" dirty="0">
              <a:latin typeface="Consolas" panose="020B0609020204030204" pitchFamily="49" charset="0"/>
            </a:endParaRPr>
          </a:p>
        </p:txBody>
      </p:sp>
    </p:spTree>
    <p:extLst>
      <p:ext uri="{BB962C8B-B14F-4D97-AF65-F5344CB8AC3E}">
        <p14:creationId xmlns:p14="http://schemas.microsoft.com/office/powerpoint/2010/main" val="2779073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onsolas" panose="020B0609020204030204" pitchFamily="49" charset="0"/>
              </a:rPr>
              <a:t>Takeaways</a:t>
            </a:r>
            <a:endParaRPr lang="en-IN" dirty="0">
              <a:latin typeface="Consolas" panose="020B0609020204030204" pitchFamily="49" charset="0"/>
            </a:endParaRPr>
          </a:p>
        </p:txBody>
      </p:sp>
      <p:sp>
        <p:nvSpPr>
          <p:cNvPr id="3" name="Content Placeholder 2"/>
          <p:cNvSpPr>
            <a:spLocks noGrp="1"/>
          </p:cNvSpPr>
          <p:nvPr>
            <p:ph idx="1"/>
          </p:nvPr>
        </p:nvSpPr>
        <p:spPr>
          <a:xfrm>
            <a:off x="838200" y="1825625"/>
            <a:ext cx="10880188" cy="4351338"/>
          </a:xfrm>
        </p:spPr>
        <p:txBody>
          <a:bodyPr>
            <a:normAutofit lnSpcReduction="10000"/>
          </a:bodyPr>
          <a:lstStyle/>
          <a:p>
            <a:pPr marL="0" indent="0">
              <a:buNone/>
            </a:pPr>
            <a:r>
              <a:rPr lang="en-US" dirty="0" smtClean="0">
                <a:solidFill>
                  <a:srgbClr val="FF0000"/>
                </a:solidFill>
                <a:latin typeface="Consolas" panose="020B0609020204030204" pitchFamily="49" charset="0"/>
              </a:rPr>
              <a:t>#define PI 3.14 </a:t>
            </a:r>
          </a:p>
          <a:p>
            <a:r>
              <a:rPr lang="en-US" dirty="0" smtClean="0">
                <a:latin typeface="Consolas" panose="020B0609020204030204" pitchFamily="49" charset="0"/>
              </a:rPr>
              <a:t>The macro’s name should be all capital letters and unlike variables it doesn’t end with </a:t>
            </a:r>
            <a:r>
              <a:rPr lang="en-US" dirty="0" smtClean="0">
                <a:solidFill>
                  <a:srgbClr val="FF0000"/>
                </a:solidFill>
                <a:latin typeface="Consolas" panose="020B0609020204030204" pitchFamily="49" charset="0"/>
              </a:rPr>
              <a:t>;</a:t>
            </a:r>
            <a:endParaRPr lang="en-US" dirty="0" smtClean="0">
              <a:latin typeface="Consolas" panose="020B0609020204030204" pitchFamily="49" charset="0"/>
            </a:endParaRPr>
          </a:p>
          <a:p>
            <a:r>
              <a:rPr lang="en-US" dirty="0" smtClean="0">
                <a:latin typeface="Consolas" panose="020B0609020204030204" pitchFamily="49" charset="0"/>
              </a:rPr>
              <a:t>The macro accepts constant values.</a:t>
            </a:r>
          </a:p>
          <a:p>
            <a:r>
              <a:rPr lang="en-US" dirty="0" smtClean="0">
                <a:latin typeface="Consolas" panose="020B0609020204030204" pitchFamily="49" charset="0"/>
              </a:rPr>
              <a:t>Why not use a variable like </a:t>
            </a:r>
            <a:r>
              <a:rPr lang="en-US" dirty="0" smtClean="0">
                <a:solidFill>
                  <a:srgbClr val="FF0000"/>
                </a:solidFill>
                <a:latin typeface="Consolas" panose="020B0609020204030204" pitchFamily="49" charset="0"/>
              </a:rPr>
              <a:t>float pi = 3.14 ;</a:t>
            </a:r>
            <a:endParaRPr lang="en-US" dirty="0" smtClean="0">
              <a:latin typeface="Consolas" panose="020B0609020204030204" pitchFamily="49" charset="0"/>
            </a:endParaRPr>
          </a:p>
          <a:p>
            <a:pPr marL="914400" lvl="1" indent="-457200">
              <a:buFont typeface="+mj-lt"/>
              <a:buAutoNum type="arabicPeriod"/>
            </a:pPr>
            <a:r>
              <a:rPr lang="en-US" dirty="0" smtClean="0">
                <a:latin typeface="Consolas" panose="020B0609020204030204" pitchFamily="49" charset="0"/>
              </a:rPr>
              <a:t>It is inefficient since the compiler can generate faster code for constants than for variables.</a:t>
            </a:r>
          </a:p>
          <a:p>
            <a:pPr marL="914400" lvl="1" indent="-457200">
              <a:buFont typeface="+mj-lt"/>
              <a:buAutoNum type="arabicPeriod"/>
            </a:pPr>
            <a:r>
              <a:rPr lang="en-US" dirty="0" smtClean="0">
                <a:latin typeface="Consolas" panose="020B0609020204030204" pitchFamily="49" charset="0"/>
              </a:rPr>
              <a:t>The constant value never changes, so making it a variable is counterproductive.</a:t>
            </a:r>
          </a:p>
          <a:p>
            <a:pPr marL="914400" lvl="1" indent="-457200">
              <a:buFont typeface="+mj-lt"/>
              <a:buAutoNum type="arabicPeriod"/>
            </a:pPr>
            <a:r>
              <a:rPr lang="en-US" dirty="0" smtClean="0">
                <a:latin typeface="Consolas" panose="020B0609020204030204" pitchFamily="49" charset="0"/>
              </a:rPr>
              <a:t>There is always a danger that the variable might be altered.</a:t>
            </a:r>
            <a:endParaRPr lang="en-IN" dirty="0">
              <a:latin typeface="Consolas" panose="020B0609020204030204" pitchFamily="49" charset="0"/>
            </a:endParaRPr>
          </a:p>
        </p:txBody>
      </p:sp>
    </p:spTree>
    <p:extLst>
      <p:ext uri="{BB962C8B-B14F-4D97-AF65-F5344CB8AC3E}">
        <p14:creationId xmlns:p14="http://schemas.microsoft.com/office/powerpoint/2010/main" val="2327134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onsolas" panose="020B0609020204030204" pitchFamily="49" charset="0"/>
              </a:rPr>
              <a:t>Macros with Arguments</a:t>
            </a:r>
            <a:endParaRPr lang="en-IN" dirty="0">
              <a:latin typeface="Consolas" panose="020B0609020204030204" pitchFamily="49" charset="0"/>
            </a:endParaRPr>
          </a:p>
        </p:txBody>
      </p:sp>
      <p:sp>
        <p:nvSpPr>
          <p:cNvPr id="3" name="Content Placeholder 2"/>
          <p:cNvSpPr>
            <a:spLocks noGrp="1"/>
          </p:cNvSpPr>
          <p:nvPr>
            <p:ph idx="1"/>
          </p:nvPr>
        </p:nvSpPr>
        <p:spPr/>
        <p:txBody>
          <a:bodyPr/>
          <a:lstStyle/>
          <a:p>
            <a:pPr marL="514350" indent="-514350" fontAlgn="base">
              <a:buFont typeface="+mj-lt"/>
              <a:buAutoNum type="arabicPeriod"/>
            </a:pPr>
            <a:r>
              <a:rPr lang="en-US" dirty="0" smtClean="0">
                <a:solidFill>
                  <a:srgbClr val="FF0000"/>
                </a:solidFill>
                <a:latin typeface="Consolas" panose="020B0609020204030204" pitchFamily="49" charset="0"/>
              </a:rPr>
              <a:t>#include&lt;</a:t>
            </a:r>
            <a:r>
              <a:rPr lang="en-US" dirty="0" err="1" smtClean="0">
                <a:solidFill>
                  <a:srgbClr val="FF0000"/>
                </a:solidFill>
                <a:latin typeface="Consolas" panose="020B0609020204030204" pitchFamily="49" charset="0"/>
              </a:rPr>
              <a:t>stdio.h</a:t>
            </a:r>
            <a:r>
              <a:rPr lang="en-US" dirty="0" smtClean="0">
                <a:solidFill>
                  <a:srgbClr val="FF0000"/>
                </a:solidFill>
                <a:latin typeface="Consolas" panose="020B0609020204030204" pitchFamily="49" charset="0"/>
              </a:rPr>
              <a:t>&gt;</a:t>
            </a:r>
          </a:p>
          <a:p>
            <a:pPr marL="514350" indent="-514350" fontAlgn="base">
              <a:buFont typeface="+mj-lt"/>
              <a:buAutoNum type="arabicPeriod"/>
            </a:pPr>
            <a:r>
              <a:rPr lang="en-US" dirty="0" smtClean="0">
                <a:latin typeface="Consolas" panose="020B0609020204030204" pitchFamily="49" charset="0"/>
              </a:rPr>
              <a:t>#</a:t>
            </a:r>
            <a:r>
              <a:rPr lang="en-US" dirty="0">
                <a:latin typeface="Consolas" panose="020B0609020204030204" pitchFamily="49" charset="0"/>
              </a:rPr>
              <a:t>define </a:t>
            </a:r>
            <a:r>
              <a:rPr lang="en-US" dirty="0">
                <a:solidFill>
                  <a:srgbClr val="FF0000"/>
                </a:solidFill>
                <a:latin typeface="Consolas" panose="020B0609020204030204" pitchFamily="49" charset="0"/>
              </a:rPr>
              <a:t>SQUARE(x) </a:t>
            </a:r>
            <a:r>
              <a:rPr lang="en-US" dirty="0">
                <a:latin typeface="Consolas" panose="020B0609020204030204" pitchFamily="49" charset="0"/>
              </a:rPr>
              <a:t>(x * x</a:t>
            </a:r>
            <a:r>
              <a:rPr lang="en-US" dirty="0" smtClean="0">
                <a:latin typeface="Consolas" panose="020B0609020204030204" pitchFamily="49" charset="0"/>
              </a:rPr>
              <a:t>)</a:t>
            </a:r>
          </a:p>
          <a:p>
            <a:pPr marL="514350" indent="-514350" fontAlgn="base">
              <a:buFont typeface="+mj-lt"/>
              <a:buAutoNum type="arabicPeriod"/>
            </a:pPr>
            <a:endParaRPr lang="en-US" dirty="0">
              <a:latin typeface="Consolas" panose="020B0609020204030204" pitchFamily="49" charset="0"/>
            </a:endParaRPr>
          </a:p>
          <a:p>
            <a:pPr marL="514350" indent="-514350" fontAlgn="base">
              <a:buFont typeface="+mj-lt"/>
              <a:buAutoNum type="arabicPeriod"/>
            </a:pPr>
            <a:r>
              <a:rPr lang="en-US" dirty="0" err="1">
                <a:latin typeface="Consolas" panose="020B0609020204030204" pitchFamily="49" charset="0"/>
              </a:rPr>
              <a:t>int</a:t>
            </a:r>
            <a:r>
              <a:rPr lang="en-US" dirty="0">
                <a:latin typeface="Consolas" panose="020B0609020204030204" pitchFamily="49" charset="0"/>
              </a:rPr>
              <a:t> main() {</a:t>
            </a:r>
          </a:p>
          <a:p>
            <a:pPr marL="514350" indent="-514350" fontAlgn="base">
              <a:buFont typeface="+mj-lt"/>
              <a:buAutoNum type="arabicPeriod"/>
            </a:pPr>
            <a:r>
              <a:rPr lang="en-US" dirty="0" err="1">
                <a:latin typeface="Consolas" panose="020B0609020204030204" pitchFamily="49" charset="0"/>
              </a:rPr>
              <a:t>int</a:t>
            </a:r>
            <a:r>
              <a:rPr lang="en-US" dirty="0">
                <a:latin typeface="Consolas" panose="020B0609020204030204" pitchFamily="49" charset="0"/>
              </a:rPr>
              <a:t> </a:t>
            </a:r>
            <a:r>
              <a:rPr lang="en-US" dirty="0">
                <a:solidFill>
                  <a:srgbClr val="FF0000"/>
                </a:solidFill>
                <a:latin typeface="Consolas" panose="020B0609020204030204" pitchFamily="49" charset="0"/>
              </a:rPr>
              <a:t>result</a:t>
            </a:r>
            <a:r>
              <a:rPr lang="en-US" dirty="0">
                <a:latin typeface="Consolas" panose="020B0609020204030204" pitchFamily="49" charset="0"/>
              </a:rPr>
              <a:t> = </a:t>
            </a:r>
            <a:r>
              <a:rPr lang="en-US" dirty="0">
                <a:solidFill>
                  <a:srgbClr val="FF0000"/>
                </a:solidFill>
                <a:latin typeface="Consolas" panose="020B0609020204030204" pitchFamily="49" charset="0"/>
              </a:rPr>
              <a:t>SQUARE(5);</a:t>
            </a:r>
          </a:p>
          <a:p>
            <a:pPr marL="514350" indent="-514350" fontAlgn="base">
              <a:buFont typeface="+mj-lt"/>
              <a:buAutoNum type="arabicPeriod"/>
            </a:pPr>
            <a:r>
              <a:rPr lang="en-US" dirty="0" err="1">
                <a:latin typeface="Consolas" panose="020B0609020204030204" pitchFamily="49" charset="0"/>
              </a:rPr>
              <a:t>printf</a:t>
            </a:r>
            <a:r>
              <a:rPr lang="en-US" dirty="0">
                <a:latin typeface="Consolas" panose="020B0609020204030204" pitchFamily="49" charset="0"/>
              </a:rPr>
              <a:t>("The square of 5 is: %d\n", result);</a:t>
            </a:r>
          </a:p>
          <a:p>
            <a:pPr marL="514350" indent="-514350" fontAlgn="base">
              <a:buFont typeface="+mj-lt"/>
              <a:buAutoNum type="arabicPeriod"/>
            </a:pPr>
            <a:r>
              <a:rPr lang="en-US" b="1" dirty="0">
                <a:latin typeface="Consolas" panose="020B0609020204030204" pitchFamily="49" charset="0"/>
              </a:rPr>
              <a:t>return</a:t>
            </a:r>
            <a:r>
              <a:rPr lang="en-US" dirty="0">
                <a:latin typeface="Consolas" panose="020B0609020204030204" pitchFamily="49" charset="0"/>
              </a:rPr>
              <a:t> 0;</a:t>
            </a:r>
          </a:p>
          <a:p>
            <a:pPr marL="514350" indent="-514350" fontAlgn="base">
              <a:buFont typeface="+mj-lt"/>
              <a:buAutoNum type="arabicPeriod"/>
            </a:pPr>
            <a:r>
              <a:rPr lang="en-US" dirty="0">
                <a:latin typeface="Consolas" panose="020B0609020204030204" pitchFamily="49" charset="0"/>
              </a:rPr>
              <a:t>}</a:t>
            </a:r>
          </a:p>
          <a:p>
            <a:pPr marL="0" indent="0">
              <a:buNone/>
            </a:pPr>
            <a:endParaRPr lang="en-IN" dirty="0">
              <a:latin typeface="Consolas" panose="020B0609020204030204" pitchFamily="49" charset="0"/>
            </a:endParaRPr>
          </a:p>
        </p:txBody>
      </p:sp>
    </p:spTree>
    <p:extLst>
      <p:ext uri="{BB962C8B-B14F-4D97-AF65-F5344CB8AC3E}">
        <p14:creationId xmlns:p14="http://schemas.microsoft.com/office/powerpoint/2010/main" val="1937336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Consolas" panose="020B0609020204030204" pitchFamily="49" charset="0"/>
              </a:rPr>
              <a:t>File </a:t>
            </a:r>
            <a:r>
              <a:rPr lang="en-IN" b="1" dirty="0" smtClean="0">
                <a:latin typeface="Consolas" panose="020B0609020204030204" pitchFamily="49" charset="0"/>
              </a:rPr>
              <a:t>Inclusion</a:t>
            </a:r>
            <a:endParaRPr lang="en-IN" dirty="0">
              <a:latin typeface="Consolas" panose="020B0609020204030204" pitchFamily="49" charset="0"/>
            </a:endParaRPr>
          </a:p>
        </p:txBody>
      </p:sp>
      <p:sp>
        <p:nvSpPr>
          <p:cNvPr id="3" name="Content Placeholder 2"/>
          <p:cNvSpPr>
            <a:spLocks noGrp="1"/>
          </p:cNvSpPr>
          <p:nvPr>
            <p:ph idx="1"/>
          </p:nvPr>
        </p:nvSpPr>
        <p:spPr>
          <a:xfrm>
            <a:off x="838200" y="1825625"/>
            <a:ext cx="11161542" cy="4351338"/>
          </a:xfrm>
        </p:spPr>
        <p:txBody>
          <a:bodyPr/>
          <a:lstStyle/>
          <a:p>
            <a:pPr marL="0" indent="0">
              <a:buNone/>
            </a:pPr>
            <a:r>
              <a:rPr lang="en-US" dirty="0">
                <a:latin typeface="Consolas" panose="020B0609020204030204" pitchFamily="49" charset="0"/>
              </a:rPr>
              <a:t>File inclusion allows you to include external files (header files, libraries, etc.) into the current program. This is typically done using the</a:t>
            </a:r>
            <a:r>
              <a:rPr lang="en-US" b="1" dirty="0">
                <a:latin typeface="Consolas" panose="020B0609020204030204" pitchFamily="49" charset="0"/>
              </a:rPr>
              <a:t> #include</a:t>
            </a:r>
            <a:r>
              <a:rPr lang="en-US" dirty="0">
                <a:latin typeface="Consolas" panose="020B0609020204030204" pitchFamily="49" charset="0"/>
              </a:rPr>
              <a:t> directive, which can include both system and user-defined files</a:t>
            </a:r>
            <a:r>
              <a:rPr lang="en-US" dirty="0" smtClean="0">
                <a:latin typeface="Consolas" panose="020B0609020204030204" pitchFamily="49" charset="0"/>
              </a:rPr>
              <a:t>.</a:t>
            </a:r>
          </a:p>
          <a:p>
            <a:pPr marL="0" indent="0">
              <a:buNone/>
            </a:pPr>
            <a:endParaRPr lang="en-US" dirty="0">
              <a:latin typeface="Consolas" panose="020B0609020204030204" pitchFamily="49" charset="0"/>
            </a:endParaRPr>
          </a:p>
          <a:p>
            <a:pPr marL="0" indent="0">
              <a:buNone/>
            </a:pPr>
            <a:r>
              <a:rPr lang="en-US" dirty="0" smtClean="0">
                <a:latin typeface="Consolas" panose="020B0609020204030204" pitchFamily="49" charset="0"/>
              </a:rPr>
              <a:t>Ex: #include&lt;</a:t>
            </a:r>
            <a:r>
              <a:rPr lang="en-US" dirty="0" err="1" smtClean="0">
                <a:latin typeface="Consolas" panose="020B0609020204030204" pitchFamily="49" charset="0"/>
              </a:rPr>
              <a:t>string.h</a:t>
            </a:r>
            <a:r>
              <a:rPr lang="en-US" dirty="0" smtClean="0">
                <a:latin typeface="Consolas" panose="020B0609020204030204" pitchFamily="49" charset="0"/>
              </a:rPr>
              <a:t>&gt;</a:t>
            </a:r>
            <a:endParaRPr lang="en-IN" dirty="0">
              <a:latin typeface="Consolas" panose="020B0609020204030204" pitchFamily="49" charset="0"/>
            </a:endParaRPr>
          </a:p>
        </p:txBody>
      </p:sp>
    </p:spTree>
    <p:extLst>
      <p:ext uri="{BB962C8B-B14F-4D97-AF65-F5344CB8AC3E}">
        <p14:creationId xmlns:p14="http://schemas.microsoft.com/office/powerpoint/2010/main" val="1059628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Consolas" panose="020B0609020204030204" pitchFamily="49" charset="0"/>
              </a:rPr>
              <a:t>Conditional </a:t>
            </a:r>
            <a:r>
              <a:rPr lang="en-IN" b="1" dirty="0" smtClean="0">
                <a:latin typeface="Consolas" panose="020B0609020204030204" pitchFamily="49" charset="0"/>
              </a:rPr>
              <a:t>Compilation</a:t>
            </a:r>
            <a:endParaRPr lang="en-IN" dirty="0">
              <a:latin typeface="Consolas" panose="020B0609020204030204" pitchFamily="49" charset="0"/>
            </a:endParaRPr>
          </a:p>
        </p:txBody>
      </p:sp>
      <p:sp>
        <p:nvSpPr>
          <p:cNvPr id="3" name="Content Placeholder 2"/>
          <p:cNvSpPr>
            <a:spLocks noGrp="1"/>
          </p:cNvSpPr>
          <p:nvPr>
            <p:ph idx="1"/>
          </p:nvPr>
        </p:nvSpPr>
        <p:spPr>
          <a:xfrm>
            <a:off x="838200" y="1825625"/>
            <a:ext cx="10950526" cy="4351338"/>
          </a:xfrm>
        </p:spPr>
        <p:txBody>
          <a:bodyPr>
            <a:normAutofit fontScale="92500" lnSpcReduction="20000"/>
          </a:bodyPr>
          <a:lstStyle/>
          <a:p>
            <a:r>
              <a:rPr lang="en-US" dirty="0">
                <a:latin typeface="Consolas" panose="020B0609020204030204" pitchFamily="49" charset="0"/>
              </a:rPr>
              <a:t>Conditional compilation allows you to include or exclude parts of the code depending on certain conditions. This is useful for creating platform-specific code or for debugging. </a:t>
            </a:r>
            <a:endParaRPr lang="en-US" dirty="0" smtClean="0">
              <a:latin typeface="Consolas" panose="020B0609020204030204" pitchFamily="49" charset="0"/>
            </a:endParaRPr>
          </a:p>
          <a:p>
            <a:r>
              <a:rPr lang="en-US" dirty="0" smtClean="0">
                <a:latin typeface="Consolas" panose="020B0609020204030204" pitchFamily="49" charset="0"/>
              </a:rPr>
              <a:t>There </a:t>
            </a:r>
            <a:r>
              <a:rPr lang="en-US" dirty="0">
                <a:latin typeface="Consolas" panose="020B0609020204030204" pitchFamily="49" charset="0"/>
              </a:rPr>
              <a:t>are the following conditional preprocessor directives: </a:t>
            </a:r>
            <a:r>
              <a:rPr lang="en-US" dirty="0">
                <a:solidFill>
                  <a:srgbClr val="FF0000"/>
                </a:solidFill>
                <a:latin typeface="Consolas" panose="020B0609020204030204" pitchFamily="49" charset="0"/>
              </a:rPr>
              <a:t>#if, #</a:t>
            </a:r>
            <a:r>
              <a:rPr lang="en-US" dirty="0" err="1">
                <a:solidFill>
                  <a:srgbClr val="FF0000"/>
                </a:solidFill>
                <a:latin typeface="Consolas" panose="020B0609020204030204" pitchFamily="49" charset="0"/>
              </a:rPr>
              <a:t>ifdef</a:t>
            </a:r>
            <a:r>
              <a:rPr lang="en-US" dirty="0">
                <a:solidFill>
                  <a:srgbClr val="FF0000"/>
                </a:solidFill>
                <a:latin typeface="Consolas" panose="020B0609020204030204" pitchFamily="49" charset="0"/>
              </a:rPr>
              <a:t>, #</a:t>
            </a:r>
            <a:r>
              <a:rPr lang="en-US" dirty="0" err="1">
                <a:solidFill>
                  <a:srgbClr val="FF0000"/>
                </a:solidFill>
                <a:latin typeface="Consolas" panose="020B0609020204030204" pitchFamily="49" charset="0"/>
              </a:rPr>
              <a:t>ifndef</a:t>
            </a:r>
            <a:r>
              <a:rPr lang="en-US" dirty="0">
                <a:solidFill>
                  <a:srgbClr val="FF0000"/>
                </a:solidFill>
                <a:latin typeface="Consolas" panose="020B0609020204030204" pitchFamily="49" charset="0"/>
              </a:rPr>
              <a:t>, </a:t>
            </a:r>
            <a:r>
              <a:rPr lang="en-US" dirty="0" smtClean="0">
                <a:solidFill>
                  <a:srgbClr val="FF0000"/>
                </a:solidFill>
                <a:latin typeface="Consolas" panose="020B0609020204030204" pitchFamily="49" charset="0"/>
              </a:rPr>
              <a:t>#else</a:t>
            </a:r>
            <a:r>
              <a:rPr lang="en-US" dirty="0">
                <a:solidFill>
                  <a:srgbClr val="FF0000"/>
                </a:solidFill>
                <a:latin typeface="Consolas" panose="020B0609020204030204" pitchFamily="49" charset="0"/>
              </a:rPr>
              <a:t>, #</a:t>
            </a:r>
            <a:r>
              <a:rPr lang="en-US" dirty="0" err="1">
                <a:solidFill>
                  <a:srgbClr val="FF0000"/>
                </a:solidFill>
                <a:latin typeface="Consolas" panose="020B0609020204030204" pitchFamily="49" charset="0"/>
              </a:rPr>
              <a:t>elif</a:t>
            </a:r>
            <a:r>
              <a:rPr lang="en-US" dirty="0">
                <a:solidFill>
                  <a:srgbClr val="FF0000"/>
                </a:solidFill>
                <a:latin typeface="Consolas" panose="020B0609020204030204" pitchFamily="49" charset="0"/>
              </a:rPr>
              <a:t> and #</a:t>
            </a:r>
            <a:r>
              <a:rPr lang="en-US" dirty="0" err="1" smtClean="0">
                <a:solidFill>
                  <a:srgbClr val="FF0000"/>
                </a:solidFill>
                <a:latin typeface="Consolas" panose="020B0609020204030204" pitchFamily="49" charset="0"/>
              </a:rPr>
              <a:t>endif</a:t>
            </a:r>
            <a:endParaRPr lang="en-US" dirty="0" smtClean="0">
              <a:solidFill>
                <a:srgbClr val="FF0000"/>
              </a:solidFill>
              <a:latin typeface="Consolas" panose="020B0609020204030204" pitchFamily="49" charset="0"/>
            </a:endParaRPr>
          </a:p>
          <a:p>
            <a:pPr lvl="1"/>
            <a:r>
              <a:rPr lang="en-US" sz="1800" dirty="0" smtClean="0">
                <a:latin typeface="Consolas" panose="020B0609020204030204" pitchFamily="49" charset="0"/>
              </a:rPr>
              <a:t>  </a:t>
            </a:r>
            <a:r>
              <a:rPr lang="en-US" sz="2200" dirty="0" smtClean="0">
                <a:latin typeface="Consolas" panose="020B0609020204030204" pitchFamily="49" charset="0"/>
              </a:rPr>
              <a:t># </a:t>
            </a:r>
            <a:r>
              <a:rPr lang="en-US" sz="2200" dirty="0" err="1">
                <a:latin typeface="Consolas" panose="020B0609020204030204" pitchFamily="49" charset="0"/>
              </a:rPr>
              <a:t>ifdef</a:t>
            </a:r>
            <a:r>
              <a:rPr lang="en-US" sz="2200" dirty="0">
                <a:latin typeface="Consolas" panose="020B0609020204030204" pitchFamily="49" charset="0"/>
              </a:rPr>
              <a:t> </a:t>
            </a:r>
            <a:r>
              <a:rPr lang="en-US" sz="2200" dirty="0" err="1">
                <a:latin typeface="Consolas" panose="020B0609020204030204" pitchFamily="49" charset="0"/>
              </a:rPr>
              <a:t>macroname</a:t>
            </a:r>
            <a:endParaRPr lang="en-US" sz="2200" dirty="0">
              <a:latin typeface="Consolas" panose="020B0609020204030204" pitchFamily="49" charset="0"/>
            </a:endParaRPr>
          </a:p>
          <a:p>
            <a:pPr marL="0" indent="0">
              <a:buNone/>
            </a:pPr>
            <a:r>
              <a:rPr lang="en-US" sz="2200" dirty="0" smtClean="0">
                <a:latin typeface="Consolas" panose="020B0609020204030204" pitchFamily="49" charset="0"/>
              </a:rPr>
              <a:t>	Statement </a:t>
            </a:r>
            <a:r>
              <a:rPr lang="en-US" sz="2200" dirty="0">
                <a:latin typeface="Consolas" panose="020B0609020204030204" pitchFamily="49" charset="0"/>
              </a:rPr>
              <a:t>1;</a:t>
            </a:r>
          </a:p>
          <a:p>
            <a:pPr marL="0" indent="0">
              <a:buNone/>
            </a:pPr>
            <a:r>
              <a:rPr lang="en-US" sz="2200" dirty="0" smtClean="0">
                <a:latin typeface="Consolas" panose="020B0609020204030204" pitchFamily="49" charset="0"/>
              </a:rPr>
              <a:t>	Statement </a:t>
            </a:r>
            <a:r>
              <a:rPr lang="en-US" sz="2200" dirty="0">
                <a:latin typeface="Consolas" panose="020B0609020204030204" pitchFamily="49" charset="0"/>
              </a:rPr>
              <a:t>2;</a:t>
            </a:r>
          </a:p>
          <a:p>
            <a:pPr marL="0" indent="0">
              <a:buNone/>
            </a:pPr>
            <a:r>
              <a:rPr lang="en-US" sz="2200" dirty="0" smtClean="0">
                <a:latin typeface="Consolas" panose="020B0609020204030204" pitchFamily="49" charset="0"/>
              </a:rPr>
              <a:t>	Statement </a:t>
            </a:r>
            <a:r>
              <a:rPr lang="en-US" sz="2200" dirty="0">
                <a:latin typeface="Consolas" panose="020B0609020204030204" pitchFamily="49" charset="0"/>
              </a:rPr>
              <a:t>3;</a:t>
            </a:r>
          </a:p>
          <a:p>
            <a:pPr marL="0" indent="0">
              <a:buNone/>
            </a:pPr>
            <a:r>
              <a:rPr lang="en-US" sz="2200" dirty="0" smtClean="0">
                <a:latin typeface="Consolas" panose="020B0609020204030204" pitchFamily="49" charset="0"/>
              </a:rPr>
              <a:t>	#</a:t>
            </a:r>
            <a:r>
              <a:rPr lang="en-US" sz="2200" dirty="0" err="1">
                <a:latin typeface="Consolas" panose="020B0609020204030204" pitchFamily="49" charset="0"/>
              </a:rPr>
              <a:t>endif</a:t>
            </a:r>
            <a:endParaRPr lang="en-US" sz="2200" dirty="0">
              <a:latin typeface="Consolas" panose="020B0609020204030204" pitchFamily="49" charset="0"/>
            </a:endParaRPr>
          </a:p>
          <a:p>
            <a:r>
              <a:rPr lang="en-US" dirty="0">
                <a:latin typeface="Consolas" panose="020B0609020204030204" pitchFamily="49" charset="0"/>
              </a:rPr>
              <a:t>If </a:t>
            </a:r>
            <a:r>
              <a:rPr lang="en-US" b="1" dirty="0" err="1">
                <a:latin typeface="Consolas" panose="020B0609020204030204" pitchFamily="49" charset="0"/>
              </a:rPr>
              <a:t>macroname</a:t>
            </a:r>
            <a:r>
              <a:rPr lang="en-US" dirty="0">
                <a:latin typeface="Consolas" panose="020B0609020204030204" pitchFamily="49" charset="0"/>
              </a:rPr>
              <a:t> has been modified, the block of code will be processed as </a:t>
            </a:r>
            <a:r>
              <a:rPr lang="en-US" dirty="0" smtClean="0">
                <a:latin typeface="Consolas" panose="020B0609020204030204" pitchFamily="49" charset="0"/>
              </a:rPr>
              <a:t>usual, otherwise </a:t>
            </a:r>
            <a:r>
              <a:rPr lang="en-US" dirty="0">
                <a:latin typeface="Consolas" panose="020B0609020204030204" pitchFamily="49" charset="0"/>
              </a:rPr>
              <a:t>not.</a:t>
            </a:r>
            <a:endParaRPr lang="en-IN" dirty="0">
              <a:latin typeface="Consolas" panose="020B0609020204030204" pitchFamily="49" charset="0"/>
            </a:endParaRPr>
          </a:p>
          <a:p>
            <a:endParaRPr lang="en-IN"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3225015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0"/>
            <a:ext cx="10515600" cy="1325563"/>
          </a:xfrm>
        </p:spPr>
        <p:txBody>
          <a:bodyPr/>
          <a:lstStyle/>
          <a:p>
            <a:r>
              <a:rPr lang="en-US" dirty="0" smtClean="0">
                <a:latin typeface="Consolas" panose="020B0609020204030204" pitchFamily="49" charset="0"/>
              </a:rPr>
              <a:t>Example</a:t>
            </a:r>
            <a:endParaRPr lang="en-IN" dirty="0">
              <a:latin typeface="Consolas" panose="020B0609020204030204" pitchFamily="49" charset="0"/>
            </a:endParaRPr>
          </a:p>
        </p:txBody>
      </p:sp>
      <p:sp>
        <p:nvSpPr>
          <p:cNvPr id="3" name="Content Placeholder 2"/>
          <p:cNvSpPr>
            <a:spLocks noGrp="1"/>
          </p:cNvSpPr>
          <p:nvPr>
            <p:ph sz="half" idx="1"/>
          </p:nvPr>
        </p:nvSpPr>
        <p:spPr>
          <a:xfrm>
            <a:off x="-42202" y="981559"/>
            <a:ext cx="5724378" cy="4351338"/>
          </a:xfrm>
        </p:spPr>
        <p:txBody>
          <a:bodyPr>
            <a:noAutofit/>
          </a:bodyPr>
          <a:lstStyle/>
          <a:p>
            <a:pPr marL="514350" indent="-514350">
              <a:buFont typeface="+mj-lt"/>
              <a:buAutoNum type="arabicPeriod"/>
            </a:pPr>
            <a:r>
              <a:rPr lang="en-US" sz="1800" dirty="0">
                <a:latin typeface="Consolas" panose="020B0609020204030204" pitchFamily="49" charset="0"/>
              </a:rPr>
              <a:t>#include &lt;</a:t>
            </a:r>
            <a:r>
              <a:rPr lang="en-US" sz="1800" dirty="0" err="1">
                <a:latin typeface="Consolas" panose="020B0609020204030204" pitchFamily="49" charset="0"/>
              </a:rPr>
              <a:t>stdio.h</a:t>
            </a:r>
            <a:r>
              <a:rPr lang="en-US" sz="1800" dirty="0" smtClean="0">
                <a:latin typeface="Consolas" panose="020B0609020204030204" pitchFamily="49" charset="0"/>
              </a:rPr>
              <a:t>&gt;</a:t>
            </a:r>
            <a:endParaRPr lang="en-US" sz="1800" dirty="0">
              <a:latin typeface="Consolas" panose="020B0609020204030204" pitchFamily="49" charset="0"/>
            </a:endParaRPr>
          </a:p>
          <a:p>
            <a:pPr marL="514350" indent="-514350">
              <a:buFont typeface="+mj-lt"/>
              <a:buAutoNum type="arabicPeriod"/>
            </a:pPr>
            <a:r>
              <a:rPr lang="en-US" sz="1800" dirty="0">
                <a:latin typeface="Consolas" panose="020B0609020204030204" pitchFamily="49" charset="0"/>
              </a:rPr>
              <a:t>// Defining a macro for PI</a:t>
            </a:r>
          </a:p>
          <a:p>
            <a:pPr marL="514350" indent="-514350">
              <a:buFont typeface="+mj-lt"/>
              <a:buAutoNum type="arabicPeriod"/>
            </a:pPr>
            <a:r>
              <a:rPr lang="en-US" sz="1800" dirty="0">
                <a:solidFill>
                  <a:srgbClr val="FF0000"/>
                </a:solidFill>
                <a:latin typeface="Consolas" panose="020B0609020204030204" pitchFamily="49" charset="0"/>
              </a:rPr>
              <a:t>#define PI 3.14159</a:t>
            </a:r>
          </a:p>
          <a:p>
            <a:pPr marL="514350" indent="-514350">
              <a:buFont typeface="+mj-lt"/>
              <a:buAutoNum type="arabicPeriod"/>
            </a:pPr>
            <a:endParaRPr lang="en-US" sz="1800" dirty="0">
              <a:latin typeface="Consolas" panose="020B0609020204030204" pitchFamily="49" charset="0"/>
            </a:endParaRPr>
          </a:p>
          <a:p>
            <a:pPr marL="514350" indent="-514350">
              <a:buFont typeface="+mj-lt"/>
              <a:buAutoNum type="arabicPeriod"/>
            </a:pPr>
            <a:r>
              <a:rPr lang="en-US" sz="1800" dirty="0" err="1">
                <a:latin typeface="Consolas" panose="020B0609020204030204" pitchFamily="49" charset="0"/>
              </a:rPr>
              <a:t>int</a:t>
            </a:r>
            <a:r>
              <a:rPr lang="en-US" sz="1800" dirty="0">
                <a:latin typeface="Consolas" panose="020B0609020204030204" pitchFamily="49" charset="0"/>
              </a:rPr>
              <a:t> main(){</a:t>
            </a:r>
          </a:p>
          <a:p>
            <a:pPr marL="514350" indent="-514350">
              <a:buFont typeface="+mj-lt"/>
              <a:buAutoNum type="arabicPeriod"/>
            </a:pPr>
            <a:r>
              <a:rPr lang="en-US" sz="1800" dirty="0">
                <a:latin typeface="Consolas" panose="020B0609020204030204" pitchFamily="49" charset="0"/>
              </a:rPr>
              <a:t>  </a:t>
            </a:r>
          </a:p>
          <a:p>
            <a:pPr marL="514350" indent="-514350">
              <a:buFont typeface="+mj-lt"/>
              <a:buAutoNum type="arabicPeriod"/>
            </a:pPr>
            <a:r>
              <a:rPr lang="en-US" sz="1800" dirty="0">
                <a:latin typeface="Consolas" panose="020B0609020204030204" pitchFamily="49" charset="0"/>
              </a:rPr>
              <a:t>// Check if PI is defined using #</a:t>
            </a:r>
            <a:r>
              <a:rPr lang="en-US" sz="1800" dirty="0" err="1">
                <a:latin typeface="Consolas" panose="020B0609020204030204" pitchFamily="49" charset="0"/>
              </a:rPr>
              <a:t>ifdef</a:t>
            </a:r>
            <a:endParaRPr lang="en-US" sz="1800" dirty="0">
              <a:latin typeface="Consolas" panose="020B0609020204030204" pitchFamily="49" charset="0"/>
            </a:endParaRPr>
          </a:p>
          <a:p>
            <a:pPr marL="514350" indent="-514350">
              <a:buFont typeface="+mj-lt"/>
              <a:buAutoNum type="arabicPeriod"/>
            </a:pP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ifdef</a:t>
            </a:r>
            <a:r>
              <a:rPr lang="en-US" sz="1800" dirty="0">
                <a:solidFill>
                  <a:srgbClr val="FF0000"/>
                </a:solidFill>
                <a:latin typeface="Consolas" panose="020B0609020204030204" pitchFamily="49" charset="0"/>
              </a:rPr>
              <a:t> PI</a:t>
            </a:r>
          </a:p>
          <a:p>
            <a:pPr marL="514350" indent="-514350">
              <a:buFont typeface="+mj-lt"/>
              <a:buAutoNum type="arabicPeriod"/>
            </a:pPr>
            <a:r>
              <a:rPr lang="en-US" sz="1800" dirty="0">
                <a:latin typeface="Consolas" panose="020B0609020204030204" pitchFamily="49" charset="0"/>
              </a:rPr>
              <a:t>    </a:t>
            </a:r>
            <a:r>
              <a:rPr lang="en-US" sz="1800" dirty="0" err="1">
                <a:latin typeface="Consolas" panose="020B0609020204030204" pitchFamily="49" charset="0"/>
              </a:rPr>
              <a:t>printf</a:t>
            </a:r>
            <a:r>
              <a:rPr lang="en-US" sz="1800" dirty="0">
                <a:latin typeface="Consolas" panose="020B0609020204030204" pitchFamily="49" charset="0"/>
              </a:rPr>
              <a:t>("PI is defined\n");</a:t>
            </a:r>
          </a:p>
          <a:p>
            <a:pPr marL="514350" indent="-514350">
              <a:buFont typeface="+mj-lt"/>
              <a:buAutoNum type="arabicPeriod"/>
            </a:pPr>
            <a:endParaRPr lang="en-US" sz="1800" dirty="0">
              <a:latin typeface="Consolas" panose="020B0609020204030204" pitchFamily="49" charset="0"/>
            </a:endParaRPr>
          </a:p>
          <a:p>
            <a:pPr marL="514350" indent="-514350">
              <a:buFont typeface="+mj-lt"/>
              <a:buAutoNum type="arabicPeriod"/>
            </a:pPr>
            <a:r>
              <a:rPr lang="en-US" sz="1800" dirty="0">
                <a:latin typeface="Consolas" panose="020B0609020204030204" pitchFamily="49" charset="0"/>
              </a:rPr>
              <a:t>// If PI is not defined, check if SQUARE is defined</a:t>
            </a:r>
          </a:p>
          <a:p>
            <a:pPr marL="514350" indent="-514350">
              <a:buFont typeface="+mj-lt"/>
              <a:buAutoNum type="arabicPeriod"/>
            </a:pP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elif</a:t>
            </a:r>
            <a:r>
              <a:rPr lang="en-US" sz="1800" dirty="0">
                <a:solidFill>
                  <a:srgbClr val="FF0000"/>
                </a:solidFill>
                <a:latin typeface="Consolas" panose="020B0609020204030204" pitchFamily="49" charset="0"/>
              </a:rPr>
              <a:t> defined(SQUARE)</a:t>
            </a:r>
          </a:p>
          <a:p>
            <a:pPr marL="514350" indent="-514350">
              <a:buFont typeface="+mj-lt"/>
              <a:buAutoNum type="arabicPeriod"/>
            </a:pPr>
            <a:r>
              <a:rPr lang="en-US" sz="1800" dirty="0">
                <a:latin typeface="Consolas" panose="020B0609020204030204" pitchFamily="49" charset="0"/>
              </a:rPr>
              <a:t>    </a:t>
            </a:r>
            <a:r>
              <a:rPr lang="en-US" sz="1800" dirty="0" err="1">
                <a:latin typeface="Consolas" panose="020B0609020204030204" pitchFamily="49" charset="0"/>
              </a:rPr>
              <a:t>printf</a:t>
            </a:r>
            <a:r>
              <a:rPr lang="en-US" sz="1800" dirty="0">
                <a:latin typeface="Consolas" panose="020B0609020204030204" pitchFamily="49" charset="0"/>
              </a:rPr>
              <a:t>("Square is defined\n");</a:t>
            </a:r>
          </a:p>
          <a:p>
            <a:pPr marL="514350" indent="-514350">
              <a:buFont typeface="+mj-lt"/>
              <a:buAutoNum type="arabicPeriod"/>
            </a:pPr>
            <a:endParaRPr lang="en-US" sz="1800" dirty="0">
              <a:latin typeface="Consolas" panose="020B0609020204030204" pitchFamily="49" charset="0"/>
            </a:endParaRPr>
          </a:p>
        </p:txBody>
      </p:sp>
      <p:sp>
        <p:nvSpPr>
          <p:cNvPr id="4" name="Content Placeholder 3"/>
          <p:cNvSpPr>
            <a:spLocks noGrp="1"/>
          </p:cNvSpPr>
          <p:nvPr>
            <p:ph sz="half" idx="2"/>
          </p:nvPr>
        </p:nvSpPr>
        <p:spPr>
          <a:xfrm>
            <a:off x="5583703" y="981559"/>
            <a:ext cx="6641123" cy="4351338"/>
          </a:xfrm>
        </p:spPr>
        <p:txBody>
          <a:bodyPr>
            <a:noAutofit/>
          </a:bodyPr>
          <a:lstStyle/>
          <a:p>
            <a:pPr marL="514350" indent="-514350">
              <a:buFont typeface="+mj-lt"/>
              <a:buAutoNum type="arabicPeriod" startAt="12"/>
            </a:pPr>
            <a:r>
              <a:rPr lang="en-US" sz="1800" dirty="0">
                <a:latin typeface="Consolas" panose="020B0609020204030204" pitchFamily="49" charset="0"/>
              </a:rPr>
              <a:t>// If neither PI nor SQUARE is defined, trigger an error</a:t>
            </a:r>
          </a:p>
          <a:p>
            <a:pPr marL="514350" indent="-514350">
              <a:buFont typeface="+mj-lt"/>
              <a:buAutoNum type="arabicPeriod" startAt="12"/>
            </a:pPr>
            <a:r>
              <a:rPr lang="en-US" sz="1800" dirty="0">
                <a:solidFill>
                  <a:srgbClr val="FF0000"/>
                </a:solidFill>
                <a:latin typeface="Consolas" panose="020B0609020204030204" pitchFamily="49" charset="0"/>
              </a:rPr>
              <a:t>#else</a:t>
            </a:r>
          </a:p>
          <a:p>
            <a:pPr marL="514350" indent="-514350">
              <a:buFont typeface="+mj-lt"/>
              <a:buAutoNum type="arabicPeriod" startAt="12"/>
            </a:pPr>
            <a:r>
              <a:rPr lang="en-US" sz="1800" dirty="0">
                <a:latin typeface="Consolas" panose="020B0609020204030204" pitchFamily="49" charset="0"/>
              </a:rPr>
              <a:t>    #error "Neither PI nor SQUARE is defined"</a:t>
            </a:r>
          </a:p>
          <a:p>
            <a:pPr marL="514350" indent="-514350">
              <a:buFont typeface="+mj-lt"/>
              <a:buAutoNum type="arabicPeriod" startAt="12"/>
            </a:pP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endif</a:t>
            </a:r>
            <a:endParaRPr lang="en-US" sz="1800" dirty="0">
              <a:solidFill>
                <a:srgbClr val="FF0000"/>
              </a:solidFill>
              <a:latin typeface="Consolas" panose="020B0609020204030204" pitchFamily="49" charset="0"/>
            </a:endParaRPr>
          </a:p>
          <a:p>
            <a:pPr marL="514350" indent="-514350">
              <a:buFont typeface="+mj-lt"/>
              <a:buAutoNum type="arabicPeriod" startAt="12"/>
            </a:pPr>
            <a:endParaRPr lang="en-US" sz="1800" dirty="0">
              <a:latin typeface="Consolas" panose="020B0609020204030204" pitchFamily="49" charset="0"/>
            </a:endParaRPr>
          </a:p>
          <a:p>
            <a:pPr marL="514350" indent="-514350">
              <a:buFont typeface="+mj-lt"/>
              <a:buAutoNum type="arabicPeriod" startAt="12"/>
            </a:pPr>
            <a:r>
              <a:rPr lang="en-US" sz="1800" dirty="0">
                <a:latin typeface="Consolas" panose="020B0609020204030204" pitchFamily="49" charset="0"/>
              </a:rPr>
              <a:t>// Check if SQUARE is not defined using #</a:t>
            </a:r>
            <a:r>
              <a:rPr lang="en-US" sz="1800" dirty="0" err="1">
                <a:latin typeface="Consolas" panose="020B0609020204030204" pitchFamily="49" charset="0"/>
              </a:rPr>
              <a:t>ifndef</a:t>
            </a:r>
            <a:endParaRPr lang="en-US" sz="1800" dirty="0">
              <a:latin typeface="Consolas" panose="020B0609020204030204" pitchFamily="49" charset="0"/>
            </a:endParaRPr>
          </a:p>
          <a:p>
            <a:pPr marL="514350" indent="-514350">
              <a:buFont typeface="+mj-lt"/>
              <a:buAutoNum type="arabicPeriod" startAt="12"/>
            </a:pP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ifndef</a:t>
            </a:r>
            <a:r>
              <a:rPr lang="en-US" sz="1800" dirty="0">
                <a:solidFill>
                  <a:srgbClr val="FF0000"/>
                </a:solidFill>
                <a:latin typeface="Consolas" panose="020B0609020204030204" pitchFamily="49" charset="0"/>
              </a:rPr>
              <a:t> SQUARE</a:t>
            </a:r>
          </a:p>
          <a:p>
            <a:pPr marL="514350" indent="-514350">
              <a:buFont typeface="+mj-lt"/>
              <a:buAutoNum type="arabicPeriod" startAt="12"/>
            </a:pPr>
            <a:r>
              <a:rPr lang="en-US" sz="1800" dirty="0">
                <a:latin typeface="Consolas" panose="020B0609020204030204" pitchFamily="49" charset="0"/>
              </a:rPr>
              <a:t>    </a:t>
            </a:r>
            <a:r>
              <a:rPr lang="en-US" sz="1800" dirty="0" err="1">
                <a:latin typeface="Consolas" panose="020B0609020204030204" pitchFamily="49" charset="0"/>
              </a:rPr>
              <a:t>printf</a:t>
            </a:r>
            <a:r>
              <a:rPr lang="en-US" sz="1800" dirty="0">
                <a:latin typeface="Consolas" panose="020B0609020204030204" pitchFamily="49" charset="0"/>
              </a:rPr>
              <a:t>("Square is not defined</a:t>
            </a:r>
            <a:r>
              <a:rPr lang="en-US" sz="1800" dirty="0" smtClean="0">
                <a:latin typeface="Consolas" panose="020B0609020204030204" pitchFamily="49" charset="0"/>
              </a:rPr>
              <a:t>");</a:t>
            </a:r>
            <a:endParaRPr lang="en-US" sz="1800" dirty="0">
              <a:latin typeface="Consolas" panose="020B0609020204030204" pitchFamily="49" charset="0"/>
            </a:endParaRPr>
          </a:p>
          <a:p>
            <a:pPr marL="514350" indent="-514350">
              <a:buFont typeface="+mj-lt"/>
              <a:buAutoNum type="arabicPeriod" startAt="12"/>
            </a:pPr>
            <a:r>
              <a:rPr lang="en-US" sz="1800" dirty="0">
                <a:latin typeface="Consolas" panose="020B0609020204030204" pitchFamily="49" charset="0"/>
              </a:rPr>
              <a:t>// If SQUARE is defined, print that it is defined</a:t>
            </a:r>
          </a:p>
          <a:p>
            <a:pPr marL="514350" indent="-514350">
              <a:buFont typeface="+mj-lt"/>
              <a:buAutoNum type="arabicPeriod" startAt="12"/>
            </a:pPr>
            <a:r>
              <a:rPr lang="en-US" sz="1800" dirty="0">
                <a:solidFill>
                  <a:srgbClr val="FF0000"/>
                </a:solidFill>
                <a:latin typeface="Consolas" panose="020B0609020204030204" pitchFamily="49" charset="0"/>
              </a:rPr>
              <a:t>#else</a:t>
            </a:r>
          </a:p>
          <a:p>
            <a:pPr marL="514350" indent="-514350">
              <a:buFont typeface="+mj-lt"/>
              <a:buAutoNum type="arabicPeriod" startAt="12"/>
            </a:pPr>
            <a:r>
              <a:rPr lang="en-US" sz="1800" dirty="0">
                <a:latin typeface="Consolas" panose="020B0609020204030204" pitchFamily="49" charset="0"/>
              </a:rPr>
              <a:t>    </a:t>
            </a:r>
            <a:r>
              <a:rPr lang="en-US" sz="1800" dirty="0" err="1">
                <a:latin typeface="Consolas" panose="020B0609020204030204" pitchFamily="49" charset="0"/>
              </a:rPr>
              <a:t>printf</a:t>
            </a:r>
            <a:r>
              <a:rPr lang="en-US" sz="1800" dirty="0">
                <a:latin typeface="Consolas" panose="020B0609020204030204" pitchFamily="49" charset="0"/>
              </a:rPr>
              <a:t>("Square is defined");</a:t>
            </a:r>
          </a:p>
          <a:p>
            <a:pPr marL="514350" indent="-514350">
              <a:buFont typeface="+mj-lt"/>
              <a:buAutoNum type="arabicPeriod" startAt="12"/>
            </a:pPr>
            <a:r>
              <a:rPr lang="en-US" sz="1800" dirty="0">
                <a:solidFill>
                  <a:srgbClr val="FF0000"/>
                </a:solidFill>
                <a:latin typeface="Consolas" panose="020B0609020204030204" pitchFamily="49" charset="0"/>
              </a:rPr>
              <a:t>#</a:t>
            </a:r>
            <a:r>
              <a:rPr lang="en-US" sz="1800" dirty="0" err="1" smtClean="0">
                <a:solidFill>
                  <a:srgbClr val="FF0000"/>
                </a:solidFill>
                <a:latin typeface="Consolas" panose="020B0609020204030204" pitchFamily="49" charset="0"/>
              </a:rPr>
              <a:t>endif</a:t>
            </a:r>
            <a:endParaRPr lang="en-US" sz="1800" dirty="0">
              <a:solidFill>
                <a:srgbClr val="FF0000"/>
              </a:solidFill>
              <a:latin typeface="Consolas" panose="020B0609020204030204" pitchFamily="49" charset="0"/>
            </a:endParaRPr>
          </a:p>
          <a:p>
            <a:pPr marL="514350" indent="-514350">
              <a:buFont typeface="+mj-lt"/>
              <a:buAutoNum type="arabicPeriod" startAt="12"/>
            </a:pPr>
            <a:r>
              <a:rPr lang="en-US" sz="1800" dirty="0">
                <a:latin typeface="Consolas" panose="020B0609020204030204" pitchFamily="49" charset="0"/>
              </a:rPr>
              <a:t>    return 0</a:t>
            </a:r>
            <a:r>
              <a:rPr lang="en-US" sz="1800" dirty="0" smtClean="0">
                <a:latin typeface="Consolas" panose="020B0609020204030204" pitchFamily="49" charset="0"/>
              </a:rPr>
              <a:t>;}</a:t>
            </a:r>
            <a:endParaRPr lang="en-IN" sz="1800" dirty="0">
              <a:latin typeface="Consolas" panose="020B0609020204030204" pitchFamily="49" charset="0"/>
            </a:endParaRPr>
          </a:p>
          <a:p>
            <a:endParaRPr lang="en-IN" sz="1600" dirty="0"/>
          </a:p>
        </p:txBody>
      </p:sp>
    </p:spTree>
    <p:extLst>
      <p:ext uri="{BB962C8B-B14F-4D97-AF65-F5344CB8AC3E}">
        <p14:creationId xmlns:p14="http://schemas.microsoft.com/office/powerpoint/2010/main" val="1389358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latin typeface="Consolas" panose="020B0609020204030204" pitchFamily="49" charset="0"/>
              </a:rPr>
              <a:t>Structures</a:t>
            </a:r>
            <a:endParaRPr lang="en-IN" dirty="0">
              <a:latin typeface="Consolas" panose="020B0609020204030204" pitchFamily="49" charset="0"/>
            </a:endParaRPr>
          </a:p>
        </p:txBody>
      </p:sp>
      <p:sp>
        <p:nvSpPr>
          <p:cNvPr id="6" name="Content Placeholder 5"/>
          <p:cNvSpPr>
            <a:spLocks noGrp="1"/>
          </p:cNvSpPr>
          <p:nvPr>
            <p:ph idx="1"/>
          </p:nvPr>
        </p:nvSpPr>
        <p:spPr>
          <a:xfrm>
            <a:off x="838199" y="1825625"/>
            <a:ext cx="11189677" cy="4351338"/>
          </a:xfrm>
        </p:spPr>
        <p:txBody>
          <a:bodyPr>
            <a:normAutofit/>
          </a:bodyPr>
          <a:lstStyle/>
          <a:p>
            <a:pPr marL="0" indent="0">
              <a:buNone/>
            </a:pPr>
            <a:r>
              <a:rPr lang="en-US" dirty="0">
                <a:latin typeface="Consolas" panose="020B0609020204030204" pitchFamily="49" charset="0"/>
              </a:rPr>
              <a:t>In C, a structure is a user-defined data type that can be used to group items of possibly different types into a single type</a:t>
            </a:r>
            <a:r>
              <a:rPr lang="en-US" dirty="0" smtClean="0">
                <a:latin typeface="Consolas" panose="020B0609020204030204" pitchFamily="49" charset="0"/>
              </a:rPr>
              <a:t>.</a:t>
            </a:r>
            <a:endParaRPr lang="en-US" dirty="0">
              <a:latin typeface="Consolas" panose="020B0609020204030204" pitchFamily="49" charset="0"/>
            </a:endParaRPr>
          </a:p>
          <a:p>
            <a:r>
              <a:rPr lang="en-US" dirty="0">
                <a:latin typeface="Consolas" panose="020B0609020204030204" pitchFamily="49" charset="0"/>
              </a:rPr>
              <a:t>The </a:t>
            </a:r>
            <a:r>
              <a:rPr lang="en-US" b="1" dirty="0" err="1">
                <a:latin typeface="Consolas" panose="020B0609020204030204" pitchFamily="49" charset="0"/>
              </a:rPr>
              <a:t>struct</a:t>
            </a:r>
            <a:r>
              <a:rPr lang="en-US" dirty="0">
                <a:latin typeface="Consolas" panose="020B0609020204030204" pitchFamily="49" charset="0"/>
              </a:rPr>
              <a:t> keyword is used to define a structure. The items in the structure are called its members and they can be of any valid data type.</a:t>
            </a:r>
          </a:p>
          <a:p>
            <a:r>
              <a:rPr lang="en-US" dirty="0">
                <a:latin typeface="Consolas" panose="020B0609020204030204" pitchFamily="49" charset="0"/>
              </a:rPr>
              <a:t>Applications of structures involve creating data structures Linked List and Tree. Structures are also used to represent real world objects in a software like Students and Faculty in a college management software.</a:t>
            </a:r>
            <a:endParaRPr lang="en-IN" dirty="0">
              <a:latin typeface="Consolas" panose="020B0609020204030204" pitchFamily="49" charset="0"/>
            </a:endParaRPr>
          </a:p>
        </p:txBody>
      </p:sp>
    </p:spTree>
    <p:extLst>
      <p:ext uri="{BB962C8B-B14F-4D97-AF65-F5344CB8AC3E}">
        <p14:creationId xmlns:p14="http://schemas.microsoft.com/office/powerpoint/2010/main" val="1453719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1425" y="689317"/>
            <a:ext cx="5181600" cy="5487646"/>
          </a:xfrm>
        </p:spPr>
        <p:txBody>
          <a:bodyPr>
            <a:noAutofit/>
          </a:bodyPr>
          <a:lstStyle/>
          <a:p>
            <a:pPr marL="514350" indent="-514350">
              <a:buFont typeface="+mj-lt"/>
              <a:buAutoNum type="arabicPeriod"/>
            </a:pPr>
            <a:r>
              <a:rPr lang="en-US" sz="2400" dirty="0">
                <a:latin typeface="Consolas" panose="020B0609020204030204" pitchFamily="49" charset="0"/>
              </a:rPr>
              <a:t>#include &lt;</a:t>
            </a:r>
            <a:r>
              <a:rPr lang="en-US" sz="2400" dirty="0" err="1">
                <a:latin typeface="Consolas" panose="020B0609020204030204" pitchFamily="49" charset="0"/>
              </a:rPr>
              <a:t>stdio.h</a:t>
            </a:r>
            <a:r>
              <a:rPr lang="en-US" sz="2400" dirty="0">
                <a:latin typeface="Consolas" panose="020B0609020204030204" pitchFamily="49" charset="0"/>
              </a:rPr>
              <a:t>&gt;</a:t>
            </a:r>
          </a:p>
          <a:p>
            <a:pPr marL="514350" indent="-514350">
              <a:buFont typeface="+mj-lt"/>
              <a:buAutoNum type="arabicPeriod"/>
            </a:pPr>
            <a:endParaRPr lang="en-US" sz="2400" dirty="0">
              <a:latin typeface="Consolas" panose="020B0609020204030204" pitchFamily="49" charset="0"/>
            </a:endParaRPr>
          </a:p>
          <a:p>
            <a:pPr marL="514350" indent="-514350">
              <a:buFont typeface="+mj-lt"/>
              <a:buAutoNum type="arabicPeriod"/>
            </a:pPr>
            <a:r>
              <a:rPr lang="en-US" sz="2400" dirty="0">
                <a:solidFill>
                  <a:schemeClr val="accent6"/>
                </a:solidFill>
                <a:latin typeface="Consolas" panose="020B0609020204030204" pitchFamily="49" charset="0"/>
              </a:rPr>
              <a:t>// Defining a structure</a:t>
            </a:r>
          </a:p>
          <a:p>
            <a:pPr marL="514350" indent="-514350">
              <a:buFont typeface="+mj-lt"/>
              <a:buAutoNum type="arabicPeriod"/>
            </a:pPr>
            <a:r>
              <a:rPr lang="en-US" sz="2400" dirty="0" err="1">
                <a:solidFill>
                  <a:srgbClr val="FF0000"/>
                </a:solidFill>
                <a:latin typeface="Consolas" panose="020B0609020204030204" pitchFamily="49" charset="0"/>
              </a:rPr>
              <a:t>struct</a:t>
            </a:r>
            <a:r>
              <a:rPr lang="en-US" sz="2400" dirty="0">
                <a:solidFill>
                  <a:srgbClr val="FF0000"/>
                </a:solidFill>
                <a:latin typeface="Consolas" panose="020B0609020204030204" pitchFamily="49" charset="0"/>
              </a:rPr>
              <a:t> A</a:t>
            </a:r>
            <a:r>
              <a:rPr lang="en-US" sz="2400" dirty="0">
                <a:latin typeface="Consolas" panose="020B0609020204030204" pitchFamily="49" charset="0"/>
              </a:rPr>
              <a:t> {</a:t>
            </a:r>
          </a:p>
          <a:p>
            <a:pPr marL="514350" indent="-514350">
              <a:buFont typeface="+mj-lt"/>
              <a:buAutoNum type="arabicPeriod"/>
            </a:pPr>
            <a:r>
              <a:rPr lang="en-US" sz="2400" dirty="0">
                <a:latin typeface="Consolas" panose="020B0609020204030204" pitchFamily="49" charset="0"/>
              </a:rPr>
              <a:t>    </a:t>
            </a:r>
            <a:r>
              <a:rPr lang="en-US" sz="2400" dirty="0" err="1">
                <a:latin typeface="Consolas" panose="020B0609020204030204" pitchFamily="49" charset="0"/>
              </a:rPr>
              <a:t>int</a:t>
            </a:r>
            <a:r>
              <a:rPr lang="en-US" sz="2400" dirty="0">
                <a:latin typeface="Consolas" panose="020B0609020204030204" pitchFamily="49" charset="0"/>
              </a:rPr>
              <a:t> x;</a:t>
            </a:r>
          </a:p>
          <a:p>
            <a:pPr marL="514350" indent="-514350">
              <a:buFont typeface="+mj-lt"/>
              <a:buAutoNum type="arabicPeriod"/>
            </a:pPr>
            <a:r>
              <a:rPr lang="en-US" sz="2400" dirty="0">
                <a:latin typeface="Consolas" panose="020B0609020204030204" pitchFamily="49" charset="0"/>
              </a:rPr>
              <a:t>};</a:t>
            </a:r>
          </a:p>
          <a:p>
            <a:pPr marL="514350" indent="-514350">
              <a:buFont typeface="+mj-lt"/>
              <a:buAutoNum type="arabicPeriod"/>
            </a:pPr>
            <a:endParaRPr lang="en-US" sz="2400" dirty="0">
              <a:latin typeface="Consolas" panose="020B0609020204030204" pitchFamily="49" charset="0"/>
            </a:endParaRPr>
          </a:p>
        </p:txBody>
      </p:sp>
      <p:sp>
        <p:nvSpPr>
          <p:cNvPr id="5" name="Content Placeholder 4"/>
          <p:cNvSpPr>
            <a:spLocks noGrp="1"/>
          </p:cNvSpPr>
          <p:nvPr>
            <p:ph sz="half" idx="2"/>
          </p:nvPr>
        </p:nvSpPr>
        <p:spPr>
          <a:xfrm>
            <a:off x="5443024" y="703385"/>
            <a:ext cx="6748975" cy="5487646"/>
          </a:xfrm>
        </p:spPr>
        <p:txBody>
          <a:bodyPr>
            <a:normAutofit fontScale="92500" lnSpcReduction="10000"/>
          </a:bodyPr>
          <a:lstStyle/>
          <a:p>
            <a:pPr marL="514350" indent="-514350">
              <a:buFont typeface="+mj-lt"/>
              <a:buAutoNum type="arabicPeriod" startAt="6"/>
            </a:pPr>
            <a:r>
              <a:rPr lang="en-US" dirty="0" err="1">
                <a:latin typeface="Consolas" panose="020B0609020204030204" pitchFamily="49" charset="0"/>
              </a:rPr>
              <a:t>int</a:t>
            </a:r>
            <a:r>
              <a:rPr lang="en-US" dirty="0">
                <a:latin typeface="Consolas" panose="020B0609020204030204" pitchFamily="49" charset="0"/>
              </a:rPr>
              <a:t> main() {</a:t>
            </a:r>
          </a:p>
          <a:p>
            <a:pPr marL="514350" indent="-514350">
              <a:buFont typeface="+mj-lt"/>
              <a:buAutoNum type="arabicPeriod" startAt="6"/>
            </a:pPr>
            <a:r>
              <a:rPr lang="en-US" dirty="0">
                <a:latin typeface="Consolas" panose="020B0609020204030204" pitchFamily="49" charset="0"/>
              </a:rPr>
              <a:t>  </a:t>
            </a:r>
          </a:p>
          <a:p>
            <a:pPr marL="514350" indent="-514350">
              <a:buFont typeface="+mj-lt"/>
              <a:buAutoNum type="arabicPeriod" startAt="6"/>
            </a:pPr>
            <a:r>
              <a:rPr lang="en-US" dirty="0">
                <a:latin typeface="Consolas" panose="020B0609020204030204" pitchFamily="49" charset="0"/>
              </a:rPr>
              <a:t>    </a:t>
            </a:r>
            <a:r>
              <a:rPr lang="en-US" dirty="0">
                <a:solidFill>
                  <a:schemeClr val="accent6"/>
                </a:solidFill>
                <a:latin typeface="Consolas" panose="020B0609020204030204" pitchFamily="49" charset="0"/>
              </a:rPr>
              <a:t>// Creating a structure variable</a:t>
            </a:r>
          </a:p>
          <a:p>
            <a:pPr marL="514350" indent="-514350">
              <a:buFont typeface="+mj-lt"/>
              <a:buAutoNum type="arabicPeriod" startAt="6"/>
            </a:pPr>
            <a:r>
              <a:rPr lang="en-US" dirty="0">
                <a:latin typeface="Consolas" panose="020B0609020204030204" pitchFamily="49" charset="0"/>
              </a:rPr>
              <a:t>    </a:t>
            </a:r>
            <a:r>
              <a:rPr lang="en-US" dirty="0" err="1">
                <a:solidFill>
                  <a:srgbClr val="FF0000"/>
                </a:solidFill>
                <a:latin typeface="Consolas" panose="020B0609020204030204" pitchFamily="49" charset="0"/>
              </a:rPr>
              <a:t>struct</a:t>
            </a:r>
            <a:r>
              <a:rPr lang="en-US" dirty="0">
                <a:solidFill>
                  <a:srgbClr val="FF0000"/>
                </a:solidFill>
                <a:latin typeface="Consolas" panose="020B0609020204030204" pitchFamily="49" charset="0"/>
              </a:rPr>
              <a:t> A </a:t>
            </a:r>
            <a:r>
              <a:rPr lang="en-US" dirty="0" err="1">
                <a:solidFill>
                  <a:srgbClr val="FF0000"/>
                </a:solidFill>
                <a:latin typeface="Consolas" panose="020B0609020204030204" pitchFamily="49" charset="0"/>
              </a:rPr>
              <a:t>a</a:t>
            </a:r>
            <a:r>
              <a:rPr lang="en-US" dirty="0">
                <a:solidFill>
                  <a:srgbClr val="FF0000"/>
                </a:solidFill>
                <a:latin typeface="Consolas" panose="020B0609020204030204" pitchFamily="49" charset="0"/>
              </a:rPr>
              <a:t>;</a:t>
            </a:r>
          </a:p>
          <a:p>
            <a:pPr marL="514350" indent="-514350">
              <a:buFont typeface="+mj-lt"/>
              <a:buAutoNum type="arabicPeriod" startAt="6"/>
            </a:pPr>
            <a:r>
              <a:rPr lang="en-US" dirty="0">
                <a:latin typeface="Consolas" panose="020B0609020204030204" pitchFamily="49" charset="0"/>
              </a:rPr>
              <a:t>  	</a:t>
            </a:r>
          </a:p>
          <a:p>
            <a:pPr marL="514350" indent="-514350">
              <a:buFont typeface="+mj-lt"/>
              <a:buAutoNum type="arabicPeriod" startAt="6"/>
            </a:pPr>
            <a:r>
              <a:rPr lang="en-US" dirty="0">
                <a:solidFill>
                  <a:schemeClr val="accent6"/>
                </a:solidFill>
                <a:latin typeface="Consolas" panose="020B0609020204030204" pitchFamily="49" charset="0"/>
              </a:rPr>
              <a:t>  	// Initializing member</a:t>
            </a:r>
          </a:p>
          <a:p>
            <a:pPr marL="514350" indent="-514350">
              <a:buFont typeface="+mj-lt"/>
              <a:buAutoNum type="arabicPeriod" startAt="6"/>
            </a:pPr>
            <a:r>
              <a:rPr lang="en-US" dirty="0">
                <a:latin typeface="Consolas" panose="020B0609020204030204" pitchFamily="49" charset="0"/>
              </a:rPr>
              <a:t>  	</a:t>
            </a:r>
            <a:r>
              <a:rPr lang="en-US" dirty="0" err="1">
                <a:solidFill>
                  <a:srgbClr val="FF0000"/>
                </a:solidFill>
                <a:latin typeface="Consolas" panose="020B0609020204030204" pitchFamily="49" charset="0"/>
              </a:rPr>
              <a:t>a.x</a:t>
            </a:r>
            <a:r>
              <a:rPr lang="en-US" dirty="0">
                <a:latin typeface="Consolas" panose="020B0609020204030204" pitchFamily="49" charset="0"/>
              </a:rPr>
              <a:t> = 11;</a:t>
            </a:r>
          </a:p>
          <a:p>
            <a:pPr marL="514350" indent="-514350">
              <a:buFont typeface="+mj-lt"/>
              <a:buAutoNum type="arabicPeriod" startAt="6"/>
            </a:pPr>
            <a:endParaRPr lang="en-US" dirty="0">
              <a:latin typeface="Consolas" panose="020B0609020204030204" pitchFamily="49" charset="0"/>
            </a:endParaRPr>
          </a:p>
          <a:p>
            <a:pPr marL="514350" indent="-514350">
              <a:buFont typeface="+mj-lt"/>
              <a:buAutoNum type="arabicPeriod" startAt="6"/>
            </a:pPr>
            <a:r>
              <a:rPr lang="en-US" dirty="0">
                <a:latin typeface="Consolas" panose="020B0609020204030204" pitchFamily="49" charset="0"/>
              </a:rPr>
              <a:t>    </a:t>
            </a:r>
            <a:r>
              <a:rPr lang="en-US" dirty="0" err="1">
                <a:latin typeface="Consolas" panose="020B0609020204030204" pitchFamily="49" charset="0"/>
              </a:rPr>
              <a:t>printf</a:t>
            </a:r>
            <a:r>
              <a:rPr lang="en-US" dirty="0">
                <a:latin typeface="Consolas" panose="020B0609020204030204" pitchFamily="49" charset="0"/>
              </a:rPr>
              <a:t>("%d", </a:t>
            </a:r>
            <a:r>
              <a:rPr lang="en-US" dirty="0" err="1">
                <a:latin typeface="Consolas" panose="020B0609020204030204" pitchFamily="49" charset="0"/>
              </a:rPr>
              <a:t>a.x</a:t>
            </a:r>
            <a:r>
              <a:rPr lang="en-US" dirty="0">
                <a:latin typeface="Consolas" panose="020B0609020204030204" pitchFamily="49" charset="0"/>
              </a:rPr>
              <a:t>);</a:t>
            </a:r>
          </a:p>
          <a:p>
            <a:pPr marL="514350" indent="-514350">
              <a:buFont typeface="+mj-lt"/>
              <a:buAutoNum type="arabicPeriod" startAt="6"/>
            </a:pPr>
            <a:r>
              <a:rPr lang="en-US" dirty="0">
                <a:latin typeface="Consolas" panose="020B0609020204030204" pitchFamily="49" charset="0"/>
              </a:rPr>
              <a:t>    return 0;</a:t>
            </a:r>
          </a:p>
          <a:p>
            <a:pPr marL="514350" indent="-514350">
              <a:buFont typeface="+mj-lt"/>
              <a:buAutoNum type="arabicPeriod" startAt="6"/>
            </a:pPr>
            <a:r>
              <a:rPr lang="en-US" dirty="0">
                <a:latin typeface="Consolas" panose="020B0609020204030204" pitchFamily="49" charset="0"/>
              </a:rPr>
              <a:t>}</a:t>
            </a:r>
            <a:endParaRPr lang="en-IN" dirty="0">
              <a:latin typeface="Consolas" panose="020B0609020204030204" pitchFamily="49" charset="0"/>
            </a:endParaRPr>
          </a:p>
          <a:p>
            <a:endParaRPr lang="en-IN" dirty="0"/>
          </a:p>
        </p:txBody>
      </p:sp>
    </p:spTree>
    <p:extLst>
      <p:ext uri="{BB962C8B-B14F-4D97-AF65-F5344CB8AC3E}">
        <p14:creationId xmlns:p14="http://schemas.microsoft.com/office/powerpoint/2010/main" val="2137916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half" idx="1"/>
          </p:nvPr>
        </p:nvSpPr>
        <p:spPr>
          <a:xfrm>
            <a:off x="191086" y="450166"/>
            <a:ext cx="5181600" cy="5726797"/>
          </a:xfrm>
        </p:spPr>
        <p:txBody>
          <a:bodyPr>
            <a:noAutofit/>
          </a:bodyPr>
          <a:lstStyle/>
          <a:p>
            <a:pPr marL="514350" indent="-514350">
              <a:buFont typeface="+mj-lt"/>
              <a:buAutoNum type="arabicPeriod"/>
            </a:pPr>
            <a:r>
              <a:rPr lang="en-IN" sz="2000" dirty="0">
                <a:latin typeface="Consolas" panose="020B0609020204030204" pitchFamily="49" charset="0"/>
              </a:rPr>
              <a:t>#include &lt;</a:t>
            </a:r>
            <a:r>
              <a:rPr lang="en-IN" sz="2000" dirty="0" err="1">
                <a:latin typeface="Consolas" panose="020B0609020204030204" pitchFamily="49" charset="0"/>
              </a:rPr>
              <a:t>stdio.h</a:t>
            </a:r>
            <a:r>
              <a:rPr lang="en-IN" sz="2000" dirty="0">
                <a:latin typeface="Consolas" panose="020B0609020204030204" pitchFamily="49" charset="0"/>
              </a:rPr>
              <a:t>&gt;</a:t>
            </a:r>
          </a:p>
          <a:p>
            <a:pPr marL="514350" indent="-514350">
              <a:buFont typeface="+mj-lt"/>
              <a:buAutoNum type="arabicPeriod"/>
            </a:pPr>
            <a:endParaRPr lang="en-IN" sz="2000" dirty="0">
              <a:latin typeface="Consolas" panose="020B0609020204030204" pitchFamily="49" charset="0"/>
            </a:endParaRPr>
          </a:p>
          <a:p>
            <a:pPr marL="514350" indent="-514350">
              <a:buFont typeface="+mj-lt"/>
              <a:buAutoNum type="arabicPeriod"/>
            </a:pPr>
            <a:r>
              <a:rPr lang="en-IN" sz="2000" dirty="0">
                <a:solidFill>
                  <a:schemeClr val="accent6"/>
                </a:solidFill>
                <a:latin typeface="Consolas" panose="020B0609020204030204" pitchFamily="49" charset="0"/>
              </a:rPr>
              <a:t>// Defining a structure to represent a student</a:t>
            </a:r>
          </a:p>
          <a:p>
            <a:pPr marL="514350" indent="-514350">
              <a:buFont typeface="+mj-lt"/>
              <a:buAutoNum type="arabicPeriod"/>
            </a:pPr>
            <a:r>
              <a:rPr lang="en-IN" sz="2000" dirty="0" err="1">
                <a:solidFill>
                  <a:srgbClr val="FF0000"/>
                </a:solidFill>
                <a:latin typeface="Consolas" panose="020B0609020204030204" pitchFamily="49" charset="0"/>
              </a:rPr>
              <a:t>struct</a:t>
            </a:r>
            <a:r>
              <a:rPr lang="en-IN" sz="2000" dirty="0">
                <a:solidFill>
                  <a:srgbClr val="FF0000"/>
                </a:solidFill>
                <a:latin typeface="Consolas" panose="020B0609020204030204" pitchFamily="49" charset="0"/>
              </a:rPr>
              <a:t> Student</a:t>
            </a:r>
          </a:p>
          <a:p>
            <a:pPr marL="514350" indent="-514350">
              <a:buFont typeface="+mj-lt"/>
              <a:buAutoNum type="arabicPeriod"/>
            </a:pPr>
            <a:r>
              <a:rPr lang="en-IN" sz="2000" dirty="0">
                <a:latin typeface="Consolas" panose="020B0609020204030204" pitchFamily="49" charset="0"/>
              </a:rPr>
              <a:t>{</a:t>
            </a:r>
          </a:p>
          <a:p>
            <a:pPr marL="514350" indent="-514350">
              <a:buFont typeface="+mj-lt"/>
              <a:buAutoNum type="arabicPeriod"/>
            </a:pPr>
            <a:r>
              <a:rPr lang="en-IN" sz="2000" dirty="0">
                <a:latin typeface="Consolas" panose="020B0609020204030204" pitchFamily="49" charset="0"/>
              </a:rPr>
              <a:t>    char name[50];</a:t>
            </a:r>
          </a:p>
          <a:p>
            <a:pPr marL="514350" indent="-514350">
              <a:buFont typeface="+mj-lt"/>
              <a:buAutoNum type="arabicPeriod"/>
            </a:pPr>
            <a:r>
              <a:rPr lang="en-IN" sz="2000" dirty="0">
                <a:latin typeface="Consolas" panose="020B0609020204030204" pitchFamily="49" charset="0"/>
              </a:rPr>
              <a:t>    </a:t>
            </a:r>
            <a:r>
              <a:rPr lang="en-IN" sz="2000" dirty="0" err="1">
                <a:latin typeface="Consolas" panose="020B0609020204030204" pitchFamily="49" charset="0"/>
              </a:rPr>
              <a:t>int</a:t>
            </a:r>
            <a:r>
              <a:rPr lang="en-IN" sz="2000" dirty="0">
                <a:latin typeface="Consolas" panose="020B0609020204030204" pitchFamily="49" charset="0"/>
              </a:rPr>
              <a:t> age;</a:t>
            </a:r>
          </a:p>
          <a:p>
            <a:pPr marL="514350" indent="-514350">
              <a:buFont typeface="+mj-lt"/>
              <a:buAutoNum type="arabicPeriod"/>
            </a:pPr>
            <a:endParaRPr lang="en-IN" sz="2000" dirty="0">
              <a:latin typeface="Consolas" panose="020B0609020204030204" pitchFamily="49" charset="0"/>
            </a:endParaRPr>
          </a:p>
          <a:p>
            <a:pPr marL="514350" indent="-514350">
              <a:buFont typeface="+mj-lt"/>
              <a:buAutoNum type="arabicPeriod"/>
            </a:pPr>
            <a:r>
              <a:rPr lang="en-IN" sz="2000" dirty="0">
                <a:latin typeface="Consolas" panose="020B0609020204030204" pitchFamily="49" charset="0"/>
              </a:rPr>
              <a:t>};</a:t>
            </a:r>
          </a:p>
          <a:p>
            <a:pPr marL="514350" indent="-514350">
              <a:buFont typeface="+mj-lt"/>
              <a:buAutoNum type="arabicPeriod"/>
            </a:pPr>
            <a:endParaRPr lang="en-IN" sz="2000" dirty="0">
              <a:latin typeface="Consolas" panose="020B0609020204030204" pitchFamily="49" charset="0"/>
            </a:endParaRPr>
          </a:p>
        </p:txBody>
      </p:sp>
      <p:sp>
        <p:nvSpPr>
          <p:cNvPr id="8" name="Content Placeholder 7"/>
          <p:cNvSpPr>
            <a:spLocks noGrp="1"/>
          </p:cNvSpPr>
          <p:nvPr>
            <p:ph sz="half" idx="2"/>
          </p:nvPr>
        </p:nvSpPr>
        <p:spPr>
          <a:xfrm>
            <a:off x="4458286" y="450166"/>
            <a:ext cx="7907216" cy="5572052"/>
          </a:xfrm>
        </p:spPr>
        <p:txBody>
          <a:bodyPr>
            <a:noAutofit/>
          </a:bodyPr>
          <a:lstStyle/>
          <a:p>
            <a:pPr marL="514350" indent="-514350">
              <a:buFont typeface="+mj-lt"/>
              <a:buAutoNum type="arabicPeriod" startAt="8"/>
            </a:pPr>
            <a:r>
              <a:rPr lang="en-IN" sz="1800" dirty="0" err="1">
                <a:latin typeface="Consolas" panose="020B0609020204030204" pitchFamily="49" charset="0"/>
              </a:rPr>
              <a:t>int</a:t>
            </a:r>
            <a:r>
              <a:rPr lang="en-IN" sz="1800" dirty="0">
                <a:latin typeface="Consolas" panose="020B0609020204030204" pitchFamily="49" charset="0"/>
              </a:rPr>
              <a:t> main()</a:t>
            </a:r>
          </a:p>
          <a:p>
            <a:pPr marL="514350" indent="-514350">
              <a:buFont typeface="+mj-lt"/>
              <a:buAutoNum type="arabicPeriod" startAt="8"/>
            </a:pPr>
            <a:r>
              <a:rPr lang="en-IN" sz="1800" dirty="0" smtClean="0">
                <a:latin typeface="Consolas" panose="020B0609020204030204" pitchFamily="49" charset="0"/>
              </a:rPr>
              <a:t>{</a:t>
            </a:r>
            <a:endParaRPr lang="en-IN" sz="1800" dirty="0">
              <a:latin typeface="Consolas" panose="020B0609020204030204" pitchFamily="49" charset="0"/>
            </a:endParaRPr>
          </a:p>
          <a:p>
            <a:pPr marL="514350" indent="-514350">
              <a:buFont typeface="+mj-lt"/>
              <a:buAutoNum type="arabicPeriod" startAt="8"/>
            </a:pPr>
            <a:r>
              <a:rPr lang="en-IN" sz="1800" dirty="0">
                <a:latin typeface="Consolas" panose="020B0609020204030204" pitchFamily="49" charset="0"/>
              </a:rPr>
              <a:t>    </a:t>
            </a:r>
            <a:r>
              <a:rPr lang="en-IN" sz="1800" dirty="0">
                <a:solidFill>
                  <a:schemeClr val="accent6"/>
                </a:solidFill>
                <a:latin typeface="Consolas" panose="020B0609020204030204" pitchFamily="49" charset="0"/>
              </a:rPr>
              <a:t>// Declaring and initializing a structure variable</a:t>
            </a:r>
          </a:p>
          <a:p>
            <a:pPr marL="514350" indent="-514350">
              <a:buFont typeface="+mj-lt"/>
              <a:buAutoNum type="arabicPeriod" startAt="8"/>
            </a:pPr>
            <a:r>
              <a:rPr lang="en-IN" sz="1800" dirty="0">
                <a:latin typeface="Consolas" panose="020B0609020204030204" pitchFamily="49" charset="0"/>
              </a:rPr>
              <a:t> </a:t>
            </a:r>
            <a:r>
              <a:rPr lang="en-IN" sz="1800" dirty="0" smtClean="0">
                <a:latin typeface="Consolas" panose="020B0609020204030204" pitchFamily="49" charset="0"/>
              </a:rPr>
              <a:t>   </a:t>
            </a:r>
            <a:r>
              <a:rPr lang="en-IN" sz="1800" dirty="0" err="1" smtClean="0">
                <a:solidFill>
                  <a:srgbClr val="FF0000"/>
                </a:solidFill>
                <a:latin typeface="Consolas" panose="020B0609020204030204" pitchFamily="49" charset="0"/>
              </a:rPr>
              <a:t>struct</a:t>
            </a:r>
            <a:r>
              <a:rPr lang="en-IN" sz="1800" dirty="0" smtClean="0">
                <a:solidFill>
                  <a:srgbClr val="FF0000"/>
                </a:solidFill>
                <a:latin typeface="Consolas" panose="020B0609020204030204" pitchFamily="49" charset="0"/>
              </a:rPr>
              <a:t> </a:t>
            </a:r>
            <a:r>
              <a:rPr lang="en-IN" sz="1800" dirty="0">
                <a:solidFill>
                  <a:srgbClr val="FF0000"/>
                </a:solidFill>
                <a:latin typeface="Consolas" panose="020B0609020204030204" pitchFamily="49" charset="0"/>
              </a:rPr>
              <a:t>Student s1 </a:t>
            </a:r>
            <a:r>
              <a:rPr lang="en-IN" sz="1800" dirty="0">
                <a:latin typeface="Consolas" panose="020B0609020204030204" pitchFamily="49" charset="0"/>
              </a:rPr>
              <a:t>= {"</a:t>
            </a:r>
            <a:r>
              <a:rPr lang="en-IN" sz="1800" dirty="0" smtClean="0">
                <a:latin typeface="Consolas" panose="020B0609020204030204" pitchFamily="49" charset="0"/>
              </a:rPr>
              <a:t>Ram", 20};</a:t>
            </a:r>
            <a:endParaRPr lang="en-IN" sz="1800" dirty="0">
              <a:latin typeface="Consolas" panose="020B0609020204030204" pitchFamily="49" charset="0"/>
            </a:endParaRPr>
          </a:p>
          <a:p>
            <a:pPr marL="514350" indent="-514350">
              <a:buFont typeface="+mj-lt"/>
              <a:buAutoNum type="arabicPeriod" startAt="8"/>
            </a:pPr>
            <a:endParaRPr lang="en-IN" sz="1800" dirty="0">
              <a:latin typeface="Consolas" panose="020B0609020204030204" pitchFamily="49" charset="0"/>
            </a:endParaRPr>
          </a:p>
          <a:p>
            <a:pPr marL="514350" indent="-514350">
              <a:buFont typeface="+mj-lt"/>
              <a:buAutoNum type="arabicPeriod" startAt="8"/>
            </a:pPr>
            <a:r>
              <a:rPr lang="en-IN" sz="1800" dirty="0">
                <a:latin typeface="Consolas" panose="020B0609020204030204" pitchFamily="49" charset="0"/>
              </a:rPr>
              <a:t>    </a:t>
            </a:r>
            <a:r>
              <a:rPr lang="en-IN" sz="1800" dirty="0">
                <a:solidFill>
                  <a:schemeClr val="accent6"/>
                </a:solidFill>
                <a:latin typeface="Consolas" panose="020B0609020204030204" pitchFamily="49" charset="0"/>
              </a:rPr>
              <a:t>// Designated Initializing another structure</a:t>
            </a:r>
          </a:p>
          <a:p>
            <a:pPr marL="514350" indent="-514350">
              <a:buFont typeface="+mj-lt"/>
              <a:buAutoNum type="arabicPeriod" startAt="8"/>
            </a:pPr>
            <a:r>
              <a:rPr lang="en-IN" sz="1800" dirty="0">
                <a:latin typeface="Consolas" panose="020B0609020204030204" pitchFamily="49" charset="0"/>
              </a:rPr>
              <a:t> </a:t>
            </a:r>
            <a:r>
              <a:rPr lang="en-IN" sz="1800" dirty="0" smtClean="0">
                <a:latin typeface="Consolas" panose="020B0609020204030204" pitchFamily="49" charset="0"/>
              </a:rPr>
              <a:t>   </a:t>
            </a:r>
            <a:r>
              <a:rPr lang="en-IN" sz="1800" dirty="0" err="1" smtClean="0">
                <a:solidFill>
                  <a:srgbClr val="FF0000"/>
                </a:solidFill>
                <a:latin typeface="Consolas" panose="020B0609020204030204" pitchFamily="49" charset="0"/>
              </a:rPr>
              <a:t>struct</a:t>
            </a:r>
            <a:r>
              <a:rPr lang="en-IN" sz="1800" dirty="0" smtClean="0">
                <a:solidFill>
                  <a:srgbClr val="FF0000"/>
                </a:solidFill>
                <a:latin typeface="Consolas" panose="020B0609020204030204" pitchFamily="49" charset="0"/>
              </a:rPr>
              <a:t> </a:t>
            </a:r>
            <a:r>
              <a:rPr lang="en-IN" sz="1800" dirty="0">
                <a:solidFill>
                  <a:srgbClr val="FF0000"/>
                </a:solidFill>
                <a:latin typeface="Consolas" panose="020B0609020204030204" pitchFamily="49" charset="0"/>
              </a:rPr>
              <a:t>Student s2 </a:t>
            </a:r>
            <a:r>
              <a:rPr lang="en-IN" sz="1800" dirty="0">
                <a:latin typeface="Consolas" panose="020B0609020204030204" pitchFamily="49" charset="0"/>
              </a:rPr>
              <a:t>= {.age = 18, .name = </a:t>
            </a:r>
            <a:r>
              <a:rPr lang="en-IN" sz="1800" dirty="0" smtClean="0">
                <a:latin typeface="Consolas" panose="020B0609020204030204" pitchFamily="49" charset="0"/>
              </a:rPr>
              <a:t>“Mohan"};</a:t>
            </a:r>
            <a:endParaRPr lang="en-IN" sz="1800" dirty="0">
              <a:latin typeface="Consolas" panose="020B0609020204030204" pitchFamily="49" charset="0"/>
            </a:endParaRPr>
          </a:p>
          <a:p>
            <a:pPr marL="514350" indent="-514350">
              <a:buFont typeface="+mj-lt"/>
              <a:buAutoNum type="arabicPeriod" startAt="8"/>
            </a:pPr>
            <a:endParaRPr lang="en-IN" sz="1800" dirty="0">
              <a:latin typeface="Consolas" panose="020B0609020204030204" pitchFamily="49" charset="0"/>
            </a:endParaRPr>
          </a:p>
          <a:p>
            <a:pPr marL="514350" indent="-514350">
              <a:buFont typeface="+mj-lt"/>
              <a:buAutoNum type="arabicPeriod" startAt="8"/>
            </a:pPr>
            <a:r>
              <a:rPr lang="en-IN" sz="1800" dirty="0">
                <a:latin typeface="Consolas" panose="020B0609020204030204" pitchFamily="49" charset="0"/>
              </a:rPr>
              <a:t>    </a:t>
            </a:r>
            <a:r>
              <a:rPr lang="en-IN" sz="1800" dirty="0">
                <a:solidFill>
                  <a:schemeClr val="accent6"/>
                </a:solidFill>
                <a:latin typeface="Consolas" panose="020B0609020204030204" pitchFamily="49" charset="0"/>
              </a:rPr>
              <a:t>// Accessing structure members</a:t>
            </a:r>
          </a:p>
          <a:p>
            <a:pPr marL="514350" indent="-514350">
              <a:buFont typeface="+mj-lt"/>
              <a:buAutoNum type="arabicPeriod" startAt="8"/>
            </a:pPr>
            <a:r>
              <a:rPr lang="en-IN" sz="1800" dirty="0">
                <a:solidFill>
                  <a:srgbClr val="FF0000"/>
                </a:solidFill>
                <a:latin typeface="Consolas" panose="020B0609020204030204" pitchFamily="49" charset="0"/>
              </a:rPr>
              <a:t>    </a:t>
            </a:r>
            <a:r>
              <a:rPr lang="en-IN" sz="1800" dirty="0" err="1">
                <a:solidFill>
                  <a:srgbClr val="FF0000"/>
                </a:solidFill>
                <a:latin typeface="Consolas" panose="020B0609020204030204" pitchFamily="49" charset="0"/>
              </a:rPr>
              <a:t>printf</a:t>
            </a:r>
            <a:r>
              <a:rPr lang="en-IN" sz="1800" dirty="0">
                <a:latin typeface="Consolas" panose="020B0609020204030204" pitchFamily="49" charset="0"/>
              </a:rPr>
              <a:t>("%s\</a:t>
            </a:r>
            <a:r>
              <a:rPr lang="en-IN" sz="1800" dirty="0" err="1">
                <a:latin typeface="Consolas" panose="020B0609020204030204" pitchFamily="49" charset="0"/>
              </a:rPr>
              <a:t>t%d</a:t>
            </a:r>
            <a:r>
              <a:rPr lang="en-IN" sz="1800" dirty="0">
                <a:latin typeface="Consolas" panose="020B0609020204030204" pitchFamily="49" charset="0"/>
              </a:rPr>
              <a:t>\t%.2f\n", s1.name, </a:t>
            </a:r>
            <a:r>
              <a:rPr lang="en-IN" sz="1800" dirty="0" smtClean="0">
                <a:latin typeface="Consolas" panose="020B0609020204030204" pitchFamily="49" charset="0"/>
              </a:rPr>
              <a:t>s1.age);</a:t>
            </a:r>
            <a:endParaRPr lang="en-IN" sz="1800" dirty="0">
              <a:latin typeface="Consolas" panose="020B0609020204030204" pitchFamily="49" charset="0"/>
            </a:endParaRPr>
          </a:p>
          <a:p>
            <a:pPr marL="514350" indent="-514350">
              <a:buFont typeface="+mj-lt"/>
              <a:buAutoNum type="arabicPeriod" startAt="8"/>
            </a:pPr>
            <a:r>
              <a:rPr lang="en-IN" sz="1800" dirty="0">
                <a:latin typeface="Consolas" panose="020B0609020204030204" pitchFamily="49" charset="0"/>
              </a:rPr>
              <a:t>    </a:t>
            </a:r>
            <a:r>
              <a:rPr lang="en-IN" sz="1800" dirty="0" err="1">
                <a:solidFill>
                  <a:srgbClr val="FF0000"/>
                </a:solidFill>
                <a:latin typeface="Consolas" panose="020B0609020204030204" pitchFamily="49" charset="0"/>
              </a:rPr>
              <a:t>printf</a:t>
            </a:r>
            <a:r>
              <a:rPr lang="en-IN" sz="1800" dirty="0">
                <a:latin typeface="Consolas" panose="020B0609020204030204" pitchFamily="49" charset="0"/>
              </a:rPr>
              <a:t>("%s\</a:t>
            </a:r>
            <a:r>
              <a:rPr lang="en-IN" sz="1800" dirty="0" err="1">
                <a:latin typeface="Consolas" panose="020B0609020204030204" pitchFamily="49" charset="0"/>
              </a:rPr>
              <a:t>t%d</a:t>
            </a:r>
            <a:r>
              <a:rPr lang="en-IN" sz="1800" dirty="0">
                <a:latin typeface="Consolas" panose="020B0609020204030204" pitchFamily="49" charset="0"/>
              </a:rPr>
              <a:t>\t%.2f\n", s2.name, </a:t>
            </a:r>
            <a:r>
              <a:rPr lang="en-IN" sz="1800" dirty="0" smtClean="0">
                <a:latin typeface="Consolas" panose="020B0609020204030204" pitchFamily="49" charset="0"/>
              </a:rPr>
              <a:t>s2.age);</a:t>
            </a:r>
            <a:endParaRPr lang="en-IN" sz="1800" dirty="0">
              <a:latin typeface="Consolas" panose="020B0609020204030204" pitchFamily="49" charset="0"/>
            </a:endParaRPr>
          </a:p>
          <a:p>
            <a:pPr marL="514350" indent="-514350">
              <a:buFont typeface="+mj-lt"/>
              <a:buAutoNum type="arabicPeriod" startAt="8"/>
            </a:pPr>
            <a:r>
              <a:rPr lang="en-IN" sz="1800" dirty="0">
                <a:latin typeface="Consolas" panose="020B0609020204030204" pitchFamily="49" charset="0"/>
              </a:rPr>
              <a:t>    return 0;</a:t>
            </a:r>
          </a:p>
          <a:p>
            <a:pPr marL="514350" indent="-514350">
              <a:buFont typeface="+mj-lt"/>
              <a:buAutoNum type="arabicPeriod" startAt="8"/>
            </a:pPr>
            <a:r>
              <a:rPr lang="en-IN" sz="1800" dirty="0">
                <a:latin typeface="Consolas" panose="020B0609020204030204" pitchFamily="49" charset="0"/>
              </a:rPr>
              <a:t>}</a:t>
            </a:r>
          </a:p>
          <a:p>
            <a:endParaRPr lang="en-IN" sz="1800" dirty="0">
              <a:latin typeface="Consolas" panose="020B0609020204030204" pitchFamily="49" charset="0"/>
            </a:endParaRPr>
          </a:p>
        </p:txBody>
      </p:sp>
    </p:spTree>
    <p:extLst>
      <p:ext uri="{BB962C8B-B14F-4D97-AF65-F5344CB8AC3E}">
        <p14:creationId xmlns:p14="http://schemas.microsoft.com/office/powerpoint/2010/main" val="315766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Assignments</a:t>
            </a:r>
            <a:endParaRPr lang="en-IN" dirty="0"/>
          </a:p>
        </p:txBody>
      </p:sp>
      <p:sp>
        <p:nvSpPr>
          <p:cNvPr id="3" name="Content Placeholder 2"/>
          <p:cNvSpPr>
            <a:spLocks noGrp="1"/>
          </p:cNvSpPr>
          <p:nvPr>
            <p:ph idx="1"/>
          </p:nvPr>
        </p:nvSpPr>
        <p:spPr/>
        <p:txBody>
          <a:bodyPr>
            <a:normAutofit/>
          </a:bodyPr>
          <a:lstStyle/>
          <a:p>
            <a:pPr marL="457200" indent="-457200">
              <a:buFont typeface="+mj-lt"/>
              <a:buAutoNum type="arabicPeriod"/>
            </a:pPr>
            <a:r>
              <a:rPr lang="en-US" dirty="0" smtClean="0">
                <a:latin typeface="Consolas" panose="020B0609020204030204" pitchFamily="49" charset="0"/>
              </a:rPr>
              <a:t>What is the Output of the following code:</a:t>
            </a:r>
          </a:p>
          <a:p>
            <a:pPr marL="914400" lvl="1" indent="-457200">
              <a:buFont typeface="+mj-lt"/>
              <a:buAutoNum type="arabicPeriod"/>
            </a:pPr>
            <a:r>
              <a:rPr lang="en-US" dirty="0">
                <a:latin typeface="Consolas" panose="020B0609020204030204" pitchFamily="49" charset="0"/>
                <a:ea typeface="Times New Roman" panose="02020603050405020304" pitchFamily="18" charset="0"/>
              </a:rPr>
              <a:t>#include &lt;</a:t>
            </a:r>
            <a:r>
              <a:rPr lang="en-US" dirty="0" err="1">
                <a:latin typeface="Consolas" panose="020B0609020204030204" pitchFamily="49" charset="0"/>
                <a:ea typeface="Times New Roman" panose="02020603050405020304" pitchFamily="18" charset="0"/>
              </a:rPr>
              <a:t>stdio.h</a:t>
            </a:r>
            <a:r>
              <a:rPr lang="en-US" dirty="0" smtClean="0">
                <a:latin typeface="Consolas" panose="020B0609020204030204" pitchFamily="49" charset="0"/>
                <a:ea typeface="Times New Roman" panose="02020603050405020304" pitchFamily="18" charset="0"/>
              </a:rPr>
              <a:t>&gt;</a:t>
            </a:r>
          </a:p>
          <a:p>
            <a:pPr marL="914400" lvl="1" indent="-457200">
              <a:buFont typeface="+mj-lt"/>
              <a:buAutoNum type="arabicPeriod"/>
            </a:pPr>
            <a:r>
              <a:rPr lang="en-US" dirty="0" smtClean="0">
                <a:latin typeface="Consolas" panose="020B0609020204030204" pitchFamily="49" charset="0"/>
                <a:ea typeface="Times New Roman" panose="02020603050405020304" pitchFamily="18" charset="0"/>
              </a:rPr>
              <a:t>#</a:t>
            </a:r>
            <a:r>
              <a:rPr lang="en-US" dirty="0">
                <a:latin typeface="Consolas" panose="020B0609020204030204" pitchFamily="49" charset="0"/>
                <a:ea typeface="Times New Roman" panose="02020603050405020304" pitchFamily="18" charset="0"/>
              </a:rPr>
              <a:t>define get(s) #</a:t>
            </a:r>
            <a:r>
              <a:rPr lang="en-US" dirty="0" smtClean="0">
                <a:latin typeface="Consolas" panose="020B0609020204030204" pitchFamily="49" charset="0"/>
                <a:ea typeface="Times New Roman" panose="02020603050405020304" pitchFamily="18" charset="0"/>
              </a:rPr>
              <a:t>s</a:t>
            </a:r>
          </a:p>
          <a:p>
            <a:pPr marL="914400" lvl="1" indent="-457200">
              <a:buFont typeface="+mj-lt"/>
              <a:buAutoNum type="arabicPeriod"/>
            </a:pPr>
            <a:r>
              <a:rPr lang="en-US" dirty="0" err="1" smtClean="0">
                <a:latin typeface="Consolas" panose="020B0609020204030204" pitchFamily="49" charset="0"/>
                <a:ea typeface="Times New Roman" panose="02020603050405020304" pitchFamily="18" charset="0"/>
              </a:rPr>
              <a:t>int</a:t>
            </a:r>
            <a:r>
              <a:rPr lang="en-US" dirty="0" smtClean="0">
                <a:latin typeface="Consolas" panose="020B0609020204030204" pitchFamily="49" charset="0"/>
                <a:ea typeface="Times New Roman" panose="02020603050405020304" pitchFamily="18" charset="0"/>
              </a:rPr>
              <a:t> </a:t>
            </a:r>
            <a:r>
              <a:rPr lang="en-US" dirty="0">
                <a:latin typeface="Consolas" panose="020B0609020204030204" pitchFamily="49" charset="0"/>
                <a:ea typeface="Times New Roman" panose="02020603050405020304" pitchFamily="18" charset="0"/>
              </a:rPr>
              <a:t>main</a:t>
            </a:r>
            <a:r>
              <a:rPr lang="en-US" dirty="0" smtClean="0">
                <a:latin typeface="Consolas" panose="020B0609020204030204" pitchFamily="49" charset="0"/>
                <a:ea typeface="Times New Roman" panose="02020603050405020304" pitchFamily="18" charset="0"/>
              </a:rPr>
              <a:t>(){</a:t>
            </a:r>
          </a:p>
          <a:p>
            <a:pPr marL="914400" lvl="1" indent="-457200">
              <a:buFont typeface="+mj-lt"/>
              <a:buAutoNum type="arabicPeriod"/>
            </a:pPr>
            <a:r>
              <a:rPr lang="en-US" dirty="0" smtClean="0">
                <a:latin typeface="Consolas" panose="020B0609020204030204" pitchFamily="49" charset="0"/>
                <a:ea typeface="Times New Roman" panose="02020603050405020304" pitchFamily="18" charset="0"/>
              </a:rPr>
              <a:t>   char </a:t>
            </a:r>
            <a:r>
              <a:rPr lang="en-US" dirty="0" err="1">
                <a:latin typeface="Consolas" panose="020B0609020204030204" pitchFamily="49" charset="0"/>
                <a:ea typeface="Times New Roman" panose="02020603050405020304" pitchFamily="18" charset="0"/>
              </a:rPr>
              <a:t>str</a:t>
            </a:r>
            <a:r>
              <a:rPr lang="en-US" dirty="0">
                <a:latin typeface="Consolas" panose="020B0609020204030204" pitchFamily="49" charset="0"/>
                <a:ea typeface="Times New Roman" panose="02020603050405020304" pitchFamily="18" charset="0"/>
              </a:rPr>
              <a:t>[] = </a:t>
            </a:r>
            <a:r>
              <a:rPr lang="en-US" dirty="0" smtClean="0">
                <a:latin typeface="Consolas" panose="020B0609020204030204" pitchFamily="49" charset="0"/>
                <a:ea typeface="Times New Roman" panose="02020603050405020304" pitchFamily="18" charset="0"/>
              </a:rPr>
              <a:t>get(</a:t>
            </a:r>
            <a:r>
              <a:rPr lang="en-US" dirty="0" err="1" smtClean="0">
                <a:latin typeface="Consolas" panose="020B0609020204030204" pitchFamily="49" charset="0"/>
                <a:ea typeface="Times New Roman" panose="02020603050405020304" pitchFamily="18" charset="0"/>
              </a:rPr>
              <a:t>SuperStar</a:t>
            </a:r>
            <a:r>
              <a:rPr lang="en-US" dirty="0" smtClean="0">
                <a:latin typeface="Consolas" panose="020B0609020204030204" pitchFamily="49" charset="0"/>
                <a:ea typeface="Times New Roman" panose="02020603050405020304" pitchFamily="18" charset="0"/>
              </a:rPr>
              <a:t>);</a:t>
            </a:r>
          </a:p>
          <a:p>
            <a:pPr marL="914400" lvl="1" indent="-457200">
              <a:buFont typeface="+mj-lt"/>
              <a:buAutoNum type="arabicPeriod"/>
            </a:pPr>
            <a:r>
              <a:rPr lang="en-US" dirty="0">
                <a:latin typeface="Consolas" panose="020B0609020204030204" pitchFamily="49" charset="0"/>
                <a:ea typeface="Times New Roman" panose="02020603050405020304" pitchFamily="18" charset="0"/>
              </a:rPr>
              <a:t> </a:t>
            </a:r>
            <a:r>
              <a:rPr lang="en-US" dirty="0" smtClean="0">
                <a:latin typeface="Consolas" panose="020B0609020204030204" pitchFamily="49" charset="0"/>
                <a:ea typeface="Times New Roman" panose="02020603050405020304" pitchFamily="18" charset="0"/>
              </a:rPr>
              <a:t>  </a:t>
            </a:r>
            <a:r>
              <a:rPr lang="en-US" dirty="0" err="1" smtClean="0">
                <a:latin typeface="Consolas" panose="020B0609020204030204" pitchFamily="49" charset="0"/>
                <a:ea typeface="Times New Roman" panose="02020603050405020304" pitchFamily="18" charset="0"/>
              </a:rPr>
              <a:t>printf</a:t>
            </a:r>
            <a:r>
              <a:rPr lang="en-US" dirty="0">
                <a:latin typeface="Consolas" panose="020B0609020204030204" pitchFamily="49" charset="0"/>
                <a:ea typeface="Times New Roman" panose="02020603050405020304" pitchFamily="18" charset="0"/>
              </a:rPr>
              <a:t>("%s", </a:t>
            </a:r>
            <a:r>
              <a:rPr lang="en-US" dirty="0" err="1">
                <a:latin typeface="Consolas" panose="020B0609020204030204" pitchFamily="49" charset="0"/>
                <a:ea typeface="Times New Roman" panose="02020603050405020304" pitchFamily="18" charset="0"/>
              </a:rPr>
              <a:t>str</a:t>
            </a:r>
            <a:r>
              <a:rPr lang="en-US" dirty="0" smtClean="0">
                <a:latin typeface="Consolas" panose="020B0609020204030204" pitchFamily="49" charset="0"/>
                <a:ea typeface="Times New Roman" panose="02020603050405020304" pitchFamily="18" charset="0"/>
              </a:rPr>
              <a:t>);</a:t>
            </a:r>
          </a:p>
          <a:p>
            <a:pPr marL="914400" lvl="1" indent="-457200">
              <a:buFont typeface="+mj-lt"/>
              <a:buAutoNum type="arabicPeriod"/>
            </a:pPr>
            <a:r>
              <a:rPr lang="en-US" dirty="0">
                <a:latin typeface="Consolas" panose="020B0609020204030204" pitchFamily="49" charset="0"/>
                <a:ea typeface="Times New Roman" panose="02020603050405020304" pitchFamily="18" charset="0"/>
              </a:rPr>
              <a:t> </a:t>
            </a:r>
            <a:r>
              <a:rPr lang="en-US" dirty="0" smtClean="0">
                <a:latin typeface="Consolas" panose="020B0609020204030204" pitchFamily="49" charset="0"/>
                <a:ea typeface="Times New Roman" panose="02020603050405020304" pitchFamily="18" charset="0"/>
              </a:rPr>
              <a:t>  return </a:t>
            </a:r>
            <a:r>
              <a:rPr lang="en-US" dirty="0">
                <a:latin typeface="Consolas" panose="020B0609020204030204" pitchFamily="49" charset="0"/>
                <a:ea typeface="Times New Roman" panose="02020603050405020304" pitchFamily="18" charset="0"/>
              </a:rPr>
              <a:t>0</a:t>
            </a:r>
            <a:r>
              <a:rPr lang="en-US" dirty="0" smtClean="0">
                <a:latin typeface="Consolas" panose="020B0609020204030204" pitchFamily="49" charset="0"/>
                <a:ea typeface="Times New Roman" panose="02020603050405020304" pitchFamily="18" charset="0"/>
              </a:rPr>
              <a:t>;}</a:t>
            </a:r>
          </a:p>
          <a:p>
            <a:pPr marL="457200" indent="-457200">
              <a:buFont typeface="+mj-lt"/>
              <a:buAutoNum type="arabicPeriod"/>
            </a:pPr>
            <a:r>
              <a:rPr lang="en-US" dirty="0" smtClean="0">
                <a:latin typeface="Consolas" panose="020B0609020204030204" pitchFamily="49" charset="0"/>
                <a:ea typeface="Times New Roman" panose="02020603050405020304" pitchFamily="18" charset="0"/>
              </a:rPr>
              <a:t>WAP for finding the Area of a Circle using Macros.</a:t>
            </a:r>
          </a:p>
          <a:p>
            <a:pPr marL="457200" indent="-457200">
              <a:buFont typeface="+mj-lt"/>
              <a:buAutoNum type="arabicPeriod"/>
            </a:pPr>
            <a:r>
              <a:rPr lang="en-US" dirty="0" smtClean="0">
                <a:latin typeface="Consolas" panose="020B0609020204030204" pitchFamily="49" charset="0"/>
                <a:ea typeface="Times New Roman" panose="02020603050405020304" pitchFamily="18" charset="0"/>
              </a:rPr>
              <a:t>WAP to find even and odd values using #if Macros.</a:t>
            </a:r>
            <a:endParaRPr lang="en-US" dirty="0">
              <a:latin typeface="Consolas" panose="020B0609020204030204" pitchFamily="49" charset="0"/>
              <a:ea typeface="Times New Roman" panose="02020603050405020304" pitchFamily="18" charset="0"/>
            </a:endParaRPr>
          </a:p>
        </p:txBody>
      </p:sp>
    </p:spTree>
    <p:extLst>
      <p:ext uri="{BB962C8B-B14F-4D97-AF65-F5344CB8AC3E}">
        <p14:creationId xmlns:p14="http://schemas.microsoft.com/office/powerpoint/2010/main" val="2217102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onsolas" panose="020B0609020204030204" pitchFamily="49" charset="0"/>
              </a:rPr>
              <a:t>Assignment</a:t>
            </a:r>
            <a:endParaRPr lang="en-IN" dirty="0">
              <a:latin typeface="Consolas" panose="020B0609020204030204" pitchFamily="49" charset="0"/>
            </a:endParaRPr>
          </a:p>
        </p:txBody>
      </p:sp>
      <p:sp>
        <p:nvSpPr>
          <p:cNvPr id="3" name="Content Placeholder 2"/>
          <p:cNvSpPr>
            <a:spLocks noGrp="1"/>
          </p:cNvSpPr>
          <p:nvPr>
            <p:ph idx="1"/>
          </p:nvPr>
        </p:nvSpPr>
        <p:spPr/>
        <p:txBody>
          <a:bodyPr/>
          <a:lstStyle/>
          <a:p>
            <a:pPr marL="514350" indent="-514350">
              <a:buFont typeface="+mj-lt"/>
              <a:buAutoNum type="arabicPeriod" startAt="4"/>
            </a:pPr>
            <a:r>
              <a:rPr lang="en-US" dirty="0" smtClean="0"/>
              <a:t>WAP to make a library management system using Structure. Add at least 4 books and compare their prices to show the cheapest option.</a:t>
            </a:r>
          </a:p>
          <a:p>
            <a:pPr marL="514350" indent="-514350">
              <a:buFont typeface="+mj-lt"/>
              <a:buAutoNum type="arabicPeriod" startAt="4"/>
            </a:pPr>
            <a:r>
              <a:rPr lang="en-US" dirty="0" smtClean="0"/>
              <a:t>WAP to make a CAR RENTAL COMPANY which rents Cars by the hour using Structure (</a:t>
            </a:r>
            <a:r>
              <a:rPr lang="en-US" dirty="0" err="1" smtClean="0"/>
              <a:t>Car_Number</a:t>
            </a:r>
            <a:r>
              <a:rPr lang="en-US" dirty="0" smtClean="0"/>
              <a:t>, Model, </a:t>
            </a:r>
            <a:r>
              <a:rPr lang="en-US" dirty="0" err="1" smtClean="0"/>
              <a:t>Car_economy</a:t>
            </a:r>
            <a:r>
              <a:rPr lang="en-US" dirty="0" smtClean="0"/>
              <a:t>, and </a:t>
            </a:r>
            <a:r>
              <a:rPr lang="en-US" smtClean="0"/>
              <a:t>Rent_Per_Hour). </a:t>
            </a:r>
            <a:r>
              <a:rPr lang="en-US" dirty="0" smtClean="0"/>
              <a:t>Recommend a car with good economy to travel 250KM with friends (The Affordable Choice).</a:t>
            </a:r>
          </a:p>
          <a:p>
            <a:endParaRPr lang="en-IN" dirty="0"/>
          </a:p>
        </p:txBody>
      </p:sp>
    </p:spTree>
    <p:extLst>
      <p:ext uri="{BB962C8B-B14F-4D97-AF65-F5344CB8AC3E}">
        <p14:creationId xmlns:p14="http://schemas.microsoft.com/office/powerpoint/2010/main" val="8158444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BA13EE458DC6A41AB6CEB83F6613953" ma:contentTypeVersion="4" ma:contentTypeDescription="Create a new document." ma:contentTypeScope="" ma:versionID="f6ea594442bf66514565299edc124d63">
  <xsd:schema xmlns:xsd="http://www.w3.org/2001/XMLSchema" xmlns:xs="http://www.w3.org/2001/XMLSchema" xmlns:p="http://schemas.microsoft.com/office/2006/metadata/properties" xmlns:ns2="bce89c58-99c7-4a39-8e1b-d4ac22269018" targetNamespace="http://schemas.microsoft.com/office/2006/metadata/properties" ma:root="true" ma:fieldsID="5f451318a34ea5e7c2651fbdd532fdd2" ns2:_="">
    <xsd:import namespace="bce89c58-99c7-4a39-8e1b-d4ac2226901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e89c58-99c7-4a39-8e1b-d4ac222690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F31BBCE-DD66-4860-BC30-144FC8D31FED}">
  <ds:schemaRefs>
    <ds:schemaRef ds:uri="http://schemas.microsoft.com/office/2006/documentManagement/types"/>
    <ds:schemaRef ds:uri="http://schemas.openxmlformats.org/package/2006/metadata/core-properties"/>
    <ds:schemaRef ds:uri="http://purl.org/dc/dcmitype/"/>
    <ds:schemaRef ds:uri="http://purl.org/dc/elements/1.1/"/>
    <ds:schemaRef ds:uri="http://purl.org/dc/terms/"/>
    <ds:schemaRef ds:uri="bce89c58-99c7-4a39-8e1b-d4ac22269018"/>
    <ds:schemaRef ds:uri="http://schemas.microsoft.com/office/infopath/2007/PartnerControl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30EE2090-C3D3-419D-A275-55D3E0E29754}">
  <ds:schemaRefs>
    <ds:schemaRef ds:uri="http://schemas.microsoft.com/sharepoint/v3/contenttype/forms"/>
  </ds:schemaRefs>
</ds:datastoreItem>
</file>

<file path=customXml/itemProps3.xml><?xml version="1.0" encoding="utf-8"?>
<ds:datastoreItem xmlns:ds="http://schemas.openxmlformats.org/officeDocument/2006/customXml" ds:itemID="{ECAD22AC-5EA6-46E3-826C-9D163E76A0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ce89c58-99c7-4a39-8e1b-d4ac2226901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3176</TotalTime>
  <Words>731</Words>
  <Application>Microsoft Office PowerPoint</Application>
  <PresentationFormat>Widescreen</PresentationFormat>
  <Paragraphs>141</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Consolas</vt:lpstr>
      <vt:lpstr>Times New Roman</vt:lpstr>
      <vt:lpstr>Office Theme</vt:lpstr>
      <vt:lpstr>Programming for Problem Solving Lect #8</vt:lpstr>
      <vt:lpstr>C Preprocessors</vt:lpstr>
      <vt:lpstr>PowerPoint Presentation</vt:lpstr>
      <vt:lpstr>Types of C Preprocessors</vt:lpstr>
      <vt:lpstr>Macros</vt:lpstr>
      <vt:lpstr>Takeaways</vt:lpstr>
      <vt:lpstr>Macros with Arguments</vt:lpstr>
      <vt:lpstr>File Inclusion</vt:lpstr>
      <vt:lpstr>Conditional Compilation</vt:lpstr>
      <vt:lpstr>Example</vt:lpstr>
      <vt:lpstr>Structures</vt:lpstr>
      <vt:lpstr>PowerPoint Presentation</vt:lpstr>
      <vt:lpstr>PowerPoint Presentation</vt:lpstr>
      <vt:lpstr>Assignments</vt:lpstr>
      <vt:lpstr>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 #2</dc:title>
  <dc:creator>admin</dc:creator>
  <cp:lastModifiedBy>Admin</cp:lastModifiedBy>
  <cp:revision>143</cp:revision>
  <dcterms:created xsi:type="dcterms:W3CDTF">2025-01-16T06:48:48Z</dcterms:created>
  <dcterms:modified xsi:type="dcterms:W3CDTF">2026-03-26T06:34:33Z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0x010100ABA13EE458DC6A41AB6CEB83F6613953</vt:lpwstr>
  </property>
</Properties>
</file>